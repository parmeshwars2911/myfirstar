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previewing these objectives so students know what they should be able to do by the end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and label all four terms on the reflection_law diagram before stating the laws.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The angle of reflection equals the angle of incidence. 2. The incident ray, the reflected ray and the normal lie in the same plane. 3. The incident ray and the reflected ray are on opposite sides of the normal.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we see a clear image in a mirror but only a lit surface on a wall or a page.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the ray on the periscope diagram: down the tube and out to the eye, letting you see over an obstacle.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the periscope and kaleidoscope use multiple reflection — the difference is the mirror arrangement.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Cold-call the three laws of reflection before the final quiz.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1463040" y="3108960"/>
            <a:ext cx="4754880" cy="47548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645920"/>
            <a:ext cx="4206240" cy="420624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8686800" cy="457200"/>
          </a:xfrm>
          <a:prstGeom prst="rect">
            <a:avLst/>
          </a:prstGeom>
          <a:noFill/>
        </p:spPr>
        <p:txBody>
          <a:bodyPr wrap="square" anchor="t" lIns="0" rIns="0" tIns="0" bIns="0">
            <a:spAutoFit/>
          </a:bodyPr>
          <a:lstStyle/>
          <a:p>
            <a:pPr algn="l"/>
            <a:r>
              <a:rPr sz="1600" b="1" i="0">
                <a:solidFill>
                  <a:srgbClr val="FFC300"/>
                </a:solidFill>
                <a:latin typeface="Arial"/>
              </a:rPr>
              <a:t>STD 8 • GENERAL SCIENCE • OPTICS</a:t>
            </a:r>
          </a:p>
        </p:txBody>
      </p:sp>
      <p:sp>
        <p:nvSpPr>
          <p:cNvPr id="5" name="TextBox 4"/>
          <p:cNvSpPr txBox="1"/>
          <p:nvPr/>
        </p:nvSpPr>
        <p:spPr>
          <a:xfrm>
            <a:off x="731520" y="1828800"/>
            <a:ext cx="8046720" cy="1737360"/>
          </a:xfrm>
          <a:prstGeom prst="rect">
            <a:avLst/>
          </a:prstGeom>
          <a:noFill/>
        </p:spPr>
        <p:txBody>
          <a:bodyPr wrap="square" anchor="b" lIns="0" rIns="0" tIns="0" bIns="0">
            <a:spAutoFit/>
          </a:bodyPr>
          <a:lstStyle/>
          <a:p>
            <a:pPr algn="l"/>
            <a:r>
              <a:rPr sz="5000" b="1" i="0">
                <a:solidFill>
                  <a:srgbClr val="FFFFFF"/>
                </a:solidFill>
                <a:latin typeface="Calibri"/>
              </a:rPr>
              <a:t>Reflection of Light</a:t>
            </a:r>
          </a:p>
        </p:txBody>
      </p:sp>
      <p:sp>
        <p:nvSpPr>
          <p:cNvPr id="6" name="TextBox 5"/>
          <p:cNvSpPr txBox="1"/>
          <p:nvPr/>
        </p:nvSpPr>
        <p:spPr>
          <a:xfrm>
            <a:off x="731520" y="3703320"/>
            <a:ext cx="8046720" cy="1463040"/>
          </a:xfrm>
          <a:prstGeom prst="rect">
            <a:avLst/>
          </a:prstGeom>
          <a:noFill/>
        </p:spPr>
        <p:txBody>
          <a:bodyPr wrap="square" anchor="t" lIns="0" rIns="0" tIns="0" bIns="0">
            <a:spAutoFit/>
          </a:bodyPr>
          <a:lstStyle/>
          <a:p>
            <a:pPr algn="l"/>
            <a:r>
              <a:rPr sz="1900" b="0" i="0">
                <a:solidFill>
                  <a:srgbClr val="CADCFC"/>
                </a:solidFill>
                <a:latin typeface="Calibri"/>
              </a:rPr>
              <a:t>Reflection and its terms  •  Laws of reflection  •  Types of reflection  •  Periscope and kaleidoscope</a:t>
            </a:r>
          </a:p>
        </p:txBody>
      </p:sp>
      <p:pic>
        <p:nvPicPr>
          <p:cNvPr id="7" name="Picture 6" descr="mh8_ref_law.png"/>
          <p:cNvPicPr>
            <a:picLocks noChangeAspect="1"/>
          </p:cNvPicPr>
          <p:nvPr/>
        </p:nvPicPr>
        <p:blipFill>
          <a:blip r:embed="rId2"/>
          <a:stretch>
            <a:fillRect/>
          </a:stretch>
        </p:blipFill>
        <p:spPr>
          <a:xfrm>
            <a:off x="9052560" y="2103120"/>
            <a:ext cx="2651760"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INTRODUCTION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Learning Objectives</a:t>
            </a:r>
          </a:p>
        </p:txBody>
      </p:sp>
      <p:sp>
        <p:nvSpPr>
          <p:cNvPr id="6" name="Rounded Rectangle 5"/>
          <p:cNvSpPr/>
          <p:nvPr/>
        </p:nvSpPr>
        <p:spPr>
          <a:xfrm>
            <a:off x="640080" y="1874519"/>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2167127"/>
            <a:ext cx="457200" cy="45720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67127"/>
            <a:ext cx="457200" cy="457200"/>
          </a:xfrm>
          <a:prstGeom prst="rect">
            <a:avLst/>
          </a:prstGeom>
          <a:noFill/>
        </p:spPr>
        <p:txBody>
          <a:bodyPr wrap="square" anchor="ctr" lIns="0" rIns="0" tIns="0" bIns="0">
            <a:spAutoFit/>
          </a:bodyPr>
          <a:lstStyle/>
          <a:p>
            <a:pPr algn="ctr"/>
            <a:r>
              <a:rPr sz="1600" b="1" i="0">
                <a:solidFill>
                  <a:srgbClr val="FFFFFF"/>
                </a:solidFill>
                <a:latin typeface="Calibri"/>
              </a:rPr>
              <a:t>1</a:t>
            </a:r>
          </a:p>
        </p:txBody>
      </p:sp>
      <p:sp>
        <p:nvSpPr>
          <p:cNvPr id="9" name="TextBox 8"/>
          <p:cNvSpPr txBox="1"/>
          <p:nvPr/>
        </p:nvSpPr>
        <p:spPr>
          <a:xfrm>
            <a:off x="1554480" y="2039112"/>
            <a:ext cx="4251959" cy="777239"/>
          </a:xfrm>
          <a:prstGeom prst="rect">
            <a:avLst/>
          </a:prstGeom>
          <a:noFill/>
        </p:spPr>
        <p:txBody>
          <a:bodyPr wrap="square" anchor="ctr" lIns="0" rIns="0" tIns="0" bIns="0">
            <a:spAutoFit/>
          </a:bodyPr>
          <a:lstStyle/>
          <a:p>
            <a:pPr algn="l"/>
            <a:r>
              <a:rPr sz="1450" b="0" i="0">
                <a:solidFill>
                  <a:srgbClr val="1D2433"/>
                </a:solidFill>
                <a:latin typeface="Calibri"/>
              </a:rPr>
              <a:t>Define reflection and the terms used in it</a:t>
            </a:r>
          </a:p>
        </p:txBody>
      </p:sp>
      <p:sp>
        <p:nvSpPr>
          <p:cNvPr id="10" name="Rounded Rectangle 9"/>
          <p:cNvSpPr/>
          <p:nvPr/>
        </p:nvSpPr>
        <p:spPr>
          <a:xfrm>
            <a:off x="6172200" y="1874519"/>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2167127"/>
            <a:ext cx="457200" cy="45720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167127"/>
            <a:ext cx="457200" cy="457200"/>
          </a:xfrm>
          <a:prstGeom prst="rect">
            <a:avLst/>
          </a:prstGeom>
          <a:noFill/>
        </p:spPr>
        <p:txBody>
          <a:bodyPr wrap="square" anchor="ctr" lIns="0" rIns="0" tIns="0" bIns="0">
            <a:spAutoFit/>
          </a:bodyPr>
          <a:lstStyle/>
          <a:p>
            <a:pPr algn="ctr"/>
            <a:r>
              <a:rPr sz="1600" b="1" i="0">
                <a:solidFill>
                  <a:srgbClr val="FFFFFF"/>
                </a:solidFill>
                <a:latin typeface="Calibri"/>
              </a:rPr>
              <a:t>2</a:t>
            </a:r>
          </a:p>
        </p:txBody>
      </p:sp>
      <p:sp>
        <p:nvSpPr>
          <p:cNvPr id="13" name="TextBox 12"/>
          <p:cNvSpPr txBox="1"/>
          <p:nvPr/>
        </p:nvSpPr>
        <p:spPr>
          <a:xfrm>
            <a:off x="7086600" y="2039112"/>
            <a:ext cx="4251959" cy="777239"/>
          </a:xfrm>
          <a:prstGeom prst="rect">
            <a:avLst/>
          </a:prstGeom>
          <a:noFill/>
        </p:spPr>
        <p:txBody>
          <a:bodyPr wrap="square" anchor="ctr" lIns="0" rIns="0" tIns="0" bIns="0">
            <a:spAutoFit/>
          </a:bodyPr>
          <a:lstStyle/>
          <a:p>
            <a:pPr algn="l"/>
            <a:r>
              <a:rPr sz="1450" b="0" i="0">
                <a:solidFill>
                  <a:srgbClr val="1D2433"/>
                </a:solidFill>
                <a:latin typeface="Calibri"/>
              </a:rPr>
              <a:t>State the laws of reflection of light</a:t>
            </a:r>
          </a:p>
        </p:txBody>
      </p:sp>
      <p:sp>
        <p:nvSpPr>
          <p:cNvPr id="14" name="Rounded Rectangle 13"/>
          <p:cNvSpPr/>
          <p:nvPr/>
        </p:nvSpPr>
        <p:spPr>
          <a:xfrm>
            <a:off x="640080" y="3182111"/>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3474719"/>
            <a:ext cx="457200" cy="45720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474719"/>
            <a:ext cx="457200" cy="457200"/>
          </a:xfrm>
          <a:prstGeom prst="rect">
            <a:avLst/>
          </a:prstGeom>
          <a:noFill/>
        </p:spPr>
        <p:txBody>
          <a:bodyPr wrap="square" anchor="ctr" lIns="0" rIns="0" tIns="0" bIns="0">
            <a:spAutoFit/>
          </a:bodyPr>
          <a:lstStyle/>
          <a:p>
            <a:pPr algn="ctr"/>
            <a:r>
              <a:rPr sz="1600" b="1" i="0">
                <a:solidFill>
                  <a:srgbClr val="FFFFFF"/>
                </a:solidFill>
                <a:latin typeface="Calibri"/>
              </a:rPr>
              <a:t>3</a:t>
            </a:r>
          </a:p>
        </p:txBody>
      </p:sp>
      <p:sp>
        <p:nvSpPr>
          <p:cNvPr id="17" name="TextBox 16"/>
          <p:cNvSpPr txBox="1"/>
          <p:nvPr/>
        </p:nvSpPr>
        <p:spPr>
          <a:xfrm>
            <a:off x="1554480" y="3346703"/>
            <a:ext cx="4251959" cy="777239"/>
          </a:xfrm>
          <a:prstGeom prst="rect">
            <a:avLst/>
          </a:prstGeom>
          <a:noFill/>
        </p:spPr>
        <p:txBody>
          <a:bodyPr wrap="square" anchor="ctr" lIns="0" rIns="0" tIns="0" bIns="0">
            <a:spAutoFit/>
          </a:bodyPr>
          <a:lstStyle/>
          <a:p>
            <a:pPr algn="l"/>
            <a:r>
              <a:rPr sz="1450" b="0" i="0">
                <a:solidFill>
                  <a:srgbClr val="1D2433"/>
                </a:solidFill>
                <a:latin typeface="Calibri"/>
              </a:rPr>
              <a:t>Distinguish regular and irregular reflection</a:t>
            </a:r>
          </a:p>
        </p:txBody>
      </p:sp>
      <p:sp>
        <p:nvSpPr>
          <p:cNvPr id="18" name="Rounded Rectangle 17"/>
          <p:cNvSpPr/>
          <p:nvPr/>
        </p:nvSpPr>
        <p:spPr>
          <a:xfrm>
            <a:off x="6172200" y="3182111"/>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46520" y="3474719"/>
            <a:ext cx="457200" cy="45720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474719"/>
            <a:ext cx="457200" cy="457200"/>
          </a:xfrm>
          <a:prstGeom prst="rect">
            <a:avLst/>
          </a:prstGeom>
          <a:noFill/>
        </p:spPr>
        <p:txBody>
          <a:bodyPr wrap="square" anchor="ctr" lIns="0" rIns="0" tIns="0" bIns="0">
            <a:spAutoFit/>
          </a:bodyPr>
          <a:lstStyle/>
          <a:p>
            <a:pPr algn="ctr"/>
            <a:r>
              <a:rPr sz="1600" b="1" i="0">
                <a:solidFill>
                  <a:srgbClr val="FFFFFF"/>
                </a:solidFill>
                <a:latin typeface="Calibri"/>
              </a:rPr>
              <a:t>4</a:t>
            </a:r>
          </a:p>
        </p:txBody>
      </p:sp>
      <p:sp>
        <p:nvSpPr>
          <p:cNvPr id="21" name="TextBox 20"/>
          <p:cNvSpPr txBox="1"/>
          <p:nvPr/>
        </p:nvSpPr>
        <p:spPr>
          <a:xfrm>
            <a:off x="7086600" y="3346703"/>
            <a:ext cx="4251959" cy="777239"/>
          </a:xfrm>
          <a:prstGeom prst="rect">
            <a:avLst/>
          </a:prstGeom>
          <a:noFill/>
        </p:spPr>
        <p:txBody>
          <a:bodyPr wrap="square" anchor="ctr" lIns="0" rIns="0" tIns="0" bIns="0">
            <a:spAutoFit/>
          </a:bodyPr>
          <a:lstStyle/>
          <a:p>
            <a:pPr algn="l"/>
            <a:r>
              <a:rPr sz="1450" b="0" i="0">
                <a:solidFill>
                  <a:srgbClr val="1D2433"/>
                </a:solidFill>
                <a:latin typeface="Calibri"/>
              </a:rPr>
              <a:t>Explain reflection of reflected light (multiple reflection)</a:t>
            </a:r>
          </a:p>
        </p:txBody>
      </p:sp>
      <p:sp>
        <p:nvSpPr>
          <p:cNvPr id="22" name="Rounded Rectangle 21"/>
          <p:cNvSpPr/>
          <p:nvPr/>
        </p:nvSpPr>
        <p:spPr>
          <a:xfrm>
            <a:off x="640080" y="4489704"/>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4400" y="4782312"/>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782312"/>
            <a:ext cx="457200" cy="457200"/>
          </a:xfrm>
          <a:prstGeom prst="rect">
            <a:avLst/>
          </a:prstGeom>
          <a:noFill/>
        </p:spPr>
        <p:txBody>
          <a:bodyPr wrap="square" anchor="ctr" lIns="0" rIns="0" tIns="0" bIns="0">
            <a:spAutoFit/>
          </a:bodyPr>
          <a:lstStyle/>
          <a:p>
            <a:pPr algn="ctr"/>
            <a:r>
              <a:rPr sz="1600" b="1" i="0">
                <a:solidFill>
                  <a:srgbClr val="FFFFFF"/>
                </a:solidFill>
                <a:latin typeface="Calibri"/>
              </a:rPr>
              <a:t>5</a:t>
            </a:r>
          </a:p>
        </p:txBody>
      </p:sp>
      <p:sp>
        <p:nvSpPr>
          <p:cNvPr id="25" name="TextBox 24"/>
          <p:cNvSpPr txBox="1"/>
          <p:nvPr/>
        </p:nvSpPr>
        <p:spPr>
          <a:xfrm>
            <a:off x="1554480" y="4654296"/>
            <a:ext cx="4251959" cy="777239"/>
          </a:xfrm>
          <a:prstGeom prst="rect">
            <a:avLst/>
          </a:prstGeom>
          <a:noFill/>
        </p:spPr>
        <p:txBody>
          <a:bodyPr wrap="square" anchor="ctr" lIns="0" rIns="0" tIns="0" bIns="0">
            <a:spAutoFit/>
          </a:bodyPr>
          <a:lstStyle/>
          <a:p>
            <a:pPr algn="l"/>
            <a:r>
              <a:rPr sz="1450" b="0" i="0">
                <a:solidFill>
                  <a:srgbClr val="1D2433"/>
                </a:solidFill>
                <a:latin typeface="Calibri"/>
              </a:rPr>
              <a:t>Describe the working of a periscope</a:t>
            </a:r>
          </a:p>
        </p:txBody>
      </p:sp>
      <p:sp>
        <p:nvSpPr>
          <p:cNvPr id="26" name="Rounded Rectangle 25"/>
          <p:cNvSpPr/>
          <p:nvPr/>
        </p:nvSpPr>
        <p:spPr>
          <a:xfrm>
            <a:off x="6172200" y="4489704"/>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46520" y="4782312"/>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782312"/>
            <a:ext cx="457200" cy="457200"/>
          </a:xfrm>
          <a:prstGeom prst="rect">
            <a:avLst/>
          </a:prstGeom>
          <a:noFill/>
        </p:spPr>
        <p:txBody>
          <a:bodyPr wrap="square" anchor="ctr" lIns="0" rIns="0" tIns="0" bIns="0">
            <a:spAutoFit/>
          </a:bodyPr>
          <a:lstStyle/>
          <a:p>
            <a:pPr algn="ctr"/>
            <a:r>
              <a:rPr sz="1600" b="1" i="0">
                <a:solidFill>
                  <a:srgbClr val="FFFFFF"/>
                </a:solidFill>
                <a:latin typeface="Calibri"/>
              </a:rPr>
              <a:t>6</a:t>
            </a:r>
          </a:p>
        </p:txBody>
      </p:sp>
      <p:sp>
        <p:nvSpPr>
          <p:cNvPr id="29" name="TextBox 28"/>
          <p:cNvSpPr txBox="1"/>
          <p:nvPr/>
        </p:nvSpPr>
        <p:spPr>
          <a:xfrm>
            <a:off x="7086600" y="4654296"/>
            <a:ext cx="4251959" cy="777239"/>
          </a:xfrm>
          <a:prstGeom prst="rect">
            <a:avLst/>
          </a:prstGeom>
          <a:noFill/>
        </p:spPr>
        <p:txBody>
          <a:bodyPr wrap="square" anchor="ctr" lIns="0" rIns="0" tIns="0" bIns="0">
            <a:spAutoFit/>
          </a:bodyPr>
          <a:lstStyle/>
          <a:p>
            <a:pPr algn="l"/>
            <a:r>
              <a:rPr sz="1450" b="0" i="0">
                <a:solidFill>
                  <a:srgbClr val="1D2433"/>
                </a:solidFill>
                <a:latin typeface="Calibri"/>
              </a:rPr>
              <a:t>Explain how a kaleidoscope 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595360" y="-1463040"/>
            <a:ext cx="4937760" cy="493776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3108960"/>
            <a:ext cx="3383280" cy="2743200"/>
          </a:xfrm>
          <a:prstGeom prst="rect">
            <a:avLst/>
          </a:prstGeom>
          <a:noFill/>
        </p:spPr>
        <p:txBody>
          <a:bodyPr wrap="square" anchor="t" lIns="0" rIns="0" tIns="0" bIns="0">
            <a:spAutoFit/>
          </a:bodyPr>
          <a:lstStyle/>
          <a:p>
            <a:pPr algn="r"/>
            <a:r>
              <a:rPr sz="20000" b="1" i="0">
                <a:solidFill>
                  <a:srgbClr val="263149"/>
                </a:solidFill>
                <a:latin typeface="Calibri"/>
              </a:rPr>
              <a:t>1</a:t>
            </a:r>
          </a:p>
        </p:txBody>
      </p:sp>
      <p:sp>
        <p:nvSpPr>
          <p:cNvPr id="4" name="TextBox 3"/>
          <p:cNvSpPr txBox="1"/>
          <p:nvPr/>
        </p:nvSpPr>
        <p:spPr>
          <a:xfrm>
            <a:off x="777240" y="2148840"/>
            <a:ext cx="6949440" cy="457200"/>
          </a:xfrm>
          <a:prstGeom prst="rect">
            <a:avLst/>
          </a:prstGeom>
          <a:noFill/>
        </p:spPr>
        <p:txBody>
          <a:bodyPr wrap="square" anchor="t" lIns="0" rIns="0" tIns="0" bIns="0">
            <a:spAutoFit/>
          </a:bodyPr>
          <a:lstStyle/>
          <a:p>
            <a:pPr algn="l"/>
            <a:r>
              <a:rPr sz="1600" b="1" i="0">
                <a:solidFill>
                  <a:srgbClr val="FFC300"/>
                </a:solidFill>
                <a:latin typeface="Arial"/>
              </a:rPr>
              <a:t>PART 1</a:t>
            </a:r>
          </a:p>
        </p:txBody>
      </p:sp>
      <p:sp>
        <p:nvSpPr>
          <p:cNvPr id="5" name="TextBox 4"/>
          <p:cNvSpPr txBox="1"/>
          <p:nvPr/>
        </p:nvSpPr>
        <p:spPr>
          <a:xfrm>
            <a:off x="777240" y="2697480"/>
            <a:ext cx="7498079" cy="1097280"/>
          </a:xfrm>
          <a:prstGeom prst="rect">
            <a:avLst/>
          </a:prstGeom>
          <a:noFill/>
        </p:spPr>
        <p:txBody>
          <a:bodyPr wrap="square" anchor="t" lIns="0" rIns="0" tIns="0" bIns="0">
            <a:spAutoFit/>
          </a:bodyPr>
          <a:lstStyle/>
          <a:p>
            <a:pPr algn="l"/>
            <a:r>
              <a:rPr sz="4200" b="1" i="0">
                <a:solidFill>
                  <a:srgbClr val="FFFFFF"/>
                </a:solidFill>
                <a:latin typeface="Calibri"/>
              </a:rPr>
              <a:t>Reflection and Its Laws</a:t>
            </a:r>
          </a:p>
        </p:txBody>
      </p:sp>
      <p:sp>
        <p:nvSpPr>
          <p:cNvPr id="6" name="TextBox 5"/>
          <p:cNvSpPr txBox="1"/>
          <p:nvPr/>
        </p:nvSpPr>
        <p:spPr>
          <a:xfrm>
            <a:off x="777240" y="4114800"/>
            <a:ext cx="7315200" cy="822960"/>
          </a:xfrm>
          <a:prstGeom prst="rect">
            <a:avLst/>
          </a:prstGeom>
          <a:noFill/>
        </p:spPr>
        <p:txBody>
          <a:bodyPr wrap="square" anchor="t" lIns="0" rIns="0" tIns="0" bIns="0">
            <a:spAutoFit/>
          </a:bodyPr>
          <a:lstStyle/>
          <a:p>
            <a:pPr algn="l"/>
            <a:r>
              <a:rPr sz="1800" b="0" i="0">
                <a:solidFill>
                  <a:srgbClr val="CADCFC"/>
                </a:solidFill>
                <a:latin typeface="Calibri"/>
              </a:rPr>
              <a:t>How light bounces off a surface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TERMS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Reflection and Its Terms</a:t>
            </a:r>
          </a:p>
        </p:txBody>
      </p:sp>
      <p:sp>
        <p:nvSpPr>
          <p:cNvPr id="6" name="Rounded Rectangle 5"/>
          <p:cNvSpPr/>
          <p:nvPr/>
        </p:nvSpPr>
        <p:spPr>
          <a:xfrm>
            <a:off x="640080" y="1874519"/>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51560" y="2381097"/>
            <a:ext cx="100584" cy="545668"/>
          </a:xfrm>
          <a:prstGeom prst="roundRect">
            <a:avLst>
              <a:gd name="adj" fmla="val 5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240279"/>
            <a:ext cx="9784080" cy="880109"/>
          </a:xfrm>
          <a:prstGeom prst="rect">
            <a:avLst/>
          </a:prstGeom>
          <a:noFill/>
        </p:spPr>
        <p:txBody>
          <a:bodyPr wrap="square" anchor="ctr" lIns="0" rIns="0" tIns="0" bIns="0">
            <a:spAutoFit/>
          </a:bodyPr>
          <a:lstStyle/>
          <a:p>
            <a:pPr algn="l">
              <a:lnSpc>
                <a:spcPct val="102000"/>
              </a:lnSpc>
              <a:spcAft>
                <a:spcPts val="300"/>
              </a:spcAft>
            </a:pPr>
            <a:r>
              <a:rPr sz="1700" b="1" i="0">
                <a:solidFill>
                  <a:srgbClr val="1D2433"/>
                </a:solidFill>
                <a:latin typeface="Calibri"/>
              </a:rPr>
              <a:t>Reflection</a:t>
            </a:r>
          </a:p>
          <a:p>
            <a:pPr algn="l">
              <a:lnSpc>
                <a:spcPct val="102000"/>
              </a:lnSpc>
              <a:spcAft>
                <a:spcPts val="300"/>
              </a:spcAft>
            </a:pPr>
            <a:r>
              <a:rPr sz="1350" b="0" i="0">
                <a:solidFill>
                  <a:srgbClr val="6B7280"/>
                </a:solidFill>
                <a:latin typeface="Calibri"/>
              </a:rPr>
              <a:t>The bouncing back of light from a polished surface.</a:t>
            </a:r>
          </a:p>
        </p:txBody>
      </p:sp>
      <p:sp>
        <p:nvSpPr>
          <p:cNvPr id="9" name="Rounded Rectangle 8"/>
          <p:cNvSpPr/>
          <p:nvPr/>
        </p:nvSpPr>
        <p:spPr>
          <a:xfrm>
            <a:off x="1051560" y="3261207"/>
            <a:ext cx="100584" cy="545668"/>
          </a:xfrm>
          <a:prstGeom prst="roundRect">
            <a:avLst>
              <a:gd name="adj" fmla="val 5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120389"/>
            <a:ext cx="9784080" cy="880109"/>
          </a:xfrm>
          <a:prstGeom prst="rect">
            <a:avLst/>
          </a:prstGeom>
          <a:noFill/>
        </p:spPr>
        <p:txBody>
          <a:bodyPr wrap="square" anchor="ctr" lIns="0" rIns="0" tIns="0" bIns="0">
            <a:spAutoFit/>
          </a:bodyPr>
          <a:lstStyle/>
          <a:p>
            <a:pPr algn="l">
              <a:lnSpc>
                <a:spcPct val="102000"/>
              </a:lnSpc>
              <a:spcAft>
                <a:spcPts val="300"/>
              </a:spcAft>
            </a:pPr>
            <a:r>
              <a:rPr sz="1700" b="1" i="0">
                <a:solidFill>
                  <a:srgbClr val="1D2433"/>
                </a:solidFill>
                <a:latin typeface="Calibri"/>
              </a:rPr>
              <a:t>Incident ray</a:t>
            </a:r>
          </a:p>
          <a:p>
            <a:pPr algn="l">
              <a:lnSpc>
                <a:spcPct val="102000"/>
              </a:lnSpc>
              <a:spcAft>
                <a:spcPts val="300"/>
              </a:spcAft>
            </a:pPr>
            <a:r>
              <a:rPr sz="1350" b="0" i="0">
                <a:solidFill>
                  <a:srgbClr val="6B7280"/>
                </a:solidFill>
                <a:latin typeface="Calibri"/>
              </a:rPr>
              <a:t>The ray of light striking the surface.</a:t>
            </a:r>
          </a:p>
        </p:txBody>
      </p:sp>
      <p:sp>
        <p:nvSpPr>
          <p:cNvPr id="11" name="Rounded Rectangle 10"/>
          <p:cNvSpPr/>
          <p:nvPr/>
        </p:nvSpPr>
        <p:spPr>
          <a:xfrm>
            <a:off x="1051560" y="4141317"/>
            <a:ext cx="100584" cy="545668"/>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000500"/>
            <a:ext cx="9784080" cy="880109"/>
          </a:xfrm>
          <a:prstGeom prst="rect">
            <a:avLst/>
          </a:prstGeom>
          <a:noFill/>
        </p:spPr>
        <p:txBody>
          <a:bodyPr wrap="square" anchor="ctr" lIns="0" rIns="0" tIns="0" bIns="0">
            <a:spAutoFit/>
          </a:bodyPr>
          <a:lstStyle/>
          <a:p>
            <a:pPr algn="l">
              <a:lnSpc>
                <a:spcPct val="102000"/>
              </a:lnSpc>
              <a:spcAft>
                <a:spcPts val="300"/>
              </a:spcAft>
            </a:pPr>
            <a:r>
              <a:rPr sz="1700" b="1" i="0">
                <a:solidFill>
                  <a:srgbClr val="1D2433"/>
                </a:solidFill>
                <a:latin typeface="Calibri"/>
              </a:rPr>
              <a:t>Reflected ray</a:t>
            </a:r>
          </a:p>
          <a:p>
            <a:pPr algn="l">
              <a:lnSpc>
                <a:spcPct val="102000"/>
              </a:lnSpc>
              <a:spcAft>
                <a:spcPts val="300"/>
              </a:spcAft>
            </a:pPr>
            <a:r>
              <a:rPr sz="1350" b="0" i="0">
                <a:solidFill>
                  <a:srgbClr val="6B7280"/>
                </a:solidFill>
                <a:latin typeface="Calibri"/>
              </a:rPr>
              <a:t>The ray that bounces back.</a:t>
            </a:r>
          </a:p>
        </p:txBody>
      </p:sp>
      <p:sp>
        <p:nvSpPr>
          <p:cNvPr id="13" name="Rounded Rectangle 12"/>
          <p:cNvSpPr/>
          <p:nvPr/>
        </p:nvSpPr>
        <p:spPr>
          <a:xfrm>
            <a:off x="1051560" y="5021427"/>
            <a:ext cx="100584" cy="545668"/>
          </a:xfrm>
          <a:prstGeom prst="roundRect">
            <a:avLst>
              <a:gd name="adj" fmla="val 5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4880609"/>
            <a:ext cx="9784080" cy="880109"/>
          </a:xfrm>
          <a:prstGeom prst="rect">
            <a:avLst/>
          </a:prstGeom>
          <a:noFill/>
        </p:spPr>
        <p:txBody>
          <a:bodyPr wrap="square" anchor="ctr" lIns="0" rIns="0" tIns="0" bIns="0">
            <a:spAutoFit/>
          </a:bodyPr>
          <a:lstStyle/>
          <a:p>
            <a:pPr algn="l">
              <a:lnSpc>
                <a:spcPct val="102000"/>
              </a:lnSpc>
              <a:spcAft>
                <a:spcPts val="300"/>
              </a:spcAft>
            </a:pPr>
            <a:r>
              <a:rPr sz="1700" b="1" i="0">
                <a:solidFill>
                  <a:srgbClr val="1D2433"/>
                </a:solidFill>
                <a:latin typeface="Calibri"/>
              </a:rPr>
              <a:t>Normal</a:t>
            </a:r>
          </a:p>
          <a:p>
            <a:pPr algn="l">
              <a:lnSpc>
                <a:spcPct val="102000"/>
              </a:lnSpc>
              <a:spcAft>
                <a:spcPts val="300"/>
              </a:spcAft>
            </a:pPr>
            <a:r>
              <a:rPr sz="1350" b="0" i="0">
                <a:solidFill>
                  <a:srgbClr val="6B7280"/>
                </a:solidFill>
                <a:latin typeface="Calibri"/>
              </a:rPr>
              <a:t>The perpendicular to the surface at the point of incidence; angles are measured from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LAWS OF REFLECTION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 Laws of Reflection of Light</a:t>
            </a:r>
          </a:p>
        </p:txBody>
      </p:sp>
      <p:sp>
        <p:nvSpPr>
          <p:cNvPr id="6" name="Rounded Rectangle 5"/>
          <p:cNvSpPr/>
          <p:nvPr/>
        </p:nvSpPr>
        <p:spPr>
          <a:xfrm>
            <a:off x="640080" y="1828800"/>
            <a:ext cx="10881360" cy="1371600"/>
          </a:xfrm>
          <a:prstGeom prst="roundRect">
            <a:avLst>
              <a:gd name="adj" fmla="val 6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Reflection of light follows three laws.</a:t>
            </a:r>
          </a:p>
        </p:txBody>
      </p:sp>
      <p:pic>
        <p:nvPicPr>
          <p:cNvPr id="8" name="Picture 7" descr="mh8_ref_law.png"/>
          <p:cNvPicPr>
            <a:picLocks noChangeAspect="1"/>
          </p:cNvPicPr>
          <p:nvPr/>
        </p:nvPicPr>
        <p:blipFill>
          <a:blip r:embed="rId2"/>
          <a:stretch>
            <a:fillRect/>
          </a:stretch>
        </p:blipFill>
        <p:spPr>
          <a:xfrm>
            <a:off x="4023360" y="3429000"/>
            <a:ext cx="4114800" cy="24231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TYPES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Regular and Irregular Reflection</a:t>
            </a:r>
          </a:p>
        </p:txBody>
      </p:sp>
      <p:pic>
        <p:nvPicPr>
          <p:cNvPr id="6" name="Picture 5" descr="mh8_ref_plane.png"/>
          <p:cNvPicPr>
            <a:picLocks noChangeAspect="1"/>
          </p:cNvPicPr>
          <p:nvPr/>
        </p:nvPicPr>
        <p:blipFill>
          <a:blip r:embed="rId2"/>
          <a:stretch>
            <a:fillRect/>
          </a:stretch>
        </p:blipFill>
        <p:spPr>
          <a:xfrm>
            <a:off x="6613855" y="1965960"/>
            <a:ext cx="4754880" cy="3657600"/>
          </a:xfrm>
          <a:prstGeom prst="rect">
            <a:avLst/>
          </a:prstGeom>
        </p:spPr>
      </p:pic>
      <p:sp>
        <p:nvSpPr>
          <p:cNvPr id="7" name="Rounded Rectangle 6"/>
          <p:cNvSpPr/>
          <p:nvPr/>
        </p:nvSpPr>
        <p:spPr>
          <a:xfrm>
            <a:off x="822960"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103120"/>
            <a:ext cx="5029200" cy="457200"/>
          </a:xfrm>
          <a:prstGeom prst="rect">
            <a:avLst/>
          </a:prstGeom>
          <a:noFill/>
        </p:spPr>
        <p:txBody>
          <a:bodyPr wrap="square" anchor="t" lIns="0" rIns="0" tIns="0" bIns="0">
            <a:spAutoFit/>
          </a:bodyPr>
          <a:lstStyle/>
          <a:p>
            <a:pPr algn="l"/>
            <a:r>
              <a:rPr sz="1800" b="1" i="0">
                <a:solidFill>
                  <a:srgbClr val="6A4C93"/>
                </a:solidFill>
                <a:latin typeface="Calibri"/>
              </a:rPr>
              <a:t>Smooth vs rough surfaces</a:t>
            </a:r>
          </a:p>
        </p:txBody>
      </p:sp>
      <p:sp>
        <p:nvSpPr>
          <p:cNvPr id="9" name="TextBox 8"/>
          <p:cNvSpPr txBox="1"/>
          <p:nvPr/>
        </p:nvSpPr>
        <p:spPr>
          <a:xfrm>
            <a:off x="1188720" y="2697480"/>
            <a:ext cx="5029200" cy="3108959"/>
          </a:xfrm>
          <a:prstGeom prst="rect">
            <a:avLst/>
          </a:prstGeom>
          <a:noFill/>
        </p:spPr>
        <p:txBody>
          <a:bodyPr wrap="square" anchor="t" lIns="0" rIns="0" tIns="0" bIns="0">
            <a:spAutoFit/>
          </a:bodyPr>
          <a:lstStyle/>
          <a:p>
            <a:pPr algn="l">
              <a:lnSpc>
                <a:spcPct val="106000"/>
              </a:lnSpc>
              <a:spcAft>
                <a:spcPts val="900"/>
              </a:spcAft>
            </a:pPr>
            <a:r>
              <a:rPr sz="1400" b="1" i="0">
                <a:solidFill>
                  <a:srgbClr val="6A4C93"/>
                </a:solidFill>
                <a:latin typeface="Calibri"/>
              </a:rPr>
              <a:t>•  </a:t>
            </a:r>
            <a:r>
              <a:rPr sz="1400" b="0" i="0">
                <a:solidFill>
                  <a:srgbClr val="1D2433"/>
                </a:solidFill>
                <a:latin typeface="Calibri"/>
              </a:rPr>
              <a:t>Regular reflection: from a smooth, polished surface</a:t>
            </a:r>
          </a:p>
          <a:p>
            <a:pPr algn="l">
              <a:lnSpc>
                <a:spcPct val="106000"/>
              </a:lnSpc>
              <a:spcAft>
                <a:spcPts val="900"/>
              </a:spcAft>
            </a:pPr>
            <a:r>
              <a:rPr sz="1400" b="1" i="0">
                <a:solidFill>
                  <a:srgbClr val="6A4C93"/>
                </a:solidFill>
                <a:latin typeface="Calibri"/>
              </a:rPr>
              <a:t>•  </a:t>
            </a:r>
            <a:r>
              <a:rPr sz="1400" b="0" i="0">
                <a:solidFill>
                  <a:srgbClr val="1D2433"/>
                </a:solidFill>
                <a:latin typeface="Calibri"/>
              </a:rPr>
              <a:t>Parallel rays stay parallel → a clear image</a:t>
            </a:r>
          </a:p>
          <a:p>
            <a:pPr algn="l">
              <a:lnSpc>
                <a:spcPct val="106000"/>
              </a:lnSpc>
              <a:spcAft>
                <a:spcPts val="900"/>
              </a:spcAft>
            </a:pPr>
            <a:r>
              <a:rPr sz="1400" b="1" i="0">
                <a:solidFill>
                  <a:srgbClr val="6A4C93"/>
                </a:solidFill>
                <a:latin typeface="Calibri"/>
              </a:rPr>
              <a:t>•  </a:t>
            </a:r>
            <a:r>
              <a:rPr sz="1400" b="0" i="0">
                <a:solidFill>
                  <a:srgbClr val="1D2433"/>
                </a:solidFill>
                <a:latin typeface="Calibri"/>
              </a:rPr>
              <a:t>Irregular (diffuse): from a rough surface</a:t>
            </a:r>
          </a:p>
          <a:p>
            <a:pPr algn="l">
              <a:lnSpc>
                <a:spcPct val="106000"/>
              </a:lnSpc>
              <a:spcAft>
                <a:spcPts val="900"/>
              </a:spcAft>
            </a:pPr>
            <a:r>
              <a:rPr sz="1400" b="1" i="0">
                <a:solidFill>
                  <a:srgbClr val="6A4C93"/>
                </a:solidFill>
                <a:latin typeface="Calibri"/>
              </a:rPr>
              <a:t>•  </a:t>
            </a:r>
            <a:r>
              <a:rPr sz="1400" b="0" i="0">
                <a:solidFill>
                  <a:srgbClr val="1D2433"/>
                </a:solidFill>
                <a:latin typeface="Calibri"/>
              </a:rPr>
              <a:t>Rays scatter in all directions → no clear image</a:t>
            </a:r>
          </a:p>
          <a:p>
            <a:pPr algn="l">
              <a:lnSpc>
                <a:spcPct val="106000"/>
              </a:lnSpc>
              <a:spcAft>
                <a:spcPts val="900"/>
              </a:spcAft>
            </a:pPr>
            <a:r>
              <a:rPr sz="1400" b="1" i="0">
                <a:solidFill>
                  <a:srgbClr val="6A4C93"/>
                </a:solidFill>
                <a:latin typeface="Calibri"/>
              </a:rPr>
              <a:t>•  </a:t>
            </a:r>
            <a:r>
              <a:rPr sz="1400" b="0" i="0">
                <a:solidFill>
                  <a:srgbClr val="1D2433"/>
                </a:solidFill>
                <a:latin typeface="Calibri"/>
              </a:rPr>
              <a:t>A mirror gives regular; paper gives irregular reflection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778240" y="-1371600"/>
            <a:ext cx="4754880" cy="47548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11680"/>
            <a:ext cx="8229600" cy="457200"/>
          </a:xfrm>
          <a:prstGeom prst="rect">
            <a:avLst/>
          </a:prstGeom>
          <a:noFill/>
        </p:spPr>
        <p:txBody>
          <a:bodyPr wrap="square" anchor="t" lIns="0" rIns="0" tIns="0" bIns="0">
            <a:spAutoFit/>
          </a:bodyPr>
          <a:lstStyle/>
          <a:p>
            <a:pPr algn="l"/>
            <a:r>
              <a:rPr sz="1600" b="1" i="0">
                <a:solidFill>
                  <a:srgbClr val="FFC300"/>
                </a:solidFill>
                <a:latin typeface="Arial"/>
              </a:rPr>
              <a:t>QUIZ 1</a:t>
            </a:r>
          </a:p>
        </p:txBody>
      </p:sp>
      <p:sp>
        <p:nvSpPr>
          <p:cNvPr id="4" name="TextBox 3"/>
          <p:cNvSpPr txBox="1"/>
          <p:nvPr/>
        </p:nvSpPr>
        <p:spPr>
          <a:xfrm>
            <a:off x="777240" y="2560320"/>
            <a:ext cx="9601200" cy="1005840"/>
          </a:xfrm>
          <a:prstGeom prst="rect">
            <a:avLst/>
          </a:prstGeom>
          <a:noFill/>
        </p:spPr>
        <p:txBody>
          <a:bodyPr wrap="square" anchor="t" lIns="0" rIns="0" tIns="0" bIns="0">
            <a:spAutoFit/>
          </a:bodyPr>
          <a:lstStyle/>
          <a:p>
            <a:pPr algn="l"/>
            <a:r>
              <a:rPr sz="4400" b="1" i="0">
                <a:solidFill>
                  <a:srgbClr val="FFFFFF"/>
                </a:solidFill>
                <a:latin typeface="Calibri"/>
              </a:rPr>
              <a:t>Check — Reflection &amp; Laws</a:t>
            </a:r>
          </a:p>
        </p:txBody>
      </p:sp>
      <p:sp>
        <p:nvSpPr>
          <p:cNvPr id="5" name="TextBox 4"/>
          <p:cNvSpPr txBox="1"/>
          <p:nvPr/>
        </p:nvSpPr>
        <p:spPr>
          <a:xfrm>
            <a:off x="777240" y="3749039"/>
            <a:ext cx="9601200" cy="548640"/>
          </a:xfrm>
          <a:prstGeom prst="rect">
            <a:avLst/>
          </a:prstGeom>
          <a:noFill/>
        </p:spPr>
        <p:txBody>
          <a:bodyPr wrap="square" anchor="t" lIns="0" rIns="0" tIns="0" bIns="0">
            <a:spAutoFit/>
          </a:bodyPr>
          <a:lstStyle/>
          <a:p>
            <a:pPr algn="l"/>
            <a:r>
              <a:rPr sz="1800" b="0" i="0">
                <a:solidFill>
                  <a:srgbClr val="CADCFC"/>
                </a:solidFill>
                <a:latin typeface="Calibri"/>
              </a:rPr>
              <a:t>4 questions  •  think before the answer reveals on the next 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Angles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According to the laws of reflection, the angle of reflection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greater than the angle of incidence</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equal to the angle of incidence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less than the angle of incidence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always 90°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Angles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According to the laws of reflection, the angle of reflection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greater than the angle of incidence</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equal to the angle of incidence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less than the angle of incidence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always 90°</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angle of reflection always equals the angle of incidence, both measured from the normal.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Normal</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In reflection, the angles are measured from the: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surface</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normal at the point of incidence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reflected object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edge of the mirror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Normal</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In reflection, the angles are measured from the: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surface</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normal at the point of incidence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reflected object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edge of the mirror</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normal is the perpendicular to the surface at the point the ray strikes; both angles are measured from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Regular</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Reflection from a smooth, polished surface, giving a clear image,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irregular reflection</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regular reflection</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diffuse reflection</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refraction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Regular</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Reflection from a smooth, polished surface, giving a clear image,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irregular reflection</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regular reflection</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diffuse reflection</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refraction</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A smooth surface reflects parallel rays parallel, forming a clear image — regular reflection.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Irregular</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We cannot see our image in a sheet of paper because it causes: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regular reflection</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irregular (diffuse) reflection</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no reflection</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refraction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Irregular</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We cannot see our image in a sheet of paper because it causes: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regular reflection</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irregular (diffuse) reflection</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no reflection</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refraction</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rough surface of paper scatters light in all directions, so no clear image forms.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595360" y="-1463040"/>
            <a:ext cx="4937760" cy="493776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3108960"/>
            <a:ext cx="3383280" cy="2743200"/>
          </a:xfrm>
          <a:prstGeom prst="rect">
            <a:avLst/>
          </a:prstGeom>
          <a:noFill/>
        </p:spPr>
        <p:txBody>
          <a:bodyPr wrap="square" anchor="t" lIns="0" rIns="0" tIns="0" bIns="0">
            <a:spAutoFit/>
          </a:bodyPr>
          <a:lstStyle/>
          <a:p>
            <a:pPr algn="r"/>
            <a:r>
              <a:rPr sz="20000" b="1" i="0">
                <a:solidFill>
                  <a:srgbClr val="263149"/>
                </a:solidFill>
                <a:latin typeface="Calibri"/>
              </a:rPr>
              <a:t>2</a:t>
            </a:r>
          </a:p>
        </p:txBody>
      </p:sp>
      <p:sp>
        <p:nvSpPr>
          <p:cNvPr id="4" name="TextBox 3"/>
          <p:cNvSpPr txBox="1"/>
          <p:nvPr/>
        </p:nvSpPr>
        <p:spPr>
          <a:xfrm>
            <a:off x="777240" y="2148840"/>
            <a:ext cx="6949440" cy="457200"/>
          </a:xfrm>
          <a:prstGeom prst="rect">
            <a:avLst/>
          </a:prstGeom>
          <a:noFill/>
        </p:spPr>
        <p:txBody>
          <a:bodyPr wrap="square" anchor="t" lIns="0" rIns="0" tIns="0" bIns="0">
            <a:spAutoFit/>
          </a:bodyPr>
          <a:lstStyle/>
          <a:p>
            <a:pPr algn="l"/>
            <a:r>
              <a:rPr sz="1600" b="1" i="0">
                <a:solidFill>
                  <a:srgbClr val="FFC300"/>
                </a:solidFill>
                <a:latin typeface="Arial"/>
              </a:rPr>
              <a:t>PART 2</a:t>
            </a:r>
          </a:p>
        </p:txBody>
      </p:sp>
      <p:sp>
        <p:nvSpPr>
          <p:cNvPr id="5" name="TextBox 4"/>
          <p:cNvSpPr txBox="1"/>
          <p:nvPr/>
        </p:nvSpPr>
        <p:spPr>
          <a:xfrm>
            <a:off x="777240" y="2697480"/>
            <a:ext cx="7498079" cy="1097280"/>
          </a:xfrm>
          <a:prstGeom prst="rect">
            <a:avLst/>
          </a:prstGeom>
          <a:noFill/>
        </p:spPr>
        <p:txBody>
          <a:bodyPr wrap="square" anchor="t" lIns="0" rIns="0" tIns="0" bIns="0">
            <a:spAutoFit/>
          </a:bodyPr>
          <a:lstStyle/>
          <a:p>
            <a:pPr algn="l"/>
            <a:r>
              <a:rPr sz="4200" b="1" i="0">
                <a:solidFill>
                  <a:srgbClr val="FFFFFF"/>
                </a:solidFill>
                <a:latin typeface="Calibri"/>
              </a:rPr>
              <a:t>Multiple Reflection and Its Uses</a:t>
            </a:r>
          </a:p>
        </p:txBody>
      </p:sp>
      <p:sp>
        <p:nvSpPr>
          <p:cNvPr id="6" name="TextBox 5"/>
          <p:cNvSpPr txBox="1"/>
          <p:nvPr/>
        </p:nvSpPr>
        <p:spPr>
          <a:xfrm>
            <a:off x="777240" y="4114800"/>
            <a:ext cx="7315200" cy="822960"/>
          </a:xfrm>
          <a:prstGeom prst="rect">
            <a:avLst/>
          </a:prstGeom>
          <a:noFill/>
        </p:spPr>
        <p:txBody>
          <a:bodyPr wrap="square" anchor="t" lIns="0" rIns="0" tIns="0" bIns="0">
            <a:spAutoFit/>
          </a:bodyPr>
          <a:lstStyle/>
          <a:p>
            <a:pPr algn="l"/>
            <a:r>
              <a:rPr sz="1800" b="0" i="0">
                <a:solidFill>
                  <a:srgbClr val="CADCFC"/>
                </a:solidFill>
                <a:latin typeface="Calibri"/>
              </a:rPr>
              <a:t>Periscope and kaleidoscope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PERISCOPE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 Periscope</a:t>
            </a:r>
          </a:p>
        </p:txBody>
      </p:sp>
      <p:pic>
        <p:nvPicPr>
          <p:cNvPr id="6" name="Picture 5" descr="mh8_ref_peri.png"/>
          <p:cNvPicPr>
            <a:picLocks noChangeAspect="1"/>
          </p:cNvPicPr>
          <p:nvPr/>
        </p:nvPicPr>
        <p:blipFill>
          <a:blip r:embed="rId2"/>
          <a:stretch>
            <a:fillRect/>
          </a:stretch>
        </p:blipFill>
        <p:spPr>
          <a:xfrm>
            <a:off x="6613855" y="1965960"/>
            <a:ext cx="4754880" cy="3657600"/>
          </a:xfrm>
          <a:prstGeom prst="rect">
            <a:avLst/>
          </a:prstGeom>
        </p:spPr>
      </p:pic>
      <p:sp>
        <p:nvSpPr>
          <p:cNvPr id="7" name="Rounded Rectangle 6"/>
          <p:cNvSpPr/>
          <p:nvPr/>
        </p:nvSpPr>
        <p:spPr>
          <a:xfrm>
            <a:off x="822960"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103120"/>
            <a:ext cx="5029200" cy="457200"/>
          </a:xfrm>
          <a:prstGeom prst="rect">
            <a:avLst/>
          </a:prstGeom>
          <a:noFill/>
        </p:spPr>
        <p:txBody>
          <a:bodyPr wrap="square" anchor="t" lIns="0" rIns="0" tIns="0" bIns="0">
            <a:spAutoFit/>
          </a:bodyPr>
          <a:lstStyle/>
          <a:p>
            <a:pPr algn="l"/>
            <a:r>
              <a:rPr sz="1800" b="1" i="0">
                <a:solidFill>
                  <a:srgbClr val="6A4C93"/>
                </a:solidFill>
                <a:latin typeface="Calibri"/>
              </a:rPr>
              <a:t>Seeing over an obstacle</a:t>
            </a:r>
          </a:p>
        </p:txBody>
      </p:sp>
      <p:sp>
        <p:nvSpPr>
          <p:cNvPr id="9" name="TextBox 8"/>
          <p:cNvSpPr txBox="1"/>
          <p:nvPr/>
        </p:nvSpPr>
        <p:spPr>
          <a:xfrm>
            <a:off x="1188720" y="2697480"/>
            <a:ext cx="5029200" cy="3108959"/>
          </a:xfrm>
          <a:prstGeom prst="rect">
            <a:avLst/>
          </a:prstGeom>
          <a:noFill/>
        </p:spPr>
        <p:txBody>
          <a:bodyPr wrap="square" anchor="t" lIns="0" rIns="0" tIns="0" bIns="0">
            <a:spAutoFit/>
          </a:bodyPr>
          <a:lstStyle/>
          <a:p>
            <a:pPr algn="l">
              <a:lnSpc>
                <a:spcPct val="106000"/>
              </a:lnSpc>
              <a:spcAft>
                <a:spcPts val="900"/>
              </a:spcAft>
            </a:pPr>
            <a:r>
              <a:rPr sz="1400" b="1" i="0">
                <a:solidFill>
                  <a:srgbClr val="6A4C93"/>
                </a:solidFill>
                <a:latin typeface="Calibri"/>
              </a:rPr>
              <a:t>•  </a:t>
            </a:r>
            <a:r>
              <a:rPr sz="1400" b="0" i="0">
                <a:solidFill>
                  <a:srgbClr val="1D2433"/>
                </a:solidFill>
                <a:latin typeface="Calibri"/>
              </a:rPr>
              <a:t>Uses reflection of reflected light (two mirrors)</a:t>
            </a:r>
          </a:p>
          <a:p>
            <a:pPr algn="l">
              <a:lnSpc>
                <a:spcPct val="106000"/>
              </a:lnSpc>
              <a:spcAft>
                <a:spcPts val="900"/>
              </a:spcAft>
            </a:pPr>
            <a:r>
              <a:rPr sz="1400" b="1" i="0">
                <a:solidFill>
                  <a:srgbClr val="6A4C93"/>
                </a:solidFill>
                <a:latin typeface="Calibri"/>
              </a:rPr>
              <a:t>•  </a:t>
            </a:r>
            <a:r>
              <a:rPr sz="1400" b="0" i="0">
                <a:solidFill>
                  <a:srgbClr val="1D2433"/>
                </a:solidFill>
                <a:latin typeface="Calibri"/>
              </a:rPr>
              <a:t>Two plane mirrors are fixed at 45°, parallel to each other</a:t>
            </a:r>
          </a:p>
          <a:p>
            <a:pPr algn="l">
              <a:lnSpc>
                <a:spcPct val="106000"/>
              </a:lnSpc>
              <a:spcAft>
                <a:spcPts val="900"/>
              </a:spcAft>
            </a:pPr>
            <a:r>
              <a:rPr sz="1400" b="1" i="0">
                <a:solidFill>
                  <a:srgbClr val="6A4C93"/>
                </a:solidFill>
                <a:latin typeface="Calibri"/>
              </a:rPr>
              <a:t>•  </a:t>
            </a:r>
            <a:r>
              <a:rPr sz="1400" b="0" i="0">
                <a:solidFill>
                  <a:srgbClr val="1D2433"/>
                </a:solidFill>
                <a:latin typeface="Calibri"/>
              </a:rPr>
              <a:t>Light reflects off the top mirror, then the bottom mirror</a:t>
            </a:r>
          </a:p>
          <a:p>
            <a:pPr algn="l">
              <a:lnSpc>
                <a:spcPct val="106000"/>
              </a:lnSpc>
              <a:spcAft>
                <a:spcPts val="900"/>
              </a:spcAft>
            </a:pPr>
            <a:r>
              <a:rPr sz="1400" b="1" i="0">
                <a:solidFill>
                  <a:srgbClr val="6A4C93"/>
                </a:solidFill>
                <a:latin typeface="Calibri"/>
              </a:rPr>
              <a:t>•  </a:t>
            </a:r>
            <a:r>
              <a:rPr sz="1400" b="0" i="0">
                <a:solidFill>
                  <a:srgbClr val="1D2433"/>
                </a:solidFill>
                <a:latin typeface="Calibri"/>
              </a:rPr>
              <a:t>The emergent ray is parallel to the incident ray</a:t>
            </a:r>
          </a:p>
          <a:p>
            <a:pPr algn="l">
              <a:lnSpc>
                <a:spcPct val="106000"/>
              </a:lnSpc>
              <a:spcAft>
                <a:spcPts val="900"/>
              </a:spcAft>
            </a:pPr>
            <a:r>
              <a:rPr sz="1400" b="1" i="0">
                <a:solidFill>
                  <a:srgbClr val="6A4C93"/>
                </a:solidFill>
                <a:latin typeface="Calibri"/>
              </a:rPr>
              <a:t>•  </a:t>
            </a:r>
            <a:r>
              <a:rPr sz="1400" b="0" i="0">
                <a:solidFill>
                  <a:srgbClr val="1D2433"/>
                </a:solidFill>
                <a:latin typeface="Calibri"/>
              </a:rPr>
              <a:t>Used to see over walls and from submarines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KALEIDOSCOPE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 Kaleidoscope</a:t>
            </a:r>
          </a:p>
        </p:txBody>
      </p:sp>
      <p:sp>
        <p:nvSpPr>
          <p:cNvPr id="6" name="Rounded Rectangle 5"/>
          <p:cNvSpPr/>
          <p:nvPr/>
        </p:nvSpPr>
        <p:spPr>
          <a:xfrm>
            <a:off x="640080" y="1874519"/>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51560" y="2381097"/>
            <a:ext cx="100584" cy="545668"/>
          </a:xfrm>
          <a:prstGeom prst="roundRect">
            <a:avLst>
              <a:gd name="adj" fmla="val 5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240279"/>
            <a:ext cx="9784080" cy="880109"/>
          </a:xfrm>
          <a:prstGeom prst="rect">
            <a:avLst/>
          </a:prstGeom>
          <a:noFill/>
        </p:spPr>
        <p:txBody>
          <a:bodyPr wrap="square" anchor="ctr" lIns="0" rIns="0" tIns="0" bIns="0">
            <a:spAutoFit/>
          </a:bodyPr>
          <a:lstStyle/>
          <a:p>
            <a:pPr algn="l">
              <a:lnSpc>
                <a:spcPct val="102000"/>
              </a:lnSpc>
              <a:spcAft>
                <a:spcPts val="300"/>
              </a:spcAft>
            </a:pPr>
            <a:r>
              <a:rPr sz="1700" b="1" i="0">
                <a:solidFill>
                  <a:srgbClr val="1D2433"/>
                </a:solidFill>
                <a:latin typeface="Calibri"/>
              </a:rPr>
              <a:t>Multiple reflection</a:t>
            </a:r>
          </a:p>
          <a:p>
            <a:pPr algn="l">
              <a:lnSpc>
                <a:spcPct val="102000"/>
              </a:lnSpc>
              <a:spcAft>
                <a:spcPts val="300"/>
              </a:spcAft>
            </a:pPr>
            <a:r>
              <a:rPr sz="1350" b="0" i="0">
                <a:solidFill>
                  <a:srgbClr val="6B7280"/>
                </a:solidFill>
                <a:latin typeface="Calibri"/>
              </a:rPr>
              <a:t>It works on repeated reflection of reflected light.</a:t>
            </a:r>
          </a:p>
        </p:txBody>
      </p:sp>
      <p:sp>
        <p:nvSpPr>
          <p:cNvPr id="9" name="Rounded Rectangle 8"/>
          <p:cNvSpPr/>
          <p:nvPr/>
        </p:nvSpPr>
        <p:spPr>
          <a:xfrm>
            <a:off x="1051560" y="3261207"/>
            <a:ext cx="100584" cy="545668"/>
          </a:xfrm>
          <a:prstGeom prst="roundRect">
            <a:avLst>
              <a:gd name="adj" fmla="val 5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120389"/>
            <a:ext cx="9784080" cy="880109"/>
          </a:xfrm>
          <a:prstGeom prst="rect">
            <a:avLst/>
          </a:prstGeom>
          <a:noFill/>
        </p:spPr>
        <p:txBody>
          <a:bodyPr wrap="square" anchor="ctr" lIns="0" rIns="0" tIns="0" bIns="0">
            <a:spAutoFit/>
          </a:bodyPr>
          <a:lstStyle/>
          <a:p>
            <a:pPr algn="l">
              <a:lnSpc>
                <a:spcPct val="102000"/>
              </a:lnSpc>
              <a:spcAft>
                <a:spcPts val="300"/>
              </a:spcAft>
            </a:pPr>
            <a:r>
              <a:rPr sz="1700" b="1" i="0">
                <a:solidFill>
                  <a:srgbClr val="1D2433"/>
                </a:solidFill>
                <a:latin typeface="Calibri"/>
              </a:rPr>
              <a:t>Mirrors at an angle</a:t>
            </a:r>
          </a:p>
          <a:p>
            <a:pPr algn="l">
              <a:lnSpc>
                <a:spcPct val="102000"/>
              </a:lnSpc>
              <a:spcAft>
                <a:spcPts val="300"/>
              </a:spcAft>
            </a:pPr>
            <a:r>
              <a:rPr sz="1350" b="0" i="0">
                <a:solidFill>
                  <a:srgbClr val="6B7280"/>
                </a:solidFill>
                <a:latin typeface="Calibri"/>
              </a:rPr>
              <a:t>Two or three plane mirrors are placed at an angle inside a tube.</a:t>
            </a:r>
          </a:p>
        </p:txBody>
      </p:sp>
      <p:sp>
        <p:nvSpPr>
          <p:cNvPr id="11" name="Rounded Rectangle 10"/>
          <p:cNvSpPr/>
          <p:nvPr/>
        </p:nvSpPr>
        <p:spPr>
          <a:xfrm>
            <a:off x="1051560" y="4141317"/>
            <a:ext cx="100584" cy="545668"/>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000500"/>
            <a:ext cx="9784080" cy="880109"/>
          </a:xfrm>
          <a:prstGeom prst="rect">
            <a:avLst/>
          </a:prstGeom>
          <a:noFill/>
        </p:spPr>
        <p:txBody>
          <a:bodyPr wrap="square" anchor="ctr" lIns="0" rIns="0" tIns="0" bIns="0">
            <a:spAutoFit/>
          </a:bodyPr>
          <a:lstStyle/>
          <a:p>
            <a:pPr algn="l">
              <a:lnSpc>
                <a:spcPct val="102000"/>
              </a:lnSpc>
              <a:spcAft>
                <a:spcPts val="300"/>
              </a:spcAft>
            </a:pPr>
            <a:r>
              <a:rPr sz="1700" b="1" i="0">
                <a:solidFill>
                  <a:srgbClr val="1D2433"/>
                </a:solidFill>
                <a:latin typeface="Calibri"/>
              </a:rPr>
              <a:t>Beautiful patterns</a:t>
            </a:r>
          </a:p>
          <a:p>
            <a:pPr algn="l">
              <a:lnSpc>
                <a:spcPct val="102000"/>
              </a:lnSpc>
              <a:spcAft>
                <a:spcPts val="300"/>
              </a:spcAft>
            </a:pPr>
            <a:r>
              <a:rPr sz="1350" b="0" i="0">
                <a:solidFill>
                  <a:srgbClr val="6B7280"/>
                </a:solidFill>
                <a:latin typeface="Calibri"/>
              </a:rPr>
              <a:t>Coloured pieces are reflected many times to form symmetrical patterns.</a:t>
            </a:r>
          </a:p>
        </p:txBody>
      </p:sp>
      <p:sp>
        <p:nvSpPr>
          <p:cNvPr id="13" name="Rounded Rectangle 12"/>
          <p:cNvSpPr/>
          <p:nvPr/>
        </p:nvSpPr>
        <p:spPr>
          <a:xfrm>
            <a:off x="1051560" y="5021427"/>
            <a:ext cx="100584" cy="545668"/>
          </a:xfrm>
          <a:prstGeom prst="roundRect">
            <a:avLst>
              <a:gd name="adj" fmla="val 5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4880609"/>
            <a:ext cx="9784080" cy="880109"/>
          </a:xfrm>
          <a:prstGeom prst="rect">
            <a:avLst/>
          </a:prstGeom>
          <a:noFill/>
        </p:spPr>
        <p:txBody>
          <a:bodyPr wrap="square" anchor="ctr" lIns="0" rIns="0" tIns="0" bIns="0">
            <a:spAutoFit/>
          </a:bodyPr>
          <a:lstStyle/>
          <a:p>
            <a:pPr algn="l">
              <a:lnSpc>
                <a:spcPct val="102000"/>
              </a:lnSpc>
              <a:spcAft>
                <a:spcPts val="300"/>
              </a:spcAft>
            </a:pPr>
            <a:r>
              <a:rPr sz="1700" b="1" i="0">
                <a:solidFill>
                  <a:srgbClr val="1D2433"/>
                </a:solidFill>
                <a:latin typeface="Calibri"/>
              </a:rPr>
              <a:t>Changing view</a:t>
            </a:r>
          </a:p>
          <a:p>
            <a:pPr algn="l">
              <a:lnSpc>
                <a:spcPct val="102000"/>
              </a:lnSpc>
              <a:spcAft>
                <a:spcPts val="300"/>
              </a:spcAft>
            </a:pPr>
            <a:r>
              <a:rPr sz="1350" b="0" i="0">
                <a:solidFill>
                  <a:srgbClr val="6B7280"/>
                </a:solidFill>
                <a:latin typeface="Calibri"/>
              </a:rPr>
              <a:t>Turning the tube rearranges the pieces and changes the pattern.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WRAP UP</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Quick Recap</a:t>
            </a:r>
          </a:p>
        </p:txBody>
      </p:sp>
      <p:sp>
        <p:nvSpPr>
          <p:cNvPr id="6" name="Rounded Rectangle 5"/>
          <p:cNvSpPr/>
          <p:nvPr/>
        </p:nvSpPr>
        <p:spPr>
          <a:xfrm>
            <a:off x="640080" y="1828800"/>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48840"/>
            <a:ext cx="10058400" cy="3657600"/>
          </a:xfrm>
          <a:prstGeom prst="rect">
            <a:avLst/>
          </a:prstGeom>
          <a:noFill/>
        </p:spPr>
        <p:txBody>
          <a:bodyPr wrap="square" anchor="t" lIns="0" rIns="0" tIns="0" bIns="0">
            <a:spAutoFit/>
          </a:bodyPr>
          <a:lstStyle/>
          <a:p>
            <a:pPr algn="l">
              <a:lnSpc>
                <a:spcPct val="105000"/>
              </a:lnSpc>
              <a:spcAft>
                <a:spcPts val="1200"/>
              </a:spcAft>
            </a:pPr>
            <a:r>
              <a:rPr sz="1600" b="1" i="0">
                <a:solidFill>
                  <a:srgbClr val="2A9D8F"/>
                </a:solidFill>
                <a:latin typeface="Calibri"/>
              </a:rPr>
              <a:t>✓  </a:t>
            </a:r>
            <a:r>
              <a:rPr sz="1600" b="1" i="0">
                <a:solidFill>
                  <a:srgbClr val="1D2433"/>
                </a:solidFill>
                <a:latin typeface="Calibri"/>
              </a:rPr>
              <a:t>Reflection  —  </a:t>
            </a:r>
            <a:r>
              <a:rPr sz="1500" b="0" i="0">
                <a:solidFill>
                  <a:srgbClr val="6B7280"/>
                </a:solidFill>
                <a:latin typeface="Calibri"/>
              </a:rPr>
              <a:t>Bouncing back of light from a polished surface.</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Laws  —  </a:t>
            </a:r>
            <a:r>
              <a:rPr sz="1500" b="0" i="0">
                <a:solidFill>
                  <a:srgbClr val="6B7280"/>
                </a:solidFill>
                <a:latin typeface="Calibri"/>
              </a:rPr>
              <a:t>Angle of reflection = angle of incidence; rays and normal coplanar; on opposite sides of the normal.</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Regular vs irregular  —  </a:t>
            </a:r>
            <a:r>
              <a:rPr sz="1500" b="0" i="0">
                <a:solidFill>
                  <a:srgbClr val="6B7280"/>
                </a:solidFill>
                <a:latin typeface="Calibri"/>
              </a:rPr>
              <a:t>Smooth surface → clear image; rough surface → scattered light.</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Periscope  —  </a:t>
            </a:r>
            <a:r>
              <a:rPr sz="1500" b="0" i="0">
                <a:solidFill>
                  <a:srgbClr val="6B7280"/>
                </a:solidFill>
                <a:latin typeface="Calibri"/>
              </a:rPr>
              <a:t>Two 45° mirrors let you see over an obstacle.</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Kaleidoscope  —  </a:t>
            </a:r>
            <a:r>
              <a:rPr sz="1500" b="0" i="0">
                <a:solidFill>
                  <a:srgbClr val="6B7280"/>
                </a:solidFill>
                <a:latin typeface="Calibri"/>
              </a:rPr>
              <a:t>Multiple reflection makes symmetrical patterns.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778240" y="-1371600"/>
            <a:ext cx="4754880" cy="47548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11680"/>
            <a:ext cx="8229600" cy="457200"/>
          </a:xfrm>
          <a:prstGeom prst="rect">
            <a:avLst/>
          </a:prstGeom>
          <a:noFill/>
        </p:spPr>
        <p:txBody>
          <a:bodyPr wrap="square" anchor="t" lIns="0" rIns="0" tIns="0" bIns="0">
            <a:spAutoFit/>
          </a:bodyPr>
          <a:lstStyle/>
          <a:p>
            <a:pPr algn="l"/>
            <a:r>
              <a:rPr sz="1600" b="1" i="0">
                <a:solidFill>
                  <a:srgbClr val="FFC300"/>
                </a:solidFill>
                <a:latin typeface="Arial"/>
              </a:rPr>
              <a:t>QUIZ 2</a:t>
            </a:r>
          </a:p>
        </p:txBody>
      </p:sp>
      <p:sp>
        <p:nvSpPr>
          <p:cNvPr id="4" name="TextBox 3"/>
          <p:cNvSpPr txBox="1"/>
          <p:nvPr/>
        </p:nvSpPr>
        <p:spPr>
          <a:xfrm>
            <a:off x="777240" y="2560320"/>
            <a:ext cx="9601200" cy="1005840"/>
          </a:xfrm>
          <a:prstGeom prst="rect">
            <a:avLst/>
          </a:prstGeom>
          <a:noFill/>
        </p:spPr>
        <p:txBody>
          <a:bodyPr wrap="square" anchor="t" lIns="0" rIns="0" tIns="0" bIns="0">
            <a:spAutoFit/>
          </a:bodyPr>
          <a:lstStyle/>
          <a:p>
            <a:pPr algn="l"/>
            <a:r>
              <a:rPr sz="4400" b="1" i="0">
                <a:solidFill>
                  <a:srgbClr val="FFFFFF"/>
                </a:solidFill>
                <a:latin typeface="Calibri"/>
              </a:rPr>
              <a:t>Final Check — Periscope &amp; Kaleidoscope</a:t>
            </a:r>
          </a:p>
        </p:txBody>
      </p:sp>
      <p:sp>
        <p:nvSpPr>
          <p:cNvPr id="5" name="TextBox 4"/>
          <p:cNvSpPr txBox="1"/>
          <p:nvPr/>
        </p:nvSpPr>
        <p:spPr>
          <a:xfrm>
            <a:off x="777240" y="3749039"/>
            <a:ext cx="9601200" cy="548640"/>
          </a:xfrm>
          <a:prstGeom prst="rect">
            <a:avLst/>
          </a:prstGeom>
          <a:noFill/>
        </p:spPr>
        <p:txBody>
          <a:bodyPr wrap="square" anchor="t" lIns="0" rIns="0" tIns="0" bIns="0">
            <a:spAutoFit/>
          </a:bodyPr>
          <a:lstStyle/>
          <a:p>
            <a:pPr algn="l"/>
            <a:r>
              <a:rPr sz="1800" b="0" i="0">
                <a:solidFill>
                  <a:srgbClr val="CADCFC"/>
                </a:solidFill>
                <a:latin typeface="Calibri"/>
              </a:rPr>
              <a:t>4 questions  •  think before the answer reveals on the next slide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Periscope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periscope uses two plane mirrors fixed at an angle of:</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30°</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45°</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60°</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90°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Periscope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periscope uses two plane mirrors fixed at an angle of:</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30°</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45°</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60°</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90°</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Each mirror at 45° turns the light through 90°, so the two together let you see over an obstacle.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Principle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Both the periscope and the kaleidoscope work on the: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refraction of light</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reflection of reflected light</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dispersion of light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absorption of light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Principle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Both the periscope and the kaleidoscope work on the: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refraction of light</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reflection of reflected light</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dispersion of light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absorption of light</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Both use multiple reflection — light reflected from one mirror is reflected again by another.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Periscope ray</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In a periscope, the emergent ray is ___ to the incident ray.</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perpendicular</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parallel</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opposite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at 45°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Periscope ray</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In a periscope, the emergent ray is ___ to the incident ray.</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perpendicular</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parallel</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opposite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at 45°</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Because the two mirrors are parallel, the ray leaving the periscope is parallel to the ray that entered.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6A4C93"/>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Kaleidoscope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kaleidoscope produces symmetrical patterns using:</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a single lens</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plane mirrors at an angle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 concave mirror</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 prism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Kaleidoscope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kaleidoscope produces symmetrical patterns using:</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a single lens</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plane mirrors at an angle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 concave mirror</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 prism</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Coloured pieces are reflected repeatedly by mirrors set at an angle, forming symmetrical patterns.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1463040" y="3108960"/>
            <a:ext cx="4754880" cy="475488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645920"/>
            <a:ext cx="4206240" cy="420624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515600" cy="1097280"/>
          </a:xfrm>
          <a:prstGeom prst="rect">
            <a:avLst/>
          </a:prstGeom>
          <a:noFill/>
        </p:spPr>
        <p:txBody>
          <a:bodyPr wrap="square" anchor="t" lIns="0" rIns="0" tIns="0" bIns="0">
            <a:spAutoFit/>
          </a:bodyPr>
          <a:lstStyle/>
          <a:p>
            <a:pPr algn="l"/>
            <a:r>
              <a:rPr sz="4600" b="1" i="0">
                <a:solidFill>
                  <a:srgbClr val="FFFFFF"/>
                </a:solidFill>
                <a:latin typeface="Calibri"/>
              </a:rPr>
              <a:t>Light That Bounces</a:t>
            </a:r>
          </a:p>
        </p:txBody>
      </p:sp>
      <p:sp>
        <p:nvSpPr>
          <p:cNvPr id="5" name="TextBox 4"/>
          <p:cNvSpPr txBox="1"/>
          <p:nvPr/>
        </p:nvSpPr>
        <p:spPr>
          <a:xfrm>
            <a:off x="731520" y="3566160"/>
            <a:ext cx="10058400" cy="1097280"/>
          </a:xfrm>
          <a:prstGeom prst="rect">
            <a:avLst/>
          </a:prstGeom>
          <a:noFill/>
        </p:spPr>
        <p:txBody>
          <a:bodyPr wrap="square" anchor="t" lIns="0" rIns="0" tIns="0" bIns="0">
            <a:spAutoFit/>
          </a:bodyPr>
          <a:lstStyle/>
          <a:p>
            <a:pPr algn="l"/>
            <a:r>
              <a:rPr sz="1900" b="0" i="0">
                <a:solidFill>
                  <a:srgbClr val="CADCFC"/>
                </a:solidFill>
                <a:latin typeface="Calibri"/>
              </a:rPr>
              <a:t>The simple laws of reflection, used once or many times over, give us mirrors, periscopes and the endless patterns of a kaleidoscope.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