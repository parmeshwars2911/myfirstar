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previewing these objectives so students know what they should be able to do by the end of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with a pencil in a glass of water appearing bent. Stress: refraction is a change in speed and direction, not a change in frequency.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Snell's law on the board and label i and r on the refraction_bending diagram already shown.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 speed of light in vacuum = 3 x 10^8 m/s. n has no unit since it is a ratio of two speeds. The denser the medium, the smaller v, and so the larger 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higher n means light slows down more and bends more strongly on entering that medium.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through both directions (air-to-glass and glass-to-air) so students see the reciprocal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very common numerical style in the MSBSHSE textbook — always rearrange n = c/v for whichever quantity is asked.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two conditions for TIR: (1) light must travel from a denser to a rarer medium, (2) angle of incidence must exceed the critical angle.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Derived by setting the angle of refraction to 90° in Snell's law: n = sin 90° / sin C = 1 / sin 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looking up from underwater, the entire sky outside a cone of about 97° (2C) is compressed into that circle — beyond it, the water surface acts like a mirror.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optical-fibre and mirage diagrams alongside this slide; both are direct consequences of the same TIR condition just derived.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back to the critical-angle condition: TIR happens here even though there is no sharp single boundary — the air's density changes gradually with height.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rainbow is a natural example of dispersion combined with internal reflection inside raindrops.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with why stars appear steady when viewed from space (no atmosphere) — reinforces that twinkling is purely an atmospheric refraction effect.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each recap point; ask students to state the formula for critical angle from memory.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1463040" y="3108960"/>
            <a:ext cx="4754880" cy="47548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645920"/>
            <a:ext cx="4206240" cy="420624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8686800" cy="457200"/>
          </a:xfrm>
          <a:prstGeom prst="rect">
            <a:avLst/>
          </a:prstGeom>
          <a:noFill/>
        </p:spPr>
        <p:txBody>
          <a:bodyPr wrap="square" anchor="t" lIns="0" rIns="0" tIns="0" bIns="0">
            <a:spAutoFit/>
          </a:bodyPr>
          <a:lstStyle/>
          <a:p>
            <a:pPr algn="l"/>
            <a:r>
              <a:rPr sz="1600" b="1" i="0">
                <a:solidFill>
                  <a:srgbClr val="FFC300"/>
                </a:solidFill>
                <a:latin typeface="Arial"/>
              </a:rPr>
              <a:t>STD 10 • SCIENCE PART 1 • LIGHT</a:t>
            </a:r>
          </a:p>
        </p:txBody>
      </p:sp>
      <p:sp>
        <p:nvSpPr>
          <p:cNvPr id="5" name="TextBox 4"/>
          <p:cNvSpPr txBox="1"/>
          <p:nvPr/>
        </p:nvSpPr>
        <p:spPr>
          <a:xfrm>
            <a:off x="731520" y="1828800"/>
            <a:ext cx="8046720" cy="1737360"/>
          </a:xfrm>
          <a:prstGeom prst="rect">
            <a:avLst/>
          </a:prstGeom>
          <a:noFill/>
        </p:spPr>
        <p:txBody>
          <a:bodyPr wrap="square" anchor="b" lIns="0" rIns="0" tIns="0" bIns="0">
            <a:spAutoFit/>
          </a:bodyPr>
          <a:lstStyle/>
          <a:p>
            <a:pPr algn="l"/>
            <a:r>
              <a:rPr sz="5000" b="1" i="0">
                <a:solidFill>
                  <a:srgbClr val="FFFFFF"/>
                </a:solidFill>
                <a:latin typeface="Calibri"/>
              </a:rPr>
              <a:t>Refraction of Light</a:t>
            </a:r>
          </a:p>
        </p:txBody>
      </p:sp>
      <p:sp>
        <p:nvSpPr>
          <p:cNvPr id="6" name="TextBox 5"/>
          <p:cNvSpPr txBox="1"/>
          <p:nvPr/>
        </p:nvSpPr>
        <p:spPr>
          <a:xfrm>
            <a:off x="731520" y="3703320"/>
            <a:ext cx="8046720" cy="1463040"/>
          </a:xfrm>
          <a:prstGeom prst="rect">
            <a:avLst/>
          </a:prstGeom>
          <a:noFill/>
        </p:spPr>
        <p:txBody>
          <a:bodyPr wrap="square" anchor="t" lIns="0" rIns="0" tIns="0" bIns="0">
            <a:spAutoFit/>
          </a:bodyPr>
          <a:lstStyle/>
          <a:p>
            <a:pPr algn="l"/>
            <a:r>
              <a:rPr sz="1900" b="0" i="0">
                <a:solidFill>
                  <a:srgbClr val="CADCFC"/>
                </a:solidFill>
                <a:latin typeface="Calibri"/>
              </a:rPr>
              <a:t>Laws of refraction  •  Refractive index  •  Total internal reflection  •  Dispersion  •  Twinkling of stars</a:t>
            </a:r>
          </a:p>
        </p:txBody>
      </p:sp>
      <p:pic>
        <p:nvPicPr>
          <p:cNvPr id="7" name="Picture 6" descr="mh10_refr_bend.png"/>
          <p:cNvPicPr>
            <a:picLocks noChangeAspect="1"/>
          </p:cNvPicPr>
          <p:nvPr/>
        </p:nvPicPr>
        <p:blipFill>
          <a:blip r:embed="rId2"/>
          <a:stretch>
            <a:fillRect/>
          </a:stretch>
        </p:blipFill>
        <p:spPr>
          <a:xfrm>
            <a:off x="9052560" y="2103120"/>
            <a:ext cx="2651760" cy="2743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INTRODUCTION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Learning Objectives</a:t>
            </a:r>
          </a:p>
        </p:txBody>
      </p:sp>
      <p:sp>
        <p:nvSpPr>
          <p:cNvPr id="6" name="Rounded Rectangle 5"/>
          <p:cNvSpPr/>
          <p:nvPr/>
        </p:nvSpPr>
        <p:spPr>
          <a:xfrm>
            <a:off x="640080" y="1874519"/>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14400" y="2167127"/>
            <a:ext cx="457200" cy="4572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67127"/>
            <a:ext cx="457200" cy="457200"/>
          </a:xfrm>
          <a:prstGeom prst="rect">
            <a:avLst/>
          </a:prstGeom>
          <a:noFill/>
        </p:spPr>
        <p:txBody>
          <a:bodyPr wrap="square" anchor="ctr" lIns="0" rIns="0" tIns="0" bIns="0">
            <a:spAutoFit/>
          </a:bodyPr>
          <a:lstStyle/>
          <a:p>
            <a:pPr algn="ctr"/>
            <a:r>
              <a:rPr sz="1600" b="1" i="0">
                <a:solidFill>
                  <a:srgbClr val="FFFFFF"/>
                </a:solidFill>
                <a:latin typeface="Calibri"/>
              </a:rPr>
              <a:t>1</a:t>
            </a:r>
          </a:p>
        </p:txBody>
      </p:sp>
      <p:sp>
        <p:nvSpPr>
          <p:cNvPr id="9" name="TextBox 8"/>
          <p:cNvSpPr txBox="1"/>
          <p:nvPr/>
        </p:nvSpPr>
        <p:spPr>
          <a:xfrm>
            <a:off x="1554480" y="2039112"/>
            <a:ext cx="4251959" cy="777239"/>
          </a:xfrm>
          <a:prstGeom prst="rect">
            <a:avLst/>
          </a:prstGeom>
          <a:noFill/>
        </p:spPr>
        <p:txBody>
          <a:bodyPr wrap="square" anchor="ctr" lIns="0" rIns="0" tIns="0" bIns="0">
            <a:spAutoFit/>
          </a:bodyPr>
          <a:lstStyle/>
          <a:p>
            <a:pPr algn="l"/>
            <a:r>
              <a:rPr sz="1450" b="0" i="0">
                <a:solidFill>
                  <a:srgbClr val="1D2433"/>
                </a:solidFill>
                <a:latin typeface="Calibri"/>
              </a:rPr>
              <a:t>Explain what refraction is and why light bends at a boundary</a:t>
            </a:r>
          </a:p>
        </p:txBody>
      </p:sp>
      <p:sp>
        <p:nvSpPr>
          <p:cNvPr id="10" name="Rounded Rectangle 9"/>
          <p:cNvSpPr/>
          <p:nvPr/>
        </p:nvSpPr>
        <p:spPr>
          <a:xfrm>
            <a:off x="6172200" y="1874519"/>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46520" y="2167127"/>
            <a:ext cx="457200" cy="45720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67127"/>
            <a:ext cx="457200" cy="457200"/>
          </a:xfrm>
          <a:prstGeom prst="rect">
            <a:avLst/>
          </a:prstGeom>
          <a:noFill/>
        </p:spPr>
        <p:txBody>
          <a:bodyPr wrap="square" anchor="ctr" lIns="0" rIns="0" tIns="0" bIns="0">
            <a:spAutoFit/>
          </a:bodyPr>
          <a:lstStyle/>
          <a:p>
            <a:pPr algn="ctr"/>
            <a:r>
              <a:rPr sz="1600" b="1" i="0">
                <a:solidFill>
                  <a:srgbClr val="FFFFFF"/>
                </a:solidFill>
                <a:latin typeface="Calibri"/>
              </a:rPr>
              <a:t>2</a:t>
            </a:r>
          </a:p>
        </p:txBody>
      </p:sp>
      <p:sp>
        <p:nvSpPr>
          <p:cNvPr id="13" name="TextBox 12"/>
          <p:cNvSpPr txBox="1"/>
          <p:nvPr/>
        </p:nvSpPr>
        <p:spPr>
          <a:xfrm>
            <a:off x="7086600" y="2039112"/>
            <a:ext cx="4251959" cy="777239"/>
          </a:xfrm>
          <a:prstGeom prst="rect">
            <a:avLst/>
          </a:prstGeom>
          <a:noFill/>
        </p:spPr>
        <p:txBody>
          <a:bodyPr wrap="square" anchor="ctr" lIns="0" rIns="0" tIns="0" bIns="0">
            <a:spAutoFit/>
          </a:bodyPr>
          <a:lstStyle/>
          <a:p>
            <a:pPr algn="l"/>
            <a:r>
              <a:rPr sz="1450" b="0" i="0">
                <a:solidFill>
                  <a:srgbClr val="1D2433"/>
                </a:solidFill>
                <a:latin typeface="Calibri"/>
              </a:rPr>
              <a:t>State the two laws of refraction and apply Snell's law</a:t>
            </a:r>
          </a:p>
        </p:txBody>
      </p:sp>
      <p:sp>
        <p:nvSpPr>
          <p:cNvPr id="14" name="Rounded Rectangle 13"/>
          <p:cNvSpPr/>
          <p:nvPr/>
        </p:nvSpPr>
        <p:spPr>
          <a:xfrm>
            <a:off x="640080" y="3182111"/>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3474719"/>
            <a:ext cx="457200" cy="457200"/>
          </a:xfrm>
          <a:prstGeom prst="ellipse">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474719"/>
            <a:ext cx="457200" cy="457200"/>
          </a:xfrm>
          <a:prstGeom prst="rect">
            <a:avLst/>
          </a:prstGeom>
          <a:noFill/>
        </p:spPr>
        <p:txBody>
          <a:bodyPr wrap="square" anchor="ctr" lIns="0" rIns="0" tIns="0" bIns="0">
            <a:spAutoFit/>
          </a:bodyPr>
          <a:lstStyle/>
          <a:p>
            <a:pPr algn="ctr"/>
            <a:r>
              <a:rPr sz="1600" b="1" i="0">
                <a:solidFill>
                  <a:srgbClr val="FFFFFF"/>
                </a:solidFill>
                <a:latin typeface="Calibri"/>
              </a:rPr>
              <a:t>3</a:t>
            </a:r>
          </a:p>
        </p:txBody>
      </p:sp>
      <p:sp>
        <p:nvSpPr>
          <p:cNvPr id="17" name="TextBox 16"/>
          <p:cNvSpPr txBox="1"/>
          <p:nvPr/>
        </p:nvSpPr>
        <p:spPr>
          <a:xfrm>
            <a:off x="1554480" y="3346703"/>
            <a:ext cx="4251959" cy="777239"/>
          </a:xfrm>
          <a:prstGeom prst="rect">
            <a:avLst/>
          </a:prstGeom>
          <a:noFill/>
        </p:spPr>
        <p:txBody>
          <a:bodyPr wrap="square" anchor="ctr" lIns="0" rIns="0" tIns="0" bIns="0">
            <a:spAutoFit/>
          </a:bodyPr>
          <a:lstStyle/>
          <a:p>
            <a:pPr algn="l"/>
            <a:r>
              <a:rPr sz="1450" b="0" i="0">
                <a:solidFill>
                  <a:srgbClr val="1D2433"/>
                </a:solidFill>
                <a:latin typeface="Calibri"/>
              </a:rPr>
              <a:t>Define absolute and relative refractive index</a:t>
            </a:r>
          </a:p>
        </p:txBody>
      </p:sp>
      <p:sp>
        <p:nvSpPr>
          <p:cNvPr id="18" name="Rounded Rectangle 17"/>
          <p:cNvSpPr/>
          <p:nvPr/>
        </p:nvSpPr>
        <p:spPr>
          <a:xfrm>
            <a:off x="6172200" y="3182111"/>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46520" y="3474719"/>
            <a:ext cx="457200" cy="457200"/>
          </a:xfrm>
          <a:prstGeom prst="ellipse">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474719"/>
            <a:ext cx="457200" cy="457200"/>
          </a:xfrm>
          <a:prstGeom prst="rect">
            <a:avLst/>
          </a:prstGeom>
          <a:noFill/>
        </p:spPr>
        <p:txBody>
          <a:bodyPr wrap="square" anchor="ctr" lIns="0" rIns="0" tIns="0" bIns="0">
            <a:spAutoFit/>
          </a:bodyPr>
          <a:lstStyle/>
          <a:p>
            <a:pPr algn="ctr"/>
            <a:r>
              <a:rPr sz="1600" b="1" i="0">
                <a:solidFill>
                  <a:srgbClr val="FFFFFF"/>
                </a:solidFill>
                <a:latin typeface="Calibri"/>
              </a:rPr>
              <a:t>4</a:t>
            </a:r>
          </a:p>
        </p:txBody>
      </p:sp>
      <p:sp>
        <p:nvSpPr>
          <p:cNvPr id="21" name="TextBox 20"/>
          <p:cNvSpPr txBox="1"/>
          <p:nvPr/>
        </p:nvSpPr>
        <p:spPr>
          <a:xfrm>
            <a:off x="7086600" y="3346703"/>
            <a:ext cx="4251959" cy="777239"/>
          </a:xfrm>
          <a:prstGeom prst="rect">
            <a:avLst/>
          </a:prstGeom>
          <a:noFill/>
        </p:spPr>
        <p:txBody>
          <a:bodyPr wrap="square" anchor="ctr" lIns="0" rIns="0" tIns="0" bIns="0">
            <a:spAutoFit/>
          </a:bodyPr>
          <a:lstStyle/>
          <a:p>
            <a:pPr algn="l"/>
            <a:r>
              <a:rPr sz="1450" b="0" i="0">
                <a:solidFill>
                  <a:srgbClr val="1D2433"/>
                </a:solidFill>
                <a:latin typeface="Calibri"/>
              </a:rPr>
              <a:t>Explain critical angle and the conditions for total internal reflection</a:t>
            </a:r>
          </a:p>
        </p:txBody>
      </p:sp>
      <p:sp>
        <p:nvSpPr>
          <p:cNvPr id="22" name="Rounded Rectangle 21"/>
          <p:cNvSpPr/>
          <p:nvPr/>
        </p:nvSpPr>
        <p:spPr>
          <a:xfrm>
            <a:off x="640080" y="4489704"/>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14400" y="4782312"/>
            <a:ext cx="457200" cy="457200"/>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782312"/>
            <a:ext cx="457200" cy="457200"/>
          </a:xfrm>
          <a:prstGeom prst="rect">
            <a:avLst/>
          </a:prstGeom>
          <a:noFill/>
        </p:spPr>
        <p:txBody>
          <a:bodyPr wrap="square" anchor="ctr" lIns="0" rIns="0" tIns="0" bIns="0">
            <a:spAutoFit/>
          </a:bodyPr>
          <a:lstStyle/>
          <a:p>
            <a:pPr algn="ctr"/>
            <a:r>
              <a:rPr sz="1600" b="1" i="0">
                <a:solidFill>
                  <a:srgbClr val="FFFFFF"/>
                </a:solidFill>
                <a:latin typeface="Calibri"/>
              </a:rPr>
              <a:t>5</a:t>
            </a:r>
          </a:p>
        </p:txBody>
      </p:sp>
      <p:sp>
        <p:nvSpPr>
          <p:cNvPr id="25" name="TextBox 24"/>
          <p:cNvSpPr txBox="1"/>
          <p:nvPr/>
        </p:nvSpPr>
        <p:spPr>
          <a:xfrm>
            <a:off x="1554480" y="4654296"/>
            <a:ext cx="4251959" cy="777239"/>
          </a:xfrm>
          <a:prstGeom prst="rect">
            <a:avLst/>
          </a:prstGeom>
          <a:noFill/>
        </p:spPr>
        <p:txBody>
          <a:bodyPr wrap="square" anchor="ctr" lIns="0" rIns="0" tIns="0" bIns="0">
            <a:spAutoFit/>
          </a:bodyPr>
          <a:lstStyle/>
          <a:p>
            <a:pPr algn="l"/>
            <a:r>
              <a:rPr sz="1450" b="0" i="0">
                <a:solidFill>
                  <a:srgbClr val="1D2433"/>
                </a:solidFill>
                <a:latin typeface="Calibri"/>
              </a:rPr>
              <a:t>Describe how TIR explains optical fibres, mirage and diamond sparkle</a:t>
            </a:r>
          </a:p>
        </p:txBody>
      </p:sp>
      <p:sp>
        <p:nvSpPr>
          <p:cNvPr id="26" name="Rounded Rectangle 25"/>
          <p:cNvSpPr/>
          <p:nvPr/>
        </p:nvSpPr>
        <p:spPr>
          <a:xfrm>
            <a:off x="6172200" y="4489704"/>
            <a:ext cx="5349240" cy="1051560"/>
          </a:xfrm>
          <a:prstGeom prst="roundRect">
            <a:avLst>
              <a:gd name="adj" fmla="val 6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46520" y="4782312"/>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4782312"/>
            <a:ext cx="457200" cy="457200"/>
          </a:xfrm>
          <a:prstGeom prst="rect">
            <a:avLst/>
          </a:prstGeom>
          <a:noFill/>
        </p:spPr>
        <p:txBody>
          <a:bodyPr wrap="square" anchor="ctr" lIns="0" rIns="0" tIns="0" bIns="0">
            <a:spAutoFit/>
          </a:bodyPr>
          <a:lstStyle/>
          <a:p>
            <a:pPr algn="ctr"/>
            <a:r>
              <a:rPr sz="1600" b="1" i="0">
                <a:solidFill>
                  <a:srgbClr val="FFFFFF"/>
                </a:solidFill>
                <a:latin typeface="Calibri"/>
              </a:rPr>
              <a:t>6</a:t>
            </a:r>
          </a:p>
        </p:txBody>
      </p:sp>
      <p:sp>
        <p:nvSpPr>
          <p:cNvPr id="29" name="TextBox 28"/>
          <p:cNvSpPr txBox="1"/>
          <p:nvPr/>
        </p:nvSpPr>
        <p:spPr>
          <a:xfrm>
            <a:off x="7086600" y="4654296"/>
            <a:ext cx="4251959" cy="777239"/>
          </a:xfrm>
          <a:prstGeom prst="rect">
            <a:avLst/>
          </a:prstGeom>
          <a:noFill/>
        </p:spPr>
        <p:txBody>
          <a:bodyPr wrap="square" anchor="ctr" lIns="0" rIns="0" tIns="0" bIns="0">
            <a:spAutoFit/>
          </a:bodyPr>
          <a:lstStyle/>
          <a:p>
            <a:pPr algn="l"/>
            <a:r>
              <a:rPr sz="1450" b="0" i="0">
                <a:solidFill>
                  <a:srgbClr val="1D2433"/>
                </a:solidFill>
                <a:latin typeface="Calibri"/>
              </a:rPr>
              <a:t>Explain dispersion of light and the twinkling of stars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595360" y="-1463040"/>
            <a:ext cx="4937760" cy="493776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3108960"/>
            <a:ext cx="3383280" cy="2743200"/>
          </a:xfrm>
          <a:prstGeom prst="rect">
            <a:avLst/>
          </a:prstGeom>
          <a:noFill/>
        </p:spPr>
        <p:txBody>
          <a:bodyPr wrap="square" anchor="t" lIns="0" rIns="0" tIns="0" bIns="0">
            <a:spAutoFit/>
          </a:bodyPr>
          <a:lstStyle/>
          <a:p>
            <a:pPr algn="r"/>
            <a:r>
              <a:rPr sz="20000" b="1" i="0">
                <a:solidFill>
                  <a:srgbClr val="263149"/>
                </a:solidFill>
                <a:latin typeface="Calibri"/>
              </a:rPr>
              <a:t>1</a:t>
            </a:r>
          </a:p>
        </p:txBody>
      </p:sp>
      <p:sp>
        <p:nvSpPr>
          <p:cNvPr id="4" name="TextBox 3"/>
          <p:cNvSpPr txBox="1"/>
          <p:nvPr/>
        </p:nvSpPr>
        <p:spPr>
          <a:xfrm>
            <a:off x="777240" y="2148840"/>
            <a:ext cx="6949440" cy="457200"/>
          </a:xfrm>
          <a:prstGeom prst="rect">
            <a:avLst/>
          </a:prstGeom>
          <a:noFill/>
        </p:spPr>
        <p:txBody>
          <a:bodyPr wrap="square" anchor="t" lIns="0" rIns="0" tIns="0" bIns="0">
            <a:spAutoFit/>
          </a:bodyPr>
          <a:lstStyle/>
          <a:p>
            <a:pPr algn="l"/>
            <a:r>
              <a:rPr sz="1600" b="1" i="0">
                <a:solidFill>
                  <a:srgbClr val="FFC300"/>
                </a:solidFill>
                <a:latin typeface="Arial"/>
              </a:rPr>
              <a:t>PART 1</a:t>
            </a:r>
          </a:p>
        </p:txBody>
      </p:sp>
      <p:sp>
        <p:nvSpPr>
          <p:cNvPr id="5" name="TextBox 4"/>
          <p:cNvSpPr txBox="1"/>
          <p:nvPr/>
        </p:nvSpPr>
        <p:spPr>
          <a:xfrm>
            <a:off x="777240" y="2697480"/>
            <a:ext cx="7498079" cy="1097280"/>
          </a:xfrm>
          <a:prstGeom prst="rect">
            <a:avLst/>
          </a:prstGeom>
          <a:noFill/>
        </p:spPr>
        <p:txBody>
          <a:bodyPr wrap="square" anchor="t" lIns="0" rIns="0" tIns="0" bIns="0">
            <a:spAutoFit/>
          </a:bodyPr>
          <a:lstStyle/>
          <a:p>
            <a:pPr algn="l"/>
            <a:r>
              <a:rPr sz="4200" b="1" i="0">
                <a:solidFill>
                  <a:srgbClr val="FFFFFF"/>
                </a:solidFill>
                <a:latin typeface="Calibri"/>
              </a:rPr>
              <a:t>Refraction and Refractive Index</a:t>
            </a:r>
          </a:p>
        </p:txBody>
      </p:sp>
      <p:sp>
        <p:nvSpPr>
          <p:cNvPr id="6" name="TextBox 5"/>
          <p:cNvSpPr txBox="1"/>
          <p:nvPr/>
        </p:nvSpPr>
        <p:spPr>
          <a:xfrm>
            <a:off x="777240" y="4114800"/>
            <a:ext cx="7315200" cy="822960"/>
          </a:xfrm>
          <a:prstGeom prst="rect">
            <a:avLst/>
          </a:prstGeom>
          <a:noFill/>
        </p:spPr>
        <p:txBody>
          <a:bodyPr wrap="square" anchor="t" lIns="0" rIns="0" tIns="0" bIns="0">
            <a:spAutoFit/>
          </a:bodyPr>
          <a:lstStyle/>
          <a:p>
            <a:pPr algn="l"/>
            <a:r>
              <a:rPr sz="1800" b="0" i="0">
                <a:solidFill>
                  <a:srgbClr val="CADCFC"/>
                </a:solidFill>
                <a:latin typeface="Calibri"/>
              </a:rPr>
              <a:t>Why light bends, and how we measure the bending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REFRACTION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What Is Refraction?</a:t>
            </a:r>
          </a:p>
        </p:txBody>
      </p:sp>
      <p:pic>
        <p:nvPicPr>
          <p:cNvPr id="6" name="Picture 5" descr="mh10_refr_bend.png"/>
          <p:cNvPicPr>
            <a:picLocks noChangeAspect="1"/>
          </p:cNvPicPr>
          <p:nvPr/>
        </p:nvPicPr>
        <p:blipFill>
          <a:blip r:embed="rId2"/>
          <a:stretch>
            <a:fillRect/>
          </a:stretch>
        </p:blipFill>
        <p:spPr>
          <a:xfrm>
            <a:off x="6613855" y="1965960"/>
            <a:ext cx="4754880" cy="3657600"/>
          </a:xfrm>
          <a:prstGeom prst="rect">
            <a:avLst/>
          </a:prstGeom>
        </p:spPr>
      </p:pic>
      <p:sp>
        <p:nvSpPr>
          <p:cNvPr id="7" name="Rounded Rectangle 6"/>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57400"/>
            <a:ext cx="5029200" cy="411480"/>
          </a:xfrm>
          <a:prstGeom prst="rect">
            <a:avLst/>
          </a:prstGeom>
          <a:noFill/>
        </p:spPr>
        <p:txBody>
          <a:bodyPr wrap="square" anchor="t" lIns="0" rIns="0" tIns="0" bIns="0">
            <a:spAutoFit/>
          </a:bodyPr>
          <a:lstStyle/>
          <a:p>
            <a:pPr algn="l"/>
            <a:r>
              <a:rPr sz="1800" b="1" i="0">
                <a:solidFill>
                  <a:srgbClr val="0A9396"/>
                </a:solidFill>
                <a:latin typeface="Calibri"/>
              </a:rPr>
              <a:t>Bending at a boundary</a:t>
            </a:r>
          </a:p>
        </p:txBody>
      </p:sp>
      <p:sp>
        <p:nvSpPr>
          <p:cNvPr id="9" name="TextBox 8"/>
          <p:cNvSpPr txBox="1"/>
          <p:nvPr/>
        </p:nvSpPr>
        <p:spPr>
          <a:xfrm>
            <a:off x="1143000"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0A9396"/>
                </a:solidFill>
                <a:latin typeface="Calibri"/>
              </a:rPr>
              <a:t>•  </a:t>
            </a:r>
            <a:r>
              <a:rPr sz="1500" b="0" i="0">
                <a:solidFill>
                  <a:srgbClr val="1D2433"/>
                </a:solidFill>
                <a:latin typeface="Calibri"/>
              </a:rPr>
              <a:t>When light passes from one transparent medium into another, it changes speed and bends at the boundary — this is refraction.</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Light bends towards the normal when it enters a denser medium (e.g. air to glass), and away from the normal when it enters a rarer medium (e.g. glass to air).</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A ray travelling exactly along the normal does not bend at all, though its speed still changes.</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Refraction happens because the speed of light is different in different media; the frequency stays the same but the wavelength changes.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LAWS OF REFRACTION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The Two Laws of Refraction</a:t>
            </a:r>
          </a:p>
        </p:txBody>
      </p:sp>
      <p:sp>
        <p:nvSpPr>
          <p:cNvPr id="6" name="Rounded Rectangle 5"/>
          <p:cNvSpPr/>
          <p:nvPr/>
        </p:nvSpPr>
        <p:spPr>
          <a:xfrm>
            <a:off x="640080" y="1828800"/>
            <a:ext cx="10881360" cy="1371600"/>
          </a:xfrm>
          <a:prstGeom prst="roundRect">
            <a:avLst>
              <a:gd name="adj" fmla="val 6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First law: the incident ray, the refracted ray and the normal at the point of incidence all lie in the same plane.</a:t>
            </a:r>
          </a:p>
        </p:txBody>
      </p:sp>
      <p:sp>
        <p:nvSpPr>
          <p:cNvPr id="8" name="TextBox 7"/>
          <p:cNvSpPr txBox="1"/>
          <p:nvPr/>
        </p:nvSpPr>
        <p:spPr>
          <a:xfrm>
            <a:off x="1005840" y="3474720"/>
            <a:ext cx="10058400" cy="2423160"/>
          </a:xfrm>
          <a:prstGeom prst="rect">
            <a:avLst/>
          </a:prstGeom>
          <a:noFill/>
        </p:spPr>
        <p:txBody>
          <a:bodyPr wrap="square" anchor="t" lIns="0" rIns="0" tIns="0" bIns="0">
            <a:spAutoFit/>
          </a:bodyPr>
          <a:lstStyle/>
          <a:p>
            <a:pPr algn="l">
              <a:spcAft>
                <a:spcPts val="900"/>
              </a:spcAft>
            </a:pPr>
            <a:r>
              <a:rPr sz="1500" b="1" i="0">
                <a:solidFill>
                  <a:srgbClr val="0A9396"/>
                </a:solidFill>
                <a:latin typeface="Calibri"/>
              </a:rPr>
              <a:t>•  </a:t>
            </a:r>
            <a:r>
              <a:rPr sz="1500" b="0" i="0">
                <a:solidFill>
                  <a:srgbClr val="1D2433"/>
                </a:solidFill>
                <a:latin typeface="Calibri"/>
              </a:rPr>
              <a:t>Second law (Snell's law): the ratio of the sine of the angle of incidence to the sine of the angle of refraction is constant for a given pair of media.</a:t>
            </a:r>
          </a:p>
          <a:p>
            <a:pPr algn="l">
              <a:spcAft>
                <a:spcPts val="900"/>
              </a:spcAft>
            </a:pPr>
            <a:r>
              <a:rPr sz="1500" b="1" i="0">
                <a:solidFill>
                  <a:srgbClr val="0A9396"/>
                </a:solidFill>
                <a:latin typeface="Calibri"/>
              </a:rPr>
              <a:t>•  </a:t>
            </a:r>
            <a:r>
              <a:rPr sz="1500" b="0" i="0">
                <a:solidFill>
                  <a:srgbClr val="1D2433"/>
                </a:solidFill>
                <a:latin typeface="Calibri"/>
              </a:rPr>
              <a:t>This constant is called the refractive index of the second medium with respect to the first.</a:t>
            </a:r>
          </a:p>
          <a:p>
            <a:pPr algn="l">
              <a:spcAft>
                <a:spcPts val="900"/>
              </a:spcAft>
            </a:pPr>
            <a:r>
              <a:rPr sz="1500" b="1" i="0">
                <a:solidFill>
                  <a:srgbClr val="0A9396"/>
                </a:solidFill>
                <a:latin typeface="Calibri"/>
              </a:rPr>
              <a:t>•  </a:t>
            </a:r>
            <a:r>
              <a:rPr sz="1500" b="0" i="0">
                <a:solidFill>
                  <a:srgbClr val="1D2433"/>
                </a:solidFill>
                <a:latin typeface="Calibri"/>
              </a:rPr>
              <a:t>Snell's law is written as: sin i / sin r = constant = ₁n₂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REFRACTIVE INDEX</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Absolute Refractive Index</a:t>
            </a:r>
          </a:p>
        </p:txBody>
      </p:sp>
      <p:sp>
        <p:nvSpPr>
          <p:cNvPr id="6" name="Rounded Rectangle 5"/>
          <p:cNvSpPr/>
          <p:nvPr/>
        </p:nvSpPr>
        <p:spPr>
          <a:xfrm>
            <a:off x="640080" y="1828800"/>
            <a:ext cx="10881360" cy="1371600"/>
          </a:xfrm>
          <a:prstGeom prst="roundRect">
            <a:avLst>
              <a:gd name="adj" fmla="val 6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The absolute refractive index of a medium is the ratio of the speed of light in vacuum (or air) to its speed in that medium.</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n = c / 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REFERENCE VALUES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Absolute Refractive Indices of Common Media</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ark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Air</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n ≈ 1.0003 (taken as 1 for most calculations)</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rop_FFFFFF.png"/>
          <p:cNvPicPr>
            <a:picLocks noChangeAspect="1"/>
          </p:cNvPicPr>
          <p:nvPr/>
        </p:nvPicPr>
        <p:blipFill>
          <a:blip r:embed="rId3"/>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Water</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n = 1.33 — light travels at about 2.26 x 10⁸ m/s</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park_FFFFFF.png"/>
          <p:cNvPicPr>
            <a:picLocks noChangeAspect="1"/>
          </p:cNvPicPr>
          <p:nvPr/>
        </p:nvPicPr>
        <p:blipFill>
          <a:blip r:embed="rId2"/>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Glass (crown)</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n = 1.5 — light travels at about 2 x 10⁸ m/s</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park_FFFFFF.png"/>
          <p:cNvPicPr>
            <a:picLocks noChangeAspect="1"/>
          </p:cNvPicPr>
          <p:nvPr/>
        </p:nvPicPr>
        <p:blipFill>
          <a:blip r:embed="rId2"/>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Diamond</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n = 2.42 — the highest of common transparent materials, which is why it sparkles so brilliantly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RELATIVE REFRACTIVE INDEX</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Refractive Index Between Two Media</a:t>
            </a:r>
          </a:p>
        </p:txBody>
      </p:sp>
      <p:sp>
        <p:nvSpPr>
          <p:cNvPr id="6" name="Rounded Rectangle 5"/>
          <p:cNvSpPr/>
          <p:nvPr/>
        </p:nvSpPr>
        <p:spPr>
          <a:xfrm>
            <a:off x="640080" y="1828800"/>
            <a:ext cx="10881360" cy="1371600"/>
          </a:xfrm>
          <a:prstGeom prst="roundRect">
            <a:avLst>
              <a:gd name="adj" fmla="val 6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When light travels from medium 1 into medium 2, the refractive index of medium 2 with respect to medium 1 relates their absolute indices and speeds.</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₁n₂ = n₂ / n₁ = v₁ / v₂ = sin i / sin r</a:t>
            </a:r>
          </a:p>
        </p:txBody>
      </p:sp>
      <p:sp>
        <p:nvSpPr>
          <p:cNvPr id="10" name="TextBox 9"/>
          <p:cNvSpPr txBox="1"/>
          <p:nvPr/>
        </p:nvSpPr>
        <p:spPr>
          <a:xfrm>
            <a:off x="1005840" y="4572000"/>
            <a:ext cx="10058400" cy="1325880"/>
          </a:xfrm>
          <a:prstGeom prst="rect">
            <a:avLst/>
          </a:prstGeom>
          <a:noFill/>
        </p:spPr>
        <p:txBody>
          <a:bodyPr wrap="square" anchor="t" lIns="0" rIns="0" tIns="0" bIns="0">
            <a:spAutoFit/>
          </a:bodyPr>
          <a:lstStyle/>
          <a:p>
            <a:pPr algn="l">
              <a:spcAft>
                <a:spcPts val="900"/>
              </a:spcAft>
            </a:pPr>
            <a:r>
              <a:rPr sz="1500" b="1" i="0">
                <a:solidFill>
                  <a:srgbClr val="0A9396"/>
                </a:solidFill>
                <a:latin typeface="Calibri"/>
              </a:rPr>
              <a:t>•  </a:t>
            </a:r>
            <a:r>
              <a:rPr sz="1500" b="0" i="0">
                <a:solidFill>
                  <a:srgbClr val="1D2433"/>
                </a:solidFill>
                <a:latin typeface="Calibri"/>
              </a:rPr>
              <a:t>If medium 2 is denser than medium 1, ₁n₂ &gt; 1 and the ray bends towards the normal.</a:t>
            </a:r>
          </a:p>
          <a:p>
            <a:pPr algn="l">
              <a:spcAft>
                <a:spcPts val="900"/>
              </a:spcAft>
            </a:pPr>
            <a:r>
              <a:rPr sz="1500" b="1" i="0">
                <a:solidFill>
                  <a:srgbClr val="0A9396"/>
                </a:solidFill>
                <a:latin typeface="Calibri"/>
              </a:rPr>
              <a:t>•  </a:t>
            </a:r>
            <a:r>
              <a:rPr sz="1500" b="0" i="0">
                <a:solidFill>
                  <a:srgbClr val="1D2433"/>
                </a:solidFill>
                <a:latin typeface="Calibri"/>
              </a:rPr>
              <a:t>If medium 2 is rarer than medium 1, ₁n₂ &lt; 1 and the ray bends away from the normal.</a:t>
            </a:r>
          </a:p>
          <a:p>
            <a:pPr algn="l">
              <a:spcAft>
                <a:spcPts val="900"/>
              </a:spcAft>
            </a:pPr>
            <a:r>
              <a:rPr sz="1500" b="1" i="0">
                <a:solidFill>
                  <a:srgbClr val="0A9396"/>
                </a:solidFill>
                <a:latin typeface="Calibri"/>
              </a:rPr>
              <a:t>•  </a:t>
            </a:r>
            <a:r>
              <a:rPr sz="1500" b="0" i="0">
                <a:solidFill>
                  <a:srgbClr val="1D2433"/>
                </a:solidFill>
                <a:latin typeface="Calibri"/>
              </a:rPr>
              <a:t>₁n₂ and ₂n₁ are reciprocals of each other: ₁n₂ = 1 / ₂n₁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WORKED EXAMPLE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Finding the Speed of Light in Glass</a:t>
            </a:r>
          </a:p>
        </p:txBody>
      </p:sp>
      <p:sp>
        <p:nvSpPr>
          <p:cNvPr id="6" name="Rounded Rectangle 5"/>
          <p:cNvSpPr/>
          <p:nvPr/>
        </p:nvSpPr>
        <p:spPr>
          <a:xfrm>
            <a:off x="640080" y="1828800"/>
            <a:ext cx="10881360" cy="109728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097280"/>
          </a:xfrm>
          <a:prstGeom prst="rect">
            <a:avLst/>
          </a:prstGeom>
          <a:noFill/>
        </p:spPr>
        <p:txBody>
          <a:bodyPr wrap="square" anchor="ctr" lIns="0" rIns="0" tIns="0" bIns="0">
            <a:spAutoFit/>
          </a:bodyPr>
          <a:lstStyle/>
          <a:p>
            <a:pPr algn="l"/>
            <a:r>
              <a:rPr sz="1600" b="1" i="0">
                <a:solidFill>
                  <a:srgbClr val="0A9396"/>
                </a:solidFill>
                <a:latin typeface="Calibri"/>
              </a:rPr>
              <a:t>Problem.  </a:t>
            </a:r>
            <a:r>
              <a:rPr sz="1600" b="0" i="0">
                <a:solidFill>
                  <a:srgbClr val="1D2433"/>
                </a:solidFill>
                <a:latin typeface="Calibri"/>
              </a:rPr>
              <a:t>The absolute refractive index of glass is 1.5. Find the speed of light in glass. (Speed of light in vacuum = 3 x 10⁸ m/s.)</a:t>
            </a:r>
          </a:p>
        </p:txBody>
      </p:sp>
      <p:sp>
        <p:nvSpPr>
          <p:cNvPr id="8" name="Rounded Rectangle 7"/>
          <p:cNvSpPr/>
          <p:nvPr/>
        </p:nvSpPr>
        <p:spPr>
          <a:xfrm>
            <a:off x="640080" y="3108960"/>
            <a:ext cx="10881360" cy="265176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337560"/>
            <a:ext cx="10149840" cy="1828800"/>
          </a:xfrm>
          <a:prstGeom prst="rect">
            <a:avLst/>
          </a:prstGeom>
          <a:noFill/>
        </p:spPr>
        <p:txBody>
          <a:bodyPr wrap="square" anchor="t" lIns="0" rIns="0" tIns="0" bIns="0">
            <a:spAutoFit/>
          </a:bodyPr>
          <a:lstStyle/>
          <a:p>
            <a:pPr algn="l">
              <a:lnSpc>
                <a:spcPct val="105000"/>
              </a:lnSpc>
              <a:spcAft>
                <a:spcPts val="700"/>
              </a:spcAft>
            </a:pPr>
            <a:r>
              <a:rPr sz="1600" b="0" i="0">
                <a:solidFill>
                  <a:srgbClr val="1D2433"/>
                </a:solidFill>
                <a:latin typeface="Calibri"/>
              </a:rPr>
              <a:t>n = c / v</a:t>
            </a:r>
          </a:p>
          <a:p>
            <a:pPr algn="l">
              <a:lnSpc>
                <a:spcPct val="105000"/>
              </a:lnSpc>
              <a:spcAft>
                <a:spcPts val="700"/>
              </a:spcAft>
            </a:pPr>
            <a:r>
              <a:rPr sz="1600" b="0" i="0">
                <a:solidFill>
                  <a:srgbClr val="1D2433"/>
                </a:solidFill>
                <a:latin typeface="Calibri"/>
              </a:rPr>
              <a:t>1.5 = (3 x 10⁸) / v</a:t>
            </a:r>
          </a:p>
          <a:p>
            <a:pPr algn="l">
              <a:lnSpc>
                <a:spcPct val="105000"/>
              </a:lnSpc>
              <a:spcAft>
                <a:spcPts val="700"/>
              </a:spcAft>
            </a:pPr>
            <a:r>
              <a:rPr sz="1600" b="0" i="0">
                <a:solidFill>
                  <a:srgbClr val="1D2433"/>
                </a:solidFill>
                <a:latin typeface="Calibri"/>
              </a:rPr>
              <a:t>v = (3 x 10⁸) / 1.5</a:t>
            </a:r>
          </a:p>
        </p:txBody>
      </p:sp>
      <p:sp>
        <p:nvSpPr>
          <p:cNvPr id="10" name="Rounded Rectangle 9"/>
          <p:cNvSpPr/>
          <p:nvPr/>
        </p:nvSpPr>
        <p:spPr>
          <a:xfrm>
            <a:off x="640080" y="5074920"/>
            <a:ext cx="10881360" cy="594360"/>
          </a:xfrm>
          <a:prstGeom prst="roundRect">
            <a:avLst>
              <a:gd name="adj" fmla="val 12000"/>
            </a:avLst>
          </a:prstGeom>
          <a:solidFill>
            <a:srgbClr val="E9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49840" cy="594360"/>
          </a:xfrm>
          <a:prstGeom prst="rect">
            <a:avLst/>
          </a:prstGeom>
          <a:noFill/>
        </p:spPr>
        <p:txBody>
          <a:bodyPr wrap="square" anchor="ctr" lIns="0" rIns="0" tIns="0" bIns="0">
            <a:spAutoFit/>
          </a:bodyPr>
          <a:lstStyle/>
          <a:p>
            <a:pPr algn="l"/>
            <a:r>
              <a:rPr sz="1600" b="1" i="0">
                <a:solidFill>
                  <a:srgbClr val="2A9D8F"/>
                </a:solidFill>
                <a:latin typeface="Calibri"/>
              </a:rPr>
              <a:t>Answer:  </a:t>
            </a:r>
            <a:r>
              <a:rPr sz="1600" b="1" i="0">
                <a:solidFill>
                  <a:srgbClr val="1D2433"/>
                </a:solidFill>
                <a:latin typeface="Calibri"/>
              </a:rPr>
              <a:t>v = 2 x 10⁸ 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778240" y="-1371600"/>
            <a:ext cx="4754880" cy="47548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8229600" cy="457200"/>
          </a:xfrm>
          <a:prstGeom prst="rect">
            <a:avLst/>
          </a:prstGeom>
          <a:noFill/>
        </p:spPr>
        <p:txBody>
          <a:bodyPr wrap="square" anchor="t" lIns="0" rIns="0" tIns="0" bIns="0">
            <a:spAutoFit/>
          </a:bodyPr>
          <a:lstStyle/>
          <a:p>
            <a:pPr algn="l"/>
            <a:r>
              <a:rPr sz="1600" b="1" i="0">
                <a:solidFill>
                  <a:srgbClr val="FFC300"/>
                </a:solidFill>
                <a:latin typeface="Arial"/>
              </a:rPr>
              <a:t>QUIZ 1</a:t>
            </a:r>
          </a:p>
        </p:txBody>
      </p:sp>
      <p:sp>
        <p:nvSpPr>
          <p:cNvPr id="4" name="TextBox 3"/>
          <p:cNvSpPr txBox="1"/>
          <p:nvPr/>
        </p:nvSpPr>
        <p:spPr>
          <a:xfrm>
            <a:off x="777240" y="2560320"/>
            <a:ext cx="9601200" cy="1005840"/>
          </a:xfrm>
          <a:prstGeom prst="rect">
            <a:avLst/>
          </a:prstGeom>
          <a:noFill/>
        </p:spPr>
        <p:txBody>
          <a:bodyPr wrap="square" anchor="t" lIns="0" rIns="0" tIns="0" bIns="0">
            <a:spAutoFit/>
          </a:bodyPr>
          <a:lstStyle/>
          <a:p>
            <a:pPr algn="l"/>
            <a:r>
              <a:rPr sz="4400" b="1" i="0">
                <a:solidFill>
                  <a:srgbClr val="FFFFFF"/>
                </a:solidFill>
                <a:latin typeface="Calibri"/>
              </a:rPr>
              <a:t>Check — Laws &amp; Refractive Index</a:t>
            </a:r>
          </a:p>
        </p:txBody>
      </p:sp>
      <p:sp>
        <p:nvSpPr>
          <p:cNvPr id="5" name="TextBox 4"/>
          <p:cNvSpPr txBox="1"/>
          <p:nvPr/>
        </p:nvSpPr>
        <p:spPr>
          <a:xfrm>
            <a:off x="777240" y="3749039"/>
            <a:ext cx="9601200" cy="548640"/>
          </a:xfrm>
          <a:prstGeom prst="rect">
            <a:avLst/>
          </a:prstGeom>
          <a:noFill/>
        </p:spPr>
        <p:txBody>
          <a:bodyPr wrap="square" anchor="t" lIns="0" rIns="0" tIns="0" bIns="0">
            <a:spAutoFit/>
          </a:bodyPr>
          <a:lstStyle/>
          <a:p>
            <a:pPr algn="l"/>
            <a:r>
              <a:rPr sz="1800" b="0" i="0">
                <a:solidFill>
                  <a:srgbClr val="CADCFC"/>
                </a:solidFill>
                <a:latin typeface="Calibri"/>
              </a:rPr>
              <a:t>4 questions  •  think before the answer reveals on the next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Refraction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Light bends towards the normal when it passes from:</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denser medium to a rarer medium</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rarer medium to a denser medium</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air into air</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vacuum into vacuum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Refraction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Light bends towards the normal when it passes from:</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a denser medium to a rarer medium</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a rarer medium to a denser medium</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air into air</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vacuum into vacuum</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Entering a denser medium slows the light down, and it bends towards the normal; entering a rarer medium it speeds up and bends away from the normal.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Snell's Law</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Snell's law states that, for a given pair of media, sin i / sin r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always equal to 1</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constant</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equal to the speed of light</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always greater than 90°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Snell's Law</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Snell's law states that, for a given pair of media, sin i / sin r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always equal to 1</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constant</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equal to the speed of light</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always greater than 90°</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This constant ratio is the refractive index of the second medium with respect to the first.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Absolute refractive index</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absolute refractive index of a medium is defined 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v / c</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c / v</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c x v</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sin i / sin r for any two media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Absolute refractive index</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absolute refractive index of a medium is defined 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v / c</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c / v</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c x v</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sin i / sin r for any two media</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n = speed of light in vacuum / speed of light in the medium. Since v is always less than c inside a medium, n is always greater than 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Numerical</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refractive index of water is 1.33. The approximate speed of light in water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3 x 10⁸ m/s</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2.26 x 10⁸ m/s</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4 x 10⁸ m/s</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1.33 x 10⁸ 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Numerical</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refractive index of water is 1.33. The approximate speed of light in water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3 x 10⁸ m/s</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2.26 x 10⁸ m/s</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4 x 10⁸ m/s</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1.33 x 10⁸ m/s</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v = c / n = (3 x 10⁸) / 1.33 ≈ 2.26 x 10⁸ 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595360" y="-1463040"/>
            <a:ext cx="4937760" cy="493776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503920" y="3108960"/>
            <a:ext cx="3383280" cy="2743200"/>
          </a:xfrm>
          <a:prstGeom prst="rect">
            <a:avLst/>
          </a:prstGeom>
          <a:noFill/>
        </p:spPr>
        <p:txBody>
          <a:bodyPr wrap="square" anchor="t" lIns="0" rIns="0" tIns="0" bIns="0">
            <a:spAutoFit/>
          </a:bodyPr>
          <a:lstStyle/>
          <a:p>
            <a:pPr algn="r"/>
            <a:r>
              <a:rPr sz="20000" b="1" i="0">
                <a:solidFill>
                  <a:srgbClr val="263149"/>
                </a:solidFill>
                <a:latin typeface="Calibri"/>
              </a:rPr>
              <a:t>2</a:t>
            </a:r>
          </a:p>
        </p:txBody>
      </p:sp>
      <p:sp>
        <p:nvSpPr>
          <p:cNvPr id="4" name="TextBox 3"/>
          <p:cNvSpPr txBox="1"/>
          <p:nvPr/>
        </p:nvSpPr>
        <p:spPr>
          <a:xfrm>
            <a:off x="777240" y="2148840"/>
            <a:ext cx="6949440" cy="457200"/>
          </a:xfrm>
          <a:prstGeom prst="rect">
            <a:avLst/>
          </a:prstGeom>
          <a:noFill/>
        </p:spPr>
        <p:txBody>
          <a:bodyPr wrap="square" anchor="t" lIns="0" rIns="0" tIns="0" bIns="0">
            <a:spAutoFit/>
          </a:bodyPr>
          <a:lstStyle/>
          <a:p>
            <a:pPr algn="l"/>
            <a:r>
              <a:rPr sz="1600" b="1" i="0">
                <a:solidFill>
                  <a:srgbClr val="FFC300"/>
                </a:solidFill>
                <a:latin typeface="Arial"/>
              </a:rPr>
              <a:t>PART 2</a:t>
            </a:r>
          </a:p>
        </p:txBody>
      </p:sp>
      <p:sp>
        <p:nvSpPr>
          <p:cNvPr id="5" name="TextBox 4"/>
          <p:cNvSpPr txBox="1"/>
          <p:nvPr/>
        </p:nvSpPr>
        <p:spPr>
          <a:xfrm>
            <a:off x="777240" y="2697480"/>
            <a:ext cx="7498079" cy="1097280"/>
          </a:xfrm>
          <a:prstGeom prst="rect">
            <a:avLst/>
          </a:prstGeom>
          <a:noFill/>
        </p:spPr>
        <p:txBody>
          <a:bodyPr wrap="square" anchor="t" lIns="0" rIns="0" tIns="0" bIns="0">
            <a:spAutoFit/>
          </a:bodyPr>
          <a:lstStyle/>
          <a:p>
            <a:pPr algn="l"/>
            <a:r>
              <a:rPr sz="4200" b="1" i="0">
                <a:solidFill>
                  <a:srgbClr val="FFFFFF"/>
                </a:solidFill>
                <a:latin typeface="Calibri"/>
              </a:rPr>
              <a:t>Total Internal Reflection, Dispersion &amp; Twinkling of Stars</a:t>
            </a:r>
          </a:p>
        </p:txBody>
      </p:sp>
      <p:sp>
        <p:nvSpPr>
          <p:cNvPr id="6" name="TextBox 5"/>
          <p:cNvSpPr txBox="1"/>
          <p:nvPr/>
        </p:nvSpPr>
        <p:spPr>
          <a:xfrm>
            <a:off x="777240" y="4114800"/>
            <a:ext cx="7315200" cy="822960"/>
          </a:xfrm>
          <a:prstGeom prst="rect">
            <a:avLst/>
          </a:prstGeom>
          <a:noFill/>
        </p:spPr>
        <p:txBody>
          <a:bodyPr wrap="square" anchor="t" lIns="0" rIns="0" tIns="0" bIns="0">
            <a:spAutoFit/>
          </a:bodyPr>
          <a:lstStyle/>
          <a:p>
            <a:pPr algn="l"/>
            <a:r>
              <a:rPr sz="1800" b="0" i="0">
                <a:solidFill>
                  <a:srgbClr val="CADCFC"/>
                </a:solidFill>
                <a:latin typeface="Calibri"/>
              </a:rPr>
              <a:t>Critical angle, everyday applications and why stars twinkle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CRITICAL ANGLE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Critical Angle and Total Internal Reflection</a:t>
            </a:r>
          </a:p>
        </p:txBody>
      </p:sp>
      <p:pic>
        <p:nvPicPr>
          <p:cNvPr id="6" name="Picture 5" descr="mh10_refr_tir.png"/>
          <p:cNvPicPr>
            <a:picLocks noChangeAspect="1"/>
          </p:cNvPicPr>
          <p:nvPr/>
        </p:nvPicPr>
        <p:blipFill>
          <a:blip r:embed="rId2"/>
          <a:stretch>
            <a:fillRect/>
          </a:stretch>
        </p:blipFill>
        <p:spPr>
          <a:xfrm>
            <a:off x="822960" y="1965960"/>
            <a:ext cx="4754880" cy="3657600"/>
          </a:xfrm>
          <a:prstGeom prst="rect">
            <a:avLst/>
          </a:prstGeom>
        </p:spPr>
      </p:pic>
      <p:sp>
        <p:nvSpPr>
          <p:cNvPr id="7" name="Rounded Rectangle 6"/>
          <p:cNvSpPr/>
          <p:nvPr/>
        </p:nvSpPr>
        <p:spPr>
          <a:xfrm>
            <a:off x="5699455"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19495" y="2057400"/>
            <a:ext cx="5029200" cy="411480"/>
          </a:xfrm>
          <a:prstGeom prst="rect">
            <a:avLst/>
          </a:prstGeom>
          <a:noFill/>
        </p:spPr>
        <p:txBody>
          <a:bodyPr wrap="square" anchor="t" lIns="0" rIns="0" tIns="0" bIns="0">
            <a:spAutoFit/>
          </a:bodyPr>
          <a:lstStyle/>
          <a:p>
            <a:pPr algn="l"/>
            <a:r>
              <a:rPr sz="1800" b="1" i="0">
                <a:solidFill>
                  <a:srgbClr val="0A9396"/>
                </a:solidFill>
                <a:latin typeface="Calibri"/>
              </a:rPr>
              <a:t>Beyond the critical angle</a:t>
            </a:r>
          </a:p>
        </p:txBody>
      </p:sp>
      <p:sp>
        <p:nvSpPr>
          <p:cNvPr id="9" name="TextBox 8"/>
          <p:cNvSpPr txBox="1"/>
          <p:nvPr/>
        </p:nvSpPr>
        <p:spPr>
          <a:xfrm>
            <a:off x="6019495"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0A9396"/>
                </a:solidFill>
                <a:latin typeface="Calibri"/>
              </a:rPr>
              <a:t>•  </a:t>
            </a:r>
            <a:r>
              <a:rPr sz="1500" b="0" i="0">
                <a:solidFill>
                  <a:srgbClr val="1D2433"/>
                </a:solidFill>
                <a:latin typeface="Calibri"/>
              </a:rPr>
              <a:t>When light travels from a denser medium to a rarer medium, the refracted ray bends away from the normal, so the angle of refraction is larger than the angle of incidence.</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As the angle of incidence increases, the refracted ray bends closer and closer to the boundary surface.</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The critical angle (C) is the angle of incidence in the denser medium for which the angle of refraction becomes exactly 90°.</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If the angle of incidence exceeds the critical angle, the light does not refract out at all — it is completely reflected back into the denser medium. This is total internal reflection (TIR).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CRITICAL ANGLE FORMULA</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Relating Critical Angle and Refractive Index</a:t>
            </a:r>
          </a:p>
        </p:txBody>
      </p:sp>
      <p:sp>
        <p:nvSpPr>
          <p:cNvPr id="6" name="Rounded Rectangle 5"/>
          <p:cNvSpPr/>
          <p:nvPr/>
        </p:nvSpPr>
        <p:spPr>
          <a:xfrm>
            <a:off x="640080" y="1828800"/>
            <a:ext cx="10881360" cy="1371600"/>
          </a:xfrm>
          <a:prstGeom prst="roundRect">
            <a:avLst>
              <a:gd name="adj" fmla="val 6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371600"/>
          </a:xfrm>
          <a:prstGeom prst="rect">
            <a:avLst/>
          </a:prstGeom>
          <a:noFill/>
        </p:spPr>
        <p:txBody>
          <a:bodyPr wrap="square" anchor="ctr" lIns="0" rIns="0" tIns="0" bIns="0">
            <a:spAutoFit/>
          </a:bodyPr>
          <a:lstStyle/>
          <a:p>
            <a:pPr algn="l"/>
            <a:r>
              <a:rPr sz="1900" b="1" i="0">
                <a:solidFill>
                  <a:srgbClr val="FFFFFF"/>
                </a:solidFill>
                <a:latin typeface="Calibri"/>
              </a:rPr>
              <a:t>For light travelling from a denser medium into air, the critical angle C is related to the absolute refractive index of the denser medium.</a:t>
            </a:r>
          </a:p>
        </p:txBody>
      </p:sp>
      <p:sp>
        <p:nvSpPr>
          <p:cNvPr id="8" name="Rounded Rectangle 7"/>
          <p:cNvSpPr/>
          <p:nvPr/>
        </p:nvSpPr>
        <p:spPr>
          <a:xfrm>
            <a:off x="640080" y="3429000"/>
            <a:ext cx="10881360" cy="914400"/>
          </a:xfrm>
          <a:prstGeom prst="roundRect">
            <a:avLst>
              <a:gd name="adj" fmla="val 8000"/>
            </a:avLst>
          </a:prstGeom>
          <a:solidFill>
            <a:srgbClr val="FFF6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429000"/>
            <a:ext cx="10149840" cy="914400"/>
          </a:xfrm>
          <a:prstGeom prst="rect">
            <a:avLst/>
          </a:prstGeom>
          <a:noFill/>
        </p:spPr>
        <p:txBody>
          <a:bodyPr wrap="square" anchor="ctr" lIns="0" rIns="0" tIns="0" bIns="0">
            <a:spAutoFit/>
          </a:bodyPr>
          <a:lstStyle/>
          <a:p>
            <a:pPr algn="ctr"/>
            <a:r>
              <a:rPr sz="2400" b="1" i="0">
                <a:solidFill>
                  <a:srgbClr val="F4801A"/>
                </a:solidFill>
                <a:latin typeface="Calibri"/>
              </a:rPr>
              <a:t>sin C = 1 / 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WORKED EXAMPLE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Critical Angle of Water</a:t>
            </a:r>
          </a:p>
        </p:txBody>
      </p:sp>
      <p:sp>
        <p:nvSpPr>
          <p:cNvPr id="6" name="Rounded Rectangle 5"/>
          <p:cNvSpPr/>
          <p:nvPr/>
        </p:nvSpPr>
        <p:spPr>
          <a:xfrm>
            <a:off x="640080" y="1828800"/>
            <a:ext cx="10881360" cy="1097280"/>
          </a:xfrm>
          <a:prstGeom prst="roundRect">
            <a:avLst>
              <a:gd name="adj" fmla="val 6000"/>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10149840" cy="1097280"/>
          </a:xfrm>
          <a:prstGeom prst="rect">
            <a:avLst/>
          </a:prstGeom>
          <a:noFill/>
        </p:spPr>
        <p:txBody>
          <a:bodyPr wrap="square" anchor="ctr" lIns="0" rIns="0" tIns="0" bIns="0">
            <a:spAutoFit/>
          </a:bodyPr>
          <a:lstStyle/>
          <a:p>
            <a:pPr algn="l"/>
            <a:r>
              <a:rPr sz="1600" b="1" i="0">
                <a:solidFill>
                  <a:srgbClr val="0A9396"/>
                </a:solidFill>
                <a:latin typeface="Calibri"/>
              </a:rPr>
              <a:t>Problem.  </a:t>
            </a:r>
            <a:r>
              <a:rPr sz="1600" b="0" i="0">
                <a:solidFill>
                  <a:srgbClr val="1D2433"/>
                </a:solidFill>
                <a:latin typeface="Calibri"/>
              </a:rPr>
              <a:t>The refractive index of water is 1.33. Find its critical angle. (sin 48.8° ≈ 0.75)</a:t>
            </a:r>
          </a:p>
        </p:txBody>
      </p:sp>
      <p:sp>
        <p:nvSpPr>
          <p:cNvPr id="8" name="Rounded Rectangle 7"/>
          <p:cNvSpPr/>
          <p:nvPr/>
        </p:nvSpPr>
        <p:spPr>
          <a:xfrm>
            <a:off x="640080" y="3108960"/>
            <a:ext cx="10881360" cy="265176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337560"/>
            <a:ext cx="10149840" cy="1828800"/>
          </a:xfrm>
          <a:prstGeom prst="rect">
            <a:avLst/>
          </a:prstGeom>
          <a:noFill/>
        </p:spPr>
        <p:txBody>
          <a:bodyPr wrap="square" anchor="t" lIns="0" rIns="0" tIns="0" bIns="0">
            <a:spAutoFit/>
          </a:bodyPr>
          <a:lstStyle/>
          <a:p>
            <a:pPr algn="l">
              <a:lnSpc>
                <a:spcPct val="105000"/>
              </a:lnSpc>
              <a:spcAft>
                <a:spcPts val="700"/>
              </a:spcAft>
            </a:pPr>
            <a:r>
              <a:rPr sz="1600" b="0" i="0">
                <a:solidFill>
                  <a:srgbClr val="1D2433"/>
                </a:solidFill>
                <a:latin typeface="Calibri"/>
              </a:rPr>
              <a:t>sin C = 1 / n = 1 / 1.33</a:t>
            </a:r>
          </a:p>
          <a:p>
            <a:pPr algn="l">
              <a:lnSpc>
                <a:spcPct val="105000"/>
              </a:lnSpc>
              <a:spcAft>
                <a:spcPts val="700"/>
              </a:spcAft>
            </a:pPr>
            <a:r>
              <a:rPr sz="1600" b="0" i="0">
                <a:solidFill>
                  <a:srgbClr val="1D2433"/>
                </a:solidFill>
                <a:latin typeface="Calibri"/>
              </a:rPr>
              <a:t>sin C = 0.75</a:t>
            </a:r>
          </a:p>
        </p:txBody>
      </p:sp>
      <p:sp>
        <p:nvSpPr>
          <p:cNvPr id="10" name="Rounded Rectangle 9"/>
          <p:cNvSpPr/>
          <p:nvPr/>
        </p:nvSpPr>
        <p:spPr>
          <a:xfrm>
            <a:off x="640080" y="5074920"/>
            <a:ext cx="10881360" cy="594360"/>
          </a:xfrm>
          <a:prstGeom prst="roundRect">
            <a:avLst>
              <a:gd name="adj" fmla="val 12000"/>
            </a:avLst>
          </a:prstGeom>
          <a:solidFill>
            <a:srgbClr val="E9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074920"/>
            <a:ext cx="10149840" cy="594360"/>
          </a:xfrm>
          <a:prstGeom prst="rect">
            <a:avLst/>
          </a:prstGeom>
          <a:noFill/>
        </p:spPr>
        <p:txBody>
          <a:bodyPr wrap="square" anchor="ctr" lIns="0" rIns="0" tIns="0" bIns="0">
            <a:spAutoFit/>
          </a:bodyPr>
          <a:lstStyle/>
          <a:p>
            <a:pPr algn="l"/>
            <a:r>
              <a:rPr sz="1600" b="1" i="0">
                <a:solidFill>
                  <a:srgbClr val="2A9D8F"/>
                </a:solidFill>
                <a:latin typeface="Calibri"/>
              </a:rPr>
              <a:t>Answer:  </a:t>
            </a:r>
            <a:r>
              <a:rPr sz="1600" b="1" i="0">
                <a:solidFill>
                  <a:srgbClr val="1D2433"/>
                </a:solidFill>
                <a:latin typeface="Calibri"/>
              </a:rPr>
              <a:t>C ≈ 48.8°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APPLICATIONS OF TIR</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Everyday Uses of Total Internal Reflection</a:t>
            </a:r>
          </a:p>
        </p:txBody>
      </p:sp>
      <p:sp>
        <p:nvSpPr>
          <p:cNvPr id="6" name="Rounded Rectangle 5"/>
          <p:cNvSpPr/>
          <p:nvPr/>
        </p:nvSpPr>
        <p:spPr>
          <a:xfrm>
            <a:off x="64008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60119" y="2212848"/>
            <a:ext cx="502920" cy="502920"/>
          </a:xfrm>
          <a:prstGeom prst="roundRect">
            <a:avLst>
              <a:gd name="adj" fmla="val 30000"/>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ark_FFFFFF.png"/>
          <p:cNvPicPr>
            <a:picLocks noChangeAspect="1"/>
          </p:cNvPicPr>
          <p:nvPr/>
        </p:nvPicPr>
        <p:blipFill>
          <a:blip r:embed="rId2"/>
          <a:stretch>
            <a:fillRect/>
          </a:stretch>
        </p:blipFill>
        <p:spPr>
          <a:xfrm>
            <a:off x="1070762" y="2323490"/>
            <a:ext cx="281635" cy="281635"/>
          </a:xfrm>
          <a:prstGeom prst="rect">
            <a:avLst/>
          </a:prstGeom>
        </p:spPr>
      </p:pic>
      <p:sp>
        <p:nvSpPr>
          <p:cNvPr id="9" name="TextBox 8"/>
          <p:cNvSpPr txBox="1"/>
          <p:nvPr/>
        </p:nvSpPr>
        <p:spPr>
          <a:xfrm>
            <a:off x="164592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Optical fibres</a:t>
            </a:r>
          </a:p>
        </p:txBody>
      </p:sp>
      <p:sp>
        <p:nvSpPr>
          <p:cNvPr id="10" name="TextBox 9"/>
          <p:cNvSpPr txBox="1"/>
          <p:nvPr/>
        </p:nvSpPr>
        <p:spPr>
          <a:xfrm>
            <a:off x="164592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Light entering a thin glass fibre strikes the inner wall beyond the critical angle again and again, so it travels the whole length by repeated TIR with almost no loss — used in telecommunication and medical endoscopes.</a:t>
            </a:r>
          </a:p>
        </p:txBody>
      </p:sp>
      <p:sp>
        <p:nvSpPr>
          <p:cNvPr id="11" name="Rounded Rectangle 10"/>
          <p:cNvSpPr/>
          <p:nvPr/>
        </p:nvSpPr>
        <p:spPr>
          <a:xfrm>
            <a:off x="6217920" y="1920240"/>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37960" y="2212848"/>
            <a:ext cx="502920" cy="502920"/>
          </a:xfrm>
          <a:prstGeom prst="roundRect">
            <a:avLst>
              <a:gd name="adj" fmla="val 30000"/>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FFFFFF.png"/>
          <p:cNvPicPr>
            <a:picLocks noChangeAspect="1"/>
          </p:cNvPicPr>
          <p:nvPr/>
        </p:nvPicPr>
        <p:blipFill>
          <a:blip r:embed="rId2"/>
          <a:stretch>
            <a:fillRect/>
          </a:stretch>
        </p:blipFill>
        <p:spPr>
          <a:xfrm>
            <a:off x="6648602" y="2323490"/>
            <a:ext cx="281635" cy="281635"/>
          </a:xfrm>
          <a:prstGeom prst="rect">
            <a:avLst/>
          </a:prstGeom>
        </p:spPr>
      </p:pic>
      <p:sp>
        <p:nvSpPr>
          <p:cNvPr id="14" name="TextBox 13"/>
          <p:cNvSpPr txBox="1"/>
          <p:nvPr/>
        </p:nvSpPr>
        <p:spPr>
          <a:xfrm>
            <a:off x="7223760" y="2176272"/>
            <a:ext cx="3931920" cy="457200"/>
          </a:xfrm>
          <a:prstGeom prst="rect">
            <a:avLst/>
          </a:prstGeom>
          <a:noFill/>
        </p:spPr>
        <p:txBody>
          <a:bodyPr wrap="square" anchor="t" lIns="0" rIns="0" tIns="0" bIns="0">
            <a:spAutoFit/>
          </a:bodyPr>
          <a:lstStyle/>
          <a:p>
            <a:pPr algn="l"/>
            <a:r>
              <a:rPr sz="1700" b="1" i="0">
                <a:solidFill>
                  <a:srgbClr val="1D2433"/>
                </a:solidFill>
                <a:latin typeface="Calibri"/>
              </a:rPr>
              <a:t>Sparkle of a diamond</a:t>
            </a:r>
          </a:p>
        </p:txBody>
      </p:sp>
      <p:sp>
        <p:nvSpPr>
          <p:cNvPr id="15" name="TextBox 14"/>
          <p:cNvSpPr txBox="1"/>
          <p:nvPr/>
        </p:nvSpPr>
        <p:spPr>
          <a:xfrm>
            <a:off x="7223760" y="2670048"/>
            <a:ext cx="3931920" cy="685800"/>
          </a:xfrm>
          <a:prstGeom prst="rect">
            <a:avLst/>
          </a:prstGeom>
          <a:noFill/>
        </p:spPr>
        <p:txBody>
          <a:bodyPr wrap="square" anchor="t" lIns="0" rIns="0" tIns="0" bIns="0">
            <a:spAutoFit/>
          </a:bodyPr>
          <a:lstStyle/>
          <a:p>
            <a:pPr algn="l"/>
            <a:r>
              <a:rPr sz="1350" b="0" i="0">
                <a:solidFill>
                  <a:srgbClr val="6B7280"/>
                </a:solidFill>
                <a:latin typeface="Calibri"/>
              </a:rPr>
              <a:t>Diamond has a very high refractive index (2.42) and hence a very small critical angle (about 24.4°). Light entering a cut diamond undergoes TIR repeatedly before emerging, giving it its brilliance.</a:t>
            </a:r>
          </a:p>
        </p:txBody>
      </p:sp>
      <p:sp>
        <p:nvSpPr>
          <p:cNvPr id="16" name="Rounded Rectangle 15"/>
          <p:cNvSpPr/>
          <p:nvPr/>
        </p:nvSpPr>
        <p:spPr>
          <a:xfrm>
            <a:off x="64008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0119" y="4041648"/>
            <a:ext cx="502920" cy="502920"/>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un_FFFFFF.png"/>
          <p:cNvPicPr>
            <a:picLocks noChangeAspect="1"/>
          </p:cNvPicPr>
          <p:nvPr/>
        </p:nvPicPr>
        <p:blipFill>
          <a:blip r:embed="rId3"/>
          <a:stretch>
            <a:fillRect/>
          </a:stretch>
        </p:blipFill>
        <p:spPr>
          <a:xfrm>
            <a:off x="1070762" y="4152290"/>
            <a:ext cx="281635" cy="281635"/>
          </a:xfrm>
          <a:prstGeom prst="rect">
            <a:avLst/>
          </a:prstGeom>
        </p:spPr>
      </p:pic>
      <p:sp>
        <p:nvSpPr>
          <p:cNvPr id="19" name="TextBox 18"/>
          <p:cNvSpPr txBox="1"/>
          <p:nvPr/>
        </p:nvSpPr>
        <p:spPr>
          <a:xfrm>
            <a:off x="164592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Mirage</a:t>
            </a:r>
          </a:p>
        </p:txBody>
      </p:sp>
      <p:sp>
        <p:nvSpPr>
          <p:cNvPr id="20" name="TextBox 19"/>
          <p:cNvSpPr txBox="1"/>
          <p:nvPr/>
        </p:nvSpPr>
        <p:spPr>
          <a:xfrm>
            <a:off x="164592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On a hot road, air near the ground is much hotter and rarer than the air above. Light from the sky bends more and more as it grazes the hot layer until it undergoes TIR, reaching the eye as if reflected from a pool of water.</a:t>
            </a:r>
          </a:p>
        </p:txBody>
      </p:sp>
      <p:sp>
        <p:nvSpPr>
          <p:cNvPr id="21" name="Rounded Rectangle 20"/>
          <p:cNvSpPr/>
          <p:nvPr/>
        </p:nvSpPr>
        <p:spPr>
          <a:xfrm>
            <a:off x="6217920" y="3749039"/>
            <a:ext cx="5212080" cy="160020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37960" y="4041648"/>
            <a:ext cx="502920" cy="502920"/>
          </a:xfrm>
          <a:prstGeom prst="roundRect">
            <a:avLst>
              <a:gd name="adj" fmla="val 30000"/>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eye_FFFFFF.png"/>
          <p:cNvPicPr>
            <a:picLocks noChangeAspect="1"/>
          </p:cNvPicPr>
          <p:nvPr/>
        </p:nvPicPr>
        <p:blipFill>
          <a:blip r:embed="rId4"/>
          <a:stretch>
            <a:fillRect/>
          </a:stretch>
        </p:blipFill>
        <p:spPr>
          <a:xfrm>
            <a:off x="6648602" y="4152290"/>
            <a:ext cx="281635" cy="281635"/>
          </a:xfrm>
          <a:prstGeom prst="rect">
            <a:avLst/>
          </a:prstGeom>
        </p:spPr>
      </p:pic>
      <p:sp>
        <p:nvSpPr>
          <p:cNvPr id="24" name="TextBox 23"/>
          <p:cNvSpPr txBox="1"/>
          <p:nvPr/>
        </p:nvSpPr>
        <p:spPr>
          <a:xfrm>
            <a:off x="7223760" y="4005072"/>
            <a:ext cx="3931920" cy="457200"/>
          </a:xfrm>
          <a:prstGeom prst="rect">
            <a:avLst/>
          </a:prstGeom>
          <a:noFill/>
        </p:spPr>
        <p:txBody>
          <a:bodyPr wrap="square" anchor="t" lIns="0" rIns="0" tIns="0" bIns="0">
            <a:spAutoFit/>
          </a:bodyPr>
          <a:lstStyle/>
          <a:p>
            <a:pPr algn="l"/>
            <a:r>
              <a:rPr sz="1700" b="1" i="0">
                <a:solidFill>
                  <a:srgbClr val="1D2433"/>
                </a:solidFill>
                <a:latin typeface="Calibri"/>
              </a:rPr>
              <a:t>Totally reflecting prisms</a:t>
            </a:r>
          </a:p>
        </p:txBody>
      </p:sp>
      <p:sp>
        <p:nvSpPr>
          <p:cNvPr id="25" name="TextBox 24"/>
          <p:cNvSpPr txBox="1"/>
          <p:nvPr/>
        </p:nvSpPr>
        <p:spPr>
          <a:xfrm>
            <a:off x="7223760" y="4498848"/>
            <a:ext cx="3931920" cy="685800"/>
          </a:xfrm>
          <a:prstGeom prst="rect">
            <a:avLst/>
          </a:prstGeom>
          <a:noFill/>
        </p:spPr>
        <p:txBody>
          <a:bodyPr wrap="square" anchor="t" lIns="0" rIns="0" tIns="0" bIns="0">
            <a:spAutoFit/>
          </a:bodyPr>
          <a:lstStyle/>
          <a:p>
            <a:pPr algn="l"/>
            <a:r>
              <a:rPr sz="1350" b="0" i="0">
                <a:solidFill>
                  <a:srgbClr val="6B7280"/>
                </a:solidFill>
                <a:latin typeface="Calibri"/>
              </a:rPr>
              <a:t>A right-angled prism can turn or invert light by TIR at its hypotenuse face, used in periscopes and binoculars instead of ordinary mirrors.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MIRAGE</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Mirage: TIR in the Open Air</a:t>
            </a:r>
          </a:p>
        </p:txBody>
      </p:sp>
      <p:pic>
        <p:nvPicPr>
          <p:cNvPr id="6" name="Picture 5" descr="mh10_refr_mirage.png"/>
          <p:cNvPicPr>
            <a:picLocks noChangeAspect="1"/>
          </p:cNvPicPr>
          <p:nvPr/>
        </p:nvPicPr>
        <p:blipFill>
          <a:blip r:embed="rId2"/>
          <a:stretch>
            <a:fillRect/>
          </a:stretch>
        </p:blipFill>
        <p:spPr>
          <a:xfrm>
            <a:off x="6613855" y="1965960"/>
            <a:ext cx="4754880" cy="3657600"/>
          </a:xfrm>
          <a:prstGeom prst="rect">
            <a:avLst/>
          </a:prstGeom>
        </p:spPr>
      </p:pic>
      <p:sp>
        <p:nvSpPr>
          <p:cNvPr id="7" name="Rounded Rectangle 6"/>
          <p:cNvSpPr/>
          <p:nvPr/>
        </p:nvSpPr>
        <p:spPr>
          <a:xfrm>
            <a:off x="822960"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57400"/>
            <a:ext cx="5029200" cy="411480"/>
          </a:xfrm>
          <a:prstGeom prst="rect">
            <a:avLst/>
          </a:prstGeom>
          <a:noFill/>
        </p:spPr>
        <p:txBody>
          <a:bodyPr wrap="square" anchor="t" lIns="0" rIns="0" tIns="0" bIns="0">
            <a:spAutoFit/>
          </a:bodyPr>
          <a:lstStyle/>
          <a:p>
            <a:pPr algn="l"/>
            <a:r>
              <a:rPr sz="1800" b="1" i="0">
                <a:solidFill>
                  <a:srgbClr val="0A9396"/>
                </a:solidFill>
                <a:latin typeface="Calibri"/>
              </a:rPr>
              <a:t>The 'water' that isn't there</a:t>
            </a:r>
          </a:p>
        </p:txBody>
      </p:sp>
      <p:sp>
        <p:nvSpPr>
          <p:cNvPr id="9" name="TextBox 8"/>
          <p:cNvSpPr txBox="1"/>
          <p:nvPr/>
        </p:nvSpPr>
        <p:spPr>
          <a:xfrm>
            <a:off x="1143000"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0A9396"/>
                </a:solidFill>
                <a:latin typeface="Calibri"/>
              </a:rPr>
              <a:t>•  </a:t>
            </a:r>
            <a:r>
              <a:rPr sz="1500" b="0" i="0">
                <a:solidFill>
                  <a:srgbClr val="1D2433"/>
                </a:solidFill>
                <a:latin typeface="Calibri"/>
              </a:rPr>
              <a:t>On a very hot day, the layer of air just above a road or a desert surface becomes much hotter — and hence much less dense — than the air above it.</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Light from the sky travelling towards the ground is refracted more and more as it enters progressively rarer layers of hot air, bending it away from the normal at each layer.</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Eventually the ray undergoes total internal reflection at the hottest layer and travels back up to an observer's eye.</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The observer sees an inverted image of the sky on the road, which looks exactly like a pool of water.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DISPERSION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Dispersion of Light Through a Prism</a:t>
            </a:r>
          </a:p>
        </p:txBody>
      </p:sp>
      <p:pic>
        <p:nvPicPr>
          <p:cNvPr id="6" name="Picture 5" descr="mh10_refr_disp.png"/>
          <p:cNvPicPr>
            <a:picLocks noChangeAspect="1"/>
          </p:cNvPicPr>
          <p:nvPr/>
        </p:nvPicPr>
        <p:blipFill>
          <a:blip r:embed="rId2"/>
          <a:stretch>
            <a:fillRect/>
          </a:stretch>
        </p:blipFill>
        <p:spPr>
          <a:xfrm>
            <a:off x="822960" y="1965960"/>
            <a:ext cx="4754880" cy="3657600"/>
          </a:xfrm>
          <a:prstGeom prst="rect">
            <a:avLst/>
          </a:prstGeom>
        </p:spPr>
      </p:pic>
      <p:sp>
        <p:nvSpPr>
          <p:cNvPr id="7" name="Rounded Rectangle 6"/>
          <p:cNvSpPr/>
          <p:nvPr/>
        </p:nvSpPr>
        <p:spPr>
          <a:xfrm>
            <a:off x="5699455" y="1828800"/>
            <a:ext cx="5669280" cy="393192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19495" y="2057400"/>
            <a:ext cx="5029200" cy="411480"/>
          </a:xfrm>
          <a:prstGeom prst="rect">
            <a:avLst/>
          </a:prstGeom>
          <a:noFill/>
        </p:spPr>
        <p:txBody>
          <a:bodyPr wrap="square" anchor="t" lIns="0" rIns="0" tIns="0" bIns="0">
            <a:spAutoFit/>
          </a:bodyPr>
          <a:lstStyle/>
          <a:p>
            <a:pPr algn="l"/>
            <a:r>
              <a:rPr sz="1800" b="1" i="0">
                <a:solidFill>
                  <a:srgbClr val="0A9396"/>
                </a:solidFill>
                <a:latin typeface="Calibri"/>
              </a:rPr>
              <a:t>Splitting white light</a:t>
            </a:r>
          </a:p>
        </p:txBody>
      </p:sp>
      <p:sp>
        <p:nvSpPr>
          <p:cNvPr id="9" name="TextBox 8"/>
          <p:cNvSpPr txBox="1"/>
          <p:nvPr/>
        </p:nvSpPr>
        <p:spPr>
          <a:xfrm>
            <a:off x="6019495" y="2606040"/>
            <a:ext cx="5074920" cy="3063240"/>
          </a:xfrm>
          <a:prstGeom prst="rect">
            <a:avLst/>
          </a:prstGeom>
          <a:noFill/>
        </p:spPr>
        <p:txBody>
          <a:bodyPr wrap="square" anchor="t" lIns="0" rIns="0" tIns="0" bIns="0">
            <a:spAutoFit/>
          </a:bodyPr>
          <a:lstStyle/>
          <a:p>
            <a:pPr algn="l">
              <a:lnSpc>
                <a:spcPct val="105000"/>
              </a:lnSpc>
              <a:spcAft>
                <a:spcPts val="900"/>
              </a:spcAft>
            </a:pPr>
            <a:r>
              <a:rPr sz="1500" b="1" i="0">
                <a:solidFill>
                  <a:srgbClr val="0A9396"/>
                </a:solidFill>
                <a:latin typeface="Calibri"/>
              </a:rPr>
              <a:t>•  </a:t>
            </a:r>
            <a:r>
              <a:rPr sz="1500" b="0" i="0">
                <a:solidFill>
                  <a:srgbClr val="1D2433"/>
                </a:solidFill>
                <a:latin typeface="Calibri"/>
              </a:rPr>
              <a:t>White light is a mixture of seven colours: violet, indigo, blue, green, yellow, orange and red (VIBGYOR).</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Each colour has a different wavelength, and a glass prism has a slightly different refractive index for each wavelength — violet is bent the most and red the least.</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When white light passes through a prism, the different colours are refracted by different amounts and emerge separated as a band of colours called a spectrum.</a:t>
            </a:r>
          </a:p>
          <a:p>
            <a:pPr algn="l">
              <a:lnSpc>
                <a:spcPct val="105000"/>
              </a:lnSpc>
              <a:spcAft>
                <a:spcPts val="900"/>
              </a:spcAft>
            </a:pPr>
            <a:r>
              <a:rPr sz="1500" b="1" i="0">
                <a:solidFill>
                  <a:srgbClr val="0A9396"/>
                </a:solidFill>
                <a:latin typeface="Calibri"/>
              </a:rPr>
              <a:t>•  </a:t>
            </a:r>
            <a:r>
              <a:rPr sz="1500" b="0" i="0">
                <a:solidFill>
                  <a:srgbClr val="1D2433"/>
                </a:solidFill>
                <a:latin typeface="Calibri"/>
              </a:rPr>
              <a:t>This splitting of white light into its component colours is called dispersion.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TWINKLING OF STARS</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Why Do Stars Twinkle?</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03120"/>
            <a:ext cx="10058400" cy="3657600"/>
          </a:xfrm>
          <a:prstGeom prst="rect">
            <a:avLst/>
          </a:prstGeom>
          <a:noFill/>
        </p:spPr>
        <p:txBody>
          <a:bodyPr wrap="square" anchor="t" lIns="0" rIns="0" tIns="0" bIns="0">
            <a:spAutoFit/>
          </a:bodyPr>
          <a:lstStyle/>
          <a:p>
            <a:pPr algn="l">
              <a:lnSpc>
                <a:spcPct val="105000"/>
              </a:lnSpc>
              <a:spcAft>
                <a:spcPts val="1100"/>
              </a:spcAft>
            </a:pPr>
            <a:r>
              <a:rPr sz="1600" b="1" i="0">
                <a:solidFill>
                  <a:srgbClr val="0A9396"/>
                </a:solidFill>
                <a:latin typeface="Calibri"/>
              </a:rPr>
              <a:t>•  </a:t>
            </a:r>
            <a:r>
              <a:rPr sz="1600" b="1" i="0">
                <a:solidFill>
                  <a:srgbClr val="1D2433"/>
                </a:solidFill>
                <a:latin typeface="Calibri"/>
              </a:rPr>
              <a:t>Atmospheric refraction  </a:t>
            </a:r>
            <a:r>
              <a:rPr sz="1500" b="0" i="0">
                <a:solidFill>
                  <a:srgbClr val="6B7280"/>
                </a:solidFill>
                <a:latin typeface="Calibri"/>
              </a:rPr>
              <a:t>Starlight enters the Earth's atmosphere and passes through air layers of continuously changing density and temperature before reaching our eyes.</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Continuous bending  </a:t>
            </a:r>
            <a:r>
              <a:rPr sz="1500" b="0" i="0">
                <a:solidFill>
                  <a:srgbClr val="6B7280"/>
                </a:solidFill>
                <a:latin typeface="Calibri"/>
              </a:rPr>
              <a:t>Because the atmosphere has no sharp boundaries, the light bends gradually and does not travel in a single straight line — it follows a slightly curved path.</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Fluctuating refractive index  </a:t>
            </a:r>
            <a:r>
              <a:rPr sz="1500" b="0" i="0">
                <a:solidFill>
                  <a:srgbClr val="6B7280"/>
                </a:solidFill>
                <a:latin typeface="Calibri"/>
              </a:rPr>
              <a:t>Air currents constantly change the density of the layers, so the amount of bending keeps changing from moment to moment.</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Apparent flickering  </a:t>
            </a:r>
            <a:r>
              <a:rPr sz="1500" b="0" i="0">
                <a:solidFill>
                  <a:srgbClr val="6B7280"/>
                </a:solidFill>
                <a:latin typeface="Calibri"/>
              </a:rPr>
              <a:t>This makes the star's apparent position and brightness fluctuate rapidly, which we see as twinkling.</a:t>
            </a:r>
          </a:p>
          <a:p>
            <a:pPr algn="l">
              <a:lnSpc>
                <a:spcPct val="105000"/>
              </a:lnSpc>
              <a:spcAft>
                <a:spcPts val="1100"/>
              </a:spcAft>
            </a:pPr>
            <a:r>
              <a:rPr sz="1600" b="1" i="0">
                <a:solidFill>
                  <a:srgbClr val="0A9396"/>
                </a:solidFill>
                <a:latin typeface="Calibri"/>
              </a:rPr>
              <a:t>•  </a:t>
            </a:r>
            <a:r>
              <a:rPr sz="1600" b="1" i="0">
                <a:solidFill>
                  <a:srgbClr val="1D2433"/>
                </a:solidFill>
                <a:latin typeface="Calibri"/>
              </a:rPr>
              <a:t>Planets do not twinkle noticeably  </a:t>
            </a:r>
            <a:r>
              <a:rPr sz="1500" b="0" i="0">
                <a:solidFill>
                  <a:srgbClr val="6B7280"/>
                </a:solidFill>
                <a:latin typeface="Calibri"/>
              </a:rPr>
              <a:t>Planets are much closer and appear as extended sources (a collection of many points), so the twinkling from different points averages out.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WRAP UP</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Quick Recap</a:t>
            </a:r>
          </a:p>
        </p:txBody>
      </p:sp>
      <p:sp>
        <p:nvSpPr>
          <p:cNvPr id="6" name="Rounded Rectangle 5"/>
          <p:cNvSpPr/>
          <p:nvPr/>
        </p:nvSpPr>
        <p:spPr>
          <a:xfrm>
            <a:off x="640080" y="1828800"/>
            <a:ext cx="10881360" cy="4114800"/>
          </a:xfrm>
          <a:prstGeom prst="roundRect">
            <a:avLst>
              <a:gd name="adj" fmla="val 3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148840"/>
            <a:ext cx="10058400" cy="3657600"/>
          </a:xfrm>
          <a:prstGeom prst="rect">
            <a:avLst/>
          </a:prstGeom>
          <a:noFill/>
        </p:spPr>
        <p:txBody>
          <a:bodyPr wrap="square" anchor="t" lIns="0" rIns="0" tIns="0" bIns="0">
            <a:spAutoFit/>
          </a:bodyPr>
          <a:lstStyle/>
          <a:p>
            <a:pPr algn="l">
              <a:lnSpc>
                <a:spcPct val="105000"/>
              </a:lnSpc>
              <a:spcAft>
                <a:spcPts val="1200"/>
              </a:spcAft>
            </a:pPr>
            <a:r>
              <a:rPr sz="1600" b="1" i="0">
                <a:solidFill>
                  <a:srgbClr val="2A9D8F"/>
                </a:solidFill>
                <a:latin typeface="Calibri"/>
              </a:rPr>
              <a:t>✓  </a:t>
            </a:r>
            <a:r>
              <a:rPr sz="1600" b="1" i="0">
                <a:solidFill>
                  <a:srgbClr val="1D2433"/>
                </a:solidFill>
                <a:latin typeface="Calibri"/>
              </a:rPr>
              <a:t>Refraction  —  </a:t>
            </a:r>
            <a:r>
              <a:rPr sz="1500" b="0" i="0">
                <a:solidFill>
                  <a:srgbClr val="6B7280"/>
                </a:solidFill>
                <a:latin typeface="Calibri"/>
              </a:rPr>
              <a:t>Bending of light at a boundary due to a change in speed.</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Snell's law  —  </a:t>
            </a:r>
            <a:r>
              <a:rPr sz="1500" b="0" i="0">
                <a:solidFill>
                  <a:srgbClr val="6B7280"/>
                </a:solidFill>
                <a:latin typeface="Calibri"/>
              </a:rPr>
              <a:t>sin i / sin r = constant = refractive index.</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n = c / v  —  </a:t>
            </a:r>
            <a:r>
              <a:rPr sz="1500" b="0" i="0">
                <a:solidFill>
                  <a:srgbClr val="6B7280"/>
                </a:solidFill>
                <a:latin typeface="Calibri"/>
              </a:rPr>
              <a:t>Absolute refractive index compares speed in vacuum to speed in the medium.</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Critical angle  —  </a:t>
            </a:r>
            <a:r>
              <a:rPr sz="1500" b="0" i="0">
                <a:solidFill>
                  <a:srgbClr val="6B7280"/>
                </a:solidFill>
                <a:latin typeface="Calibri"/>
              </a:rPr>
              <a:t>sin C = 1/n; beyond it, light undergoes total internal reflection.</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TIR applications  —  </a:t>
            </a:r>
            <a:r>
              <a:rPr sz="1500" b="0" i="0">
                <a:solidFill>
                  <a:srgbClr val="6B7280"/>
                </a:solidFill>
                <a:latin typeface="Calibri"/>
              </a:rPr>
              <a:t>Optical fibres, diamond sparkle, mirage, totally reflecting prisms.</a:t>
            </a:r>
          </a:p>
          <a:p>
            <a:pPr algn="l">
              <a:lnSpc>
                <a:spcPct val="105000"/>
              </a:lnSpc>
              <a:spcAft>
                <a:spcPts val="1200"/>
              </a:spcAft>
            </a:pPr>
            <a:r>
              <a:rPr sz="1600" b="1" i="0">
                <a:solidFill>
                  <a:srgbClr val="2A9D8F"/>
                </a:solidFill>
                <a:latin typeface="Calibri"/>
              </a:rPr>
              <a:t>✓  </a:t>
            </a:r>
            <a:r>
              <a:rPr sz="1600" b="1" i="0">
                <a:solidFill>
                  <a:srgbClr val="1D2433"/>
                </a:solidFill>
                <a:latin typeface="Calibri"/>
              </a:rPr>
              <a:t>Dispersion &amp; twinkling  —  </a:t>
            </a:r>
            <a:r>
              <a:rPr sz="1500" b="0" i="0">
                <a:solidFill>
                  <a:srgbClr val="6B7280"/>
                </a:solidFill>
                <a:latin typeface="Calibri"/>
              </a:rPr>
              <a:t>Prisms split white light by wavelength; the atmosphere's changing density makes starlight flicker.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8778240" y="-1371600"/>
            <a:ext cx="4754880" cy="47548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8229600" cy="457200"/>
          </a:xfrm>
          <a:prstGeom prst="rect">
            <a:avLst/>
          </a:prstGeom>
          <a:noFill/>
        </p:spPr>
        <p:txBody>
          <a:bodyPr wrap="square" anchor="t" lIns="0" rIns="0" tIns="0" bIns="0">
            <a:spAutoFit/>
          </a:bodyPr>
          <a:lstStyle/>
          <a:p>
            <a:pPr algn="l"/>
            <a:r>
              <a:rPr sz="1600" b="1" i="0">
                <a:solidFill>
                  <a:srgbClr val="FFC300"/>
                </a:solidFill>
                <a:latin typeface="Arial"/>
              </a:rPr>
              <a:t>QUIZ 2</a:t>
            </a:r>
          </a:p>
        </p:txBody>
      </p:sp>
      <p:sp>
        <p:nvSpPr>
          <p:cNvPr id="4" name="TextBox 3"/>
          <p:cNvSpPr txBox="1"/>
          <p:nvPr/>
        </p:nvSpPr>
        <p:spPr>
          <a:xfrm>
            <a:off x="777240" y="2560320"/>
            <a:ext cx="9601200" cy="1005840"/>
          </a:xfrm>
          <a:prstGeom prst="rect">
            <a:avLst/>
          </a:prstGeom>
          <a:noFill/>
        </p:spPr>
        <p:txBody>
          <a:bodyPr wrap="square" anchor="t" lIns="0" rIns="0" tIns="0" bIns="0">
            <a:spAutoFit/>
          </a:bodyPr>
          <a:lstStyle/>
          <a:p>
            <a:pPr algn="l"/>
            <a:r>
              <a:rPr sz="4400" b="1" i="0">
                <a:solidFill>
                  <a:srgbClr val="FFFFFF"/>
                </a:solidFill>
                <a:latin typeface="Calibri"/>
              </a:rPr>
              <a:t>Final Check — TIR, Dispersion &amp; Twinkling</a:t>
            </a:r>
          </a:p>
        </p:txBody>
      </p:sp>
      <p:sp>
        <p:nvSpPr>
          <p:cNvPr id="5" name="TextBox 4"/>
          <p:cNvSpPr txBox="1"/>
          <p:nvPr/>
        </p:nvSpPr>
        <p:spPr>
          <a:xfrm>
            <a:off x="777240" y="3749039"/>
            <a:ext cx="9601200" cy="548640"/>
          </a:xfrm>
          <a:prstGeom prst="rect">
            <a:avLst/>
          </a:prstGeom>
          <a:noFill/>
        </p:spPr>
        <p:txBody>
          <a:bodyPr wrap="square" anchor="t" lIns="0" rIns="0" tIns="0" bIns="0">
            <a:spAutoFit/>
          </a:bodyPr>
          <a:lstStyle/>
          <a:p>
            <a:pPr algn="l"/>
            <a:r>
              <a:rPr sz="1800" b="0" i="0">
                <a:solidFill>
                  <a:srgbClr val="CADCFC"/>
                </a:solidFill>
                <a:latin typeface="Calibri"/>
              </a:rPr>
              <a:t>4 questions  •  think before the answer reveals on the next slide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Critical angle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critical angle is the angle of incidence in the denser medium for which the angle of refraction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0°</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45°</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90°</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equal to the critical angle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Q1 — Critical angle</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The critical angle is the angle of incidence in the denser medium for which the angle of refraction is: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0°</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45°</a:t>
            </a:r>
          </a:p>
        </p:txBody>
      </p:sp>
      <p:sp>
        <p:nvSpPr>
          <p:cNvPr id="16" name="Rounded Rectangle 15"/>
          <p:cNvSpPr/>
          <p:nvPr/>
        </p:nvSpPr>
        <p:spPr>
          <a:xfrm>
            <a:off x="640080" y="4370831"/>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1" i="0">
                <a:solidFill>
                  <a:srgbClr val="1D2433"/>
                </a:solidFill>
                <a:latin typeface="Calibri"/>
              </a:rPr>
              <a:t>90°</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equal to the critical angle</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At the critical angle the refracted ray grazes along the boundary surface, making an angle of refraction of exactly 90°.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TIR condition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Total internal reflection can occur only when light travels: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from a rarer to a denser medium</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from a denser to a rarer medium, beyond the critical angle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along the normal</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through a vacuum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Q2 — TIR condition</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Total internal reflection can occur only when light travels: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from a rarer to a denser medium</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from a denser to a rarer medium, beyond the critical angle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along the normal</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through a vacuum</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Both conditions are needed together: denser-to-rarer travel, and an angle of incidence greater than the critical angle.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Diamond</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diamond sparkles brilliantly mainly because it has: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very low refractive index</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a very high refractive index and hence a small critical angle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no refractive index</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a rough, unpolished surface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Q3 — Diamond</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A diamond sparkles brilliantly mainly because it has:</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a very low refractive index</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a very high refractive index and hence a small critical angle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no refractive index</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a rough, unpolished surface</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With C ≈ 24.4°, light entering a cut diamond undergoes TIR repeatedly before it can escape, producing its brilliance.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0A9396"/>
                </a:solidFill>
                <a:latin typeface="Arial"/>
              </a:rPr>
              <a:t>QUIZ QUESTION</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Twinkling</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Stars appear to twinkle mainly because of:</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their own changing brightness</a:t>
            </a:r>
          </a:p>
        </p:txBody>
      </p:sp>
      <p:sp>
        <p:nvSpPr>
          <p:cNvPr id="12" name="Rounded Rectangle 11"/>
          <p:cNvSpPr/>
          <p:nvPr/>
        </p:nvSpPr>
        <p:spPr>
          <a:xfrm>
            <a:off x="617220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B</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0" i="0">
                <a:solidFill>
                  <a:srgbClr val="1D2433"/>
                </a:solidFill>
                <a:latin typeface="Calibri"/>
              </a:rPr>
              <a:t>continuously changing refraction in the Earth's atmosphere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dispersion by a prism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1D2433"/>
                </a:solidFill>
                <a:latin typeface="Calibri"/>
              </a:rPr>
              <a:t>total internal reflection in the star itself</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Oval 1"/>
          <p:cNvSpPr/>
          <p:nvPr/>
        </p:nvSpPr>
        <p:spPr>
          <a:xfrm>
            <a:off x="10927080" y="365760"/>
            <a:ext cx="868680" cy="868680"/>
          </a:xfrm>
          <a:prstGeom prst="ellipse">
            <a:avLst/>
          </a:prstGeom>
          <a:noFill/>
          <a:ln w="15875">
            <a:solidFill>
              <a:srgbClr val="DDE2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02920"/>
            <a:ext cx="256032" cy="256032"/>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457200"/>
            <a:ext cx="9509760" cy="320040"/>
          </a:xfrm>
          <a:prstGeom prst="rect">
            <a:avLst/>
          </a:prstGeom>
          <a:noFill/>
        </p:spPr>
        <p:txBody>
          <a:bodyPr wrap="square" anchor="t" lIns="0" rIns="0" tIns="0" bIns="0">
            <a:spAutoFit/>
          </a:bodyPr>
          <a:lstStyle/>
          <a:p>
            <a:pPr algn="l"/>
            <a:r>
              <a:rPr sz="1300" b="1" i="0">
                <a:solidFill>
                  <a:srgbClr val="2A9D8F"/>
                </a:solidFill>
                <a:latin typeface="Arial"/>
              </a:rPr>
              <a:t>ANSWER REVEALED</a:t>
            </a:r>
          </a:p>
        </p:txBody>
      </p:sp>
      <p:sp>
        <p:nvSpPr>
          <p:cNvPr id="5" name="TextBox 4"/>
          <p:cNvSpPr txBox="1"/>
          <p:nvPr/>
        </p:nvSpPr>
        <p:spPr>
          <a:xfrm>
            <a:off x="548640" y="777240"/>
            <a:ext cx="9966960" cy="822960"/>
          </a:xfrm>
          <a:prstGeom prst="rect">
            <a:avLst/>
          </a:prstGeom>
          <a:noFill/>
        </p:spPr>
        <p:txBody>
          <a:bodyPr wrap="square" anchor="t" lIns="0" rIns="0" tIns="0" bIns="0">
            <a:spAutoFit/>
          </a:bodyPr>
          <a:lstStyle/>
          <a:p>
            <a:pPr algn="l"/>
            <a:r>
              <a:rPr sz="3000" b="1" i="0">
                <a:solidFill>
                  <a:srgbClr val="1D2433"/>
                </a:solidFill>
                <a:latin typeface="Calibri"/>
              </a:rPr>
              <a:t>Q4 — Twinkling</a:t>
            </a:r>
          </a:p>
        </p:txBody>
      </p:sp>
      <p:sp>
        <p:nvSpPr>
          <p:cNvPr id="6" name="Rounded Rectangle 5"/>
          <p:cNvSpPr/>
          <p:nvPr/>
        </p:nvSpPr>
        <p:spPr>
          <a:xfrm>
            <a:off x="640080" y="1783080"/>
            <a:ext cx="10881360" cy="1325880"/>
          </a:xfrm>
          <a:prstGeom prst="roundRect">
            <a:avLst>
              <a:gd name="adj" fmla="val 4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83080"/>
            <a:ext cx="10149840" cy="1325880"/>
          </a:xfrm>
          <a:prstGeom prst="rect">
            <a:avLst/>
          </a:prstGeom>
          <a:noFill/>
        </p:spPr>
        <p:txBody>
          <a:bodyPr wrap="square" anchor="ctr" lIns="0" rIns="0" tIns="0" bIns="0">
            <a:spAutoFit/>
          </a:bodyPr>
          <a:lstStyle/>
          <a:p>
            <a:pPr algn="l"/>
            <a:r>
              <a:rPr sz="1800" b="1" i="0">
                <a:solidFill>
                  <a:srgbClr val="1D2433"/>
                </a:solidFill>
                <a:latin typeface="Calibri"/>
              </a:rPr>
              <a:t>Stars appear to twinkle mainly because of:</a:t>
            </a:r>
          </a:p>
        </p:txBody>
      </p:sp>
      <p:sp>
        <p:nvSpPr>
          <p:cNvPr id="8" name="Rounded Rectangle 7"/>
          <p:cNvSpPr/>
          <p:nvPr/>
        </p:nvSpPr>
        <p:spPr>
          <a:xfrm>
            <a:off x="640080" y="3337560"/>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566160"/>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a:t>
            </a:r>
          </a:p>
        </p:txBody>
      </p:sp>
      <p:sp>
        <p:nvSpPr>
          <p:cNvPr id="11" name="TextBox 10"/>
          <p:cNvSpPr txBox="1"/>
          <p:nvPr/>
        </p:nvSpPr>
        <p:spPr>
          <a:xfrm>
            <a:off x="1508760" y="3337560"/>
            <a:ext cx="4297680" cy="868680"/>
          </a:xfrm>
          <a:prstGeom prst="rect">
            <a:avLst/>
          </a:prstGeom>
          <a:noFill/>
        </p:spPr>
        <p:txBody>
          <a:bodyPr wrap="square" anchor="ctr" lIns="0" rIns="0" tIns="0" bIns="0">
            <a:spAutoFit/>
          </a:bodyPr>
          <a:lstStyle/>
          <a:p>
            <a:pPr algn="l"/>
            <a:r>
              <a:rPr sz="1450" b="0" i="0">
                <a:solidFill>
                  <a:srgbClr val="6B7280"/>
                </a:solidFill>
                <a:latin typeface="Calibri"/>
              </a:rPr>
              <a:t>their own changing brightness</a:t>
            </a:r>
          </a:p>
        </p:txBody>
      </p:sp>
      <p:sp>
        <p:nvSpPr>
          <p:cNvPr id="12" name="Rounded Rectangle 11"/>
          <p:cNvSpPr/>
          <p:nvPr/>
        </p:nvSpPr>
        <p:spPr>
          <a:xfrm>
            <a:off x="6172200" y="3337560"/>
            <a:ext cx="5349240" cy="868680"/>
          </a:xfrm>
          <a:prstGeom prst="roundRect">
            <a:avLst>
              <a:gd name="adj" fmla="val 12000"/>
            </a:avLst>
          </a:prstGeom>
          <a:solidFill>
            <a:srgbClr val="E9F5F0"/>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46520" y="3566160"/>
            <a:ext cx="411480" cy="41148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3566160"/>
            <a:ext cx="411480" cy="411480"/>
          </a:xfrm>
          <a:prstGeom prst="rect">
            <a:avLst/>
          </a:prstGeom>
          <a:noFill/>
        </p:spPr>
        <p:txBody>
          <a:bodyPr wrap="square" anchor="ctr" lIns="0" rIns="0" tIns="0" bIns="0">
            <a:spAutoFit/>
          </a:bodyPr>
          <a:lstStyle/>
          <a:p>
            <a:pPr algn="ctr"/>
            <a:r>
              <a:rPr sz="1400" b="1" i="0">
                <a:solidFill>
                  <a:srgbClr val="FFFFFF"/>
                </a:solidFill>
                <a:latin typeface="Calibri"/>
              </a:rPr>
              <a:t>✓</a:t>
            </a:r>
          </a:p>
        </p:txBody>
      </p:sp>
      <p:sp>
        <p:nvSpPr>
          <p:cNvPr id="15" name="TextBox 14"/>
          <p:cNvSpPr txBox="1"/>
          <p:nvPr/>
        </p:nvSpPr>
        <p:spPr>
          <a:xfrm>
            <a:off x="7040880" y="3337560"/>
            <a:ext cx="4297680" cy="868680"/>
          </a:xfrm>
          <a:prstGeom prst="rect">
            <a:avLst/>
          </a:prstGeom>
          <a:noFill/>
        </p:spPr>
        <p:txBody>
          <a:bodyPr wrap="square" anchor="ctr" lIns="0" rIns="0" tIns="0" bIns="0">
            <a:spAutoFit/>
          </a:bodyPr>
          <a:lstStyle/>
          <a:p>
            <a:pPr algn="l"/>
            <a:r>
              <a:rPr sz="1450" b="1" i="0">
                <a:solidFill>
                  <a:srgbClr val="1D2433"/>
                </a:solidFill>
                <a:latin typeface="Calibri"/>
              </a:rPr>
              <a:t>continuously changing refraction in the Earth's atmosphere</a:t>
            </a:r>
          </a:p>
        </p:txBody>
      </p:sp>
      <p:sp>
        <p:nvSpPr>
          <p:cNvPr id="16" name="Rounded Rectangle 15"/>
          <p:cNvSpPr/>
          <p:nvPr/>
        </p:nvSpPr>
        <p:spPr>
          <a:xfrm>
            <a:off x="64008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440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C</a:t>
            </a:r>
          </a:p>
        </p:txBody>
      </p:sp>
      <p:sp>
        <p:nvSpPr>
          <p:cNvPr id="19" name="TextBox 18"/>
          <p:cNvSpPr txBox="1"/>
          <p:nvPr/>
        </p:nvSpPr>
        <p:spPr>
          <a:xfrm>
            <a:off x="150876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dispersion by a prism</a:t>
            </a:r>
          </a:p>
        </p:txBody>
      </p:sp>
      <p:sp>
        <p:nvSpPr>
          <p:cNvPr id="20" name="Rounded Rectangle 19"/>
          <p:cNvSpPr/>
          <p:nvPr/>
        </p:nvSpPr>
        <p:spPr>
          <a:xfrm>
            <a:off x="6172200" y="4370831"/>
            <a:ext cx="5349240" cy="868680"/>
          </a:xfrm>
          <a:prstGeom prst="roundRect">
            <a:avLst>
              <a:gd name="adj" fmla="val 12000"/>
            </a:avLst>
          </a:prstGeom>
          <a:solidFill>
            <a:srgbClr val="EA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46520" y="4599431"/>
            <a:ext cx="411480" cy="411480"/>
          </a:xfrm>
          <a:prstGeom prst="ellipse">
            <a:avLst/>
          </a:prstGeom>
          <a:solidFill>
            <a:srgbClr val="B7C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599431"/>
            <a:ext cx="411480" cy="411480"/>
          </a:xfrm>
          <a:prstGeom prst="rect">
            <a:avLst/>
          </a:prstGeom>
          <a:noFill/>
        </p:spPr>
        <p:txBody>
          <a:bodyPr wrap="square" anchor="ctr" lIns="0" rIns="0" tIns="0" bIns="0">
            <a:spAutoFit/>
          </a:bodyPr>
          <a:lstStyle/>
          <a:p>
            <a:pPr algn="ctr"/>
            <a:r>
              <a:rPr sz="1400" b="1" i="0">
                <a:solidFill>
                  <a:srgbClr val="FFFFFF"/>
                </a:solidFill>
                <a:latin typeface="Calibri"/>
              </a:rPr>
              <a:t>D</a:t>
            </a:r>
          </a:p>
        </p:txBody>
      </p:sp>
      <p:sp>
        <p:nvSpPr>
          <p:cNvPr id="23" name="TextBox 22"/>
          <p:cNvSpPr txBox="1"/>
          <p:nvPr/>
        </p:nvSpPr>
        <p:spPr>
          <a:xfrm>
            <a:off x="7040880" y="4370831"/>
            <a:ext cx="4297680" cy="868680"/>
          </a:xfrm>
          <a:prstGeom prst="rect">
            <a:avLst/>
          </a:prstGeom>
          <a:noFill/>
        </p:spPr>
        <p:txBody>
          <a:bodyPr wrap="square" anchor="ctr" lIns="0" rIns="0" tIns="0" bIns="0">
            <a:spAutoFit/>
          </a:bodyPr>
          <a:lstStyle/>
          <a:p>
            <a:pPr algn="l"/>
            <a:r>
              <a:rPr sz="1450" b="0" i="0">
                <a:solidFill>
                  <a:srgbClr val="6B7280"/>
                </a:solidFill>
                <a:latin typeface="Calibri"/>
              </a:rPr>
              <a:t>total internal reflection in the star itself</a:t>
            </a:r>
          </a:p>
        </p:txBody>
      </p:sp>
      <p:sp>
        <p:nvSpPr>
          <p:cNvPr id="24" name="Rounded Rectangle 23"/>
          <p:cNvSpPr/>
          <p:nvPr/>
        </p:nvSpPr>
        <p:spPr>
          <a:xfrm>
            <a:off x="640080" y="5440680"/>
            <a:ext cx="10881360" cy="1097280"/>
          </a:xfrm>
          <a:prstGeom prst="roundRect">
            <a:avLst>
              <a:gd name="adj" fmla="val 5000"/>
            </a:avLst>
          </a:prstGeom>
          <a:solidFill>
            <a:srgbClr val="FFFFFF"/>
          </a:solidFill>
          <a:ln>
            <a:noFill/>
          </a:ln>
          <a:effectLst>
            <a:outerShdw blurRad="88900" dist="38100" dir="5400000" rotWithShape="0" algn="bl">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596128"/>
            <a:ext cx="4572000" cy="320040"/>
          </a:xfrm>
          <a:prstGeom prst="rect">
            <a:avLst/>
          </a:prstGeom>
          <a:noFill/>
        </p:spPr>
        <p:txBody>
          <a:bodyPr wrap="square" anchor="t" lIns="0" rIns="0" tIns="0" bIns="0">
            <a:spAutoFit/>
          </a:bodyPr>
          <a:lstStyle/>
          <a:p>
            <a:pPr algn="l"/>
            <a:r>
              <a:rPr sz="1300" b="1" i="0">
                <a:solidFill>
                  <a:srgbClr val="2A9D8F"/>
                </a:solidFill>
                <a:latin typeface="Arial"/>
              </a:rPr>
              <a:t>WHY</a:t>
            </a:r>
          </a:p>
        </p:txBody>
      </p:sp>
      <p:sp>
        <p:nvSpPr>
          <p:cNvPr id="26" name="TextBox 25"/>
          <p:cNvSpPr txBox="1"/>
          <p:nvPr/>
        </p:nvSpPr>
        <p:spPr>
          <a:xfrm>
            <a:off x="1005840" y="5943600"/>
            <a:ext cx="10149840" cy="548640"/>
          </a:xfrm>
          <a:prstGeom prst="rect">
            <a:avLst/>
          </a:prstGeom>
          <a:noFill/>
        </p:spPr>
        <p:txBody>
          <a:bodyPr wrap="square" anchor="t" lIns="0" rIns="0" tIns="0" bIns="0">
            <a:spAutoFit/>
          </a:bodyPr>
          <a:lstStyle/>
          <a:p>
            <a:pPr algn="l">
              <a:lnSpc>
                <a:spcPct val="105000"/>
              </a:lnSpc>
            </a:pPr>
            <a:r>
              <a:rPr sz="1450" b="0" i="0">
                <a:solidFill>
                  <a:srgbClr val="1D2433"/>
                </a:solidFill>
                <a:latin typeface="Calibri"/>
              </a:rPr>
              <a:t>Air layers of constantly changing density bend starlight by varying amounts, making its apparent position and brightness flicker.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Oval 1"/>
          <p:cNvSpPr/>
          <p:nvPr/>
        </p:nvSpPr>
        <p:spPr>
          <a:xfrm>
            <a:off x="-1463040" y="3108960"/>
            <a:ext cx="4754880" cy="475488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645920"/>
            <a:ext cx="4206240" cy="4206240"/>
          </a:xfrm>
          <a:prstGeom prst="ellipse">
            <a:avLst/>
          </a:prstGeom>
          <a:solidFill>
            <a:srgbClr val="F4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377440"/>
            <a:ext cx="10515600" cy="1097280"/>
          </a:xfrm>
          <a:prstGeom prst="rect">
            <a:avLst/>
          </a:prstGeom>
          <a:noFill/>
        </p:spPr>
        <p:txBody>
          <a:bodyPr wrap="square" anchor="t" lIns="0" rIns="0" tIns="0" bIns="0">
            <a:spAutoFit/>
          </a:bodyPr>
          <a:lstStyle/>
          <a:p>
            <a:pPr algn="l"/>
            <a:r>
              <a:rPr sz="4600" b="1" i="0">
                <a:solidFill>
                  <a:srgbClr val="FFFFFF"/>
                </a:solidFill>
                <a:latin typeface="Calibri"/>
              </a:rPr>
              <a:t>Bending Light, Understanding Nature</a:t>
            </a:r>
          </a:p>
        </p:txBody>
      </p:sp>
      <p:sp>
        <p:nvSpPr>
          <p:cNvPr id="5" name="TextBox 4"/>
          <p:cNvSpPr txBox="1"/>
          <p:nvPr/>
        </p:nvSpPr>
        <p:spPr>
          <a:xfrm>
            <a:off x="731520" y="3566160"/>
            <a:ext cx="10058400" cy="1097280"/>
          </a:xfrm>
          <a:prstGeom prst="rect">
            <a:avLst/>
          </a:prstGeom>
          <a:noFill/>
        </p:spPr>
        <p:txBody>
          <a:bodyPr wrap="square" anchor="t" lIns="0" rIns="0" tIns="0" bIns="0">
            <a:spAutoFit/>
          </a:bodyPr>
          <a:lstStyle/>
          <a:p>
            <a:pPr algn="l"/>
            <a:r>
              <a:rPr sz="1900" b="0" i="0">
                <a:solidFill>
                  <a:srgbClr val="CADCFC"/>
                </a:solidFill>
                <a:latin typeface="Calibri"/>
              </a:rPr>
              <a:t>From a straw that looks bent in water to the sparkle of a diamond and the twinkle of a star, refraction explains it all — one law, endless everyday effects.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