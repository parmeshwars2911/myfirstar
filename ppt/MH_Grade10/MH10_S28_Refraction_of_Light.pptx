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previewing these objectives so students know what they should be able to do by the end of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with a pencil in a glass of water appearing bent. Stress: refraction is a change in speed and direction, not a change in frequency.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Write Snell's law on the board and label i and r on the refraction_bending diagram already shown.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 = speed of light in vacuum = 3 x 10^8 m/s. n has no unit since it is a ratio of two speeds. The denser the medium, the smaller v, and so the larger 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higher n means light slows down more and bends more strongly on entering that medium.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through both directions (air-to-glass and glass-to-air) so students see the reciprocal relationship.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very common numerical style in the MSBSHSE textbook — always rearrange n = c/v for whichever quantity is asked.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the two key facts examiners look for: the emergent ray is parallel to the incident ray, and it is laterally displaced.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the progression: partial internal reflection always accompanies refraction, but TIR is a special case that only begins once the critical angle is exceeded.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with the previous slide: below the critical angle you get refraction plus partial reflection; only above it do you get true total internal reflection.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by setting the angle of refraction to 90° in Snell's law: n = sin 90° / sin C = 1 / sin 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looking up from underwater, the entire sky outside a cone of about 97° (2C) is compressed into that circle — beyond it, the water surface acts like a mirror.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optical-fibre and mirage diagrams alongside this slide; both are direct consequences of the same TIR condition just derived.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 back to the critical-angle condition: TIR happens here even though there is no sharp single boundary — the air's density changes gradually with height.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contrast: a slab keeps the ray parallel, a prism deviates it towards the base — this deviation, being different for each colour, is what produces dispersion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rainbow is a natural example of dispersion combined with internal reflection inside raindrops.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same atmospheric refraction that causes twinkling; here it shifts the Sun's apparent position rather than making it flicker.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with why stars appear steady when viewed from space (no atmosphere) — reinforces that twinkling is purely an atmospheric refraction effect.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Cold-call each recap point; ask students to state the formula for critical angle from memory.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1463040" y="3108960"/>
            <a:ext cx="4754880" cy="47548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1645920"/>
            <a:ext cx="4206240" cy="420624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8686800" cy="457200"/>
          </a:xfrm>
          <a:prstGeom prst="rect">
            <a:avLst/>
          </a:prstGeom>
          <a:noFill/>
        </p:spPr>
        <p:txBody>
          <a:bodyPr wrap="square" anchor="t" lIns="0" rIns="0" tIns="0" bIns="0">
            <a:spAutoFit/>
          </a:bodyPr>
          <a:lstStyle/>
          <a:p>
            <a:pPr algn="l"/>
            <a:r>
              <a:rPr sz="1600" b="1" i="0">
                <a:solidFill>
                  <a:srgbClr val="FFC300"/>
                </a:solidFill>
                <a:latin typeface="Arial"/>
              </a:rPr>
              <a:t>STD 10 • SCIENCE PART 1 • LIGHT</a:t>
            </a:r>
          </a:p>
        </p:txBody>
      </p:sp>
      <p:sp>
        <p:nvSpPr>
          <p:cNvPr id="5" name="TextBox 4"/>
          <p:cNvSpPr txBox="1"/>
          <p:nvPr/>
        </p:nvSpPr>
        <p:spPr>
          <a:xfrm>
            <a:off x="731520" y="1828800"/>
            <a:ext cx="8046720" cy="1737360"/>
          </a:xfrm>
          <a:prstGeom prst="rect">
            <a:avLst/>
          </a:prstGeom>
          <a:noFill/>
        </p:spPr>
        <p:txBody>
          <a:bodyPr wrap="square" anchor="b" lIns="0" rIns="0" tIns="0" bIns="0">
            <a:spAutoFit/>
          </a:bodyPr>
          <a:lstStyle/>
          <a:p>
            <a:pPr algn="l"/>
            <a:r>
              <a:rPr sz="5000" b="1" i="0">
                <a:solidFill>
                  <a:srgbClr val="FFFFFF"/>
                </a:solidFill>
                <a:latin typeface="Calibri"/>
              </a:rPr>
              <a:t>Refraction of Light</a:t>
            </a:r>
          </a:p>
        </p:txBody>
      </p:sp>
      <p:sp>
        <p:nvSpPr>
          <p:cNvPr id="6" name="TextBox 5"/>
          <p:cNvSpPr txBox="1"/>
          <p:nvPr/>
        </p:nvSpPr>
        <p:spPr>
          <a:xfrm>
            <a:off x="731520" y="3703320"/>
            <a:ext cx="8046720" cy="1463040"/>
          </a:xfrm>
          <a:prstGeom prst="rect">
            <a:avLst/>
          </a:prstGeom>
          <a:noFill/>
        </p:spPr>
        <p:txBody>
          <a:bodyPr wrap="square" anchor="t" lIns="0" rIns="0" tIns="0" bIns="0">
            <a:spAutoFit/>
          </a:bodyPr>
          <a:lstStyle/>
          <a:p>
            <a:pPr algn="l"/>
            <a:r>
              <a:rPr sz="1900" b="0" i="0">
                <a:solidFill>
                  <a:srgbClr val="CADCFC"/>
                </a:solidFill>
                <a:latin typeface="Calibri"/>
              </a:rPr>
              <a:t>Laws of refraction  •  Refractive index  •  Total internal reflection  •  Dispersion  •  Twinkling of stars</a:t>
            </a:r>
          </a:p>
        </p:txBody>
      </p:sp>
      <p:pic>
        <p:nvPicPr>
          <p:cNvPr id="7" name="Picture 6" descr="mh10_refr_bend.png"/>
          <p:cNvPicPr>
            <a:picLocks noChangeAspect="1"/>
          </p:cNvPicPr>
          <p:nvPr/>
        </p:nvPicPr>
        <p:blipFill>
          <a:blip r:embed="rId2"/>
          <a:stretch>
            <a:fillRect/>
          </a:stretch>
        </p:blipFill>
        <p:spPr>
          <a:xfrm>
            <a:off x="9052560" y="2103120"/>
            <a:ext cx="2651760" cy="27432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INTRODUCTION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Learning Objectives</a:t>
            </a:r>
          </a:p>
        </p:txBody>
      </p:sp>
      <p:sp>
        <p:nvSpPr>
          <p:cNvPr id="6" name="Rounded Rectangle 5"/>
          <p:cNvSpPr/>
          <p:nvPr/>
        </p:nvSpPr>
        <p:spPr>
          <a:xfrm>
            <a:off x="640080" y="1874519"/>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2167127"/>
            <a:ext cx="457200" cy="45720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67127"/>
            <a:ext cx="457200" cy="457200"/>
          </a:xfrm>
          <a:prstGeom prst="rect">
            <a:avLst/>
          </a:prstGeom>
          <a:noFill/>
        </p:spPr>
        <p:txBody>
          <a:bodyPr wrap="square" anchor="ctr" lIns="0" rIns="0" tIns="0" bIns="0">
            <a:spAutoFit/>
          </a:bodyPr>
          <a:lstStyle/>
          <a:p>
            <a:pPr algn="ctr"/>
            <a:r>
              <a:rPr sz="1600" b="1" i="0">
                <a:solidFill>
                  <a:srgbClr val="FFFFFF"/>
                </a:solidFill>
                <a:latin typeface="Calibri"/>
              </a:rPr>
              <a:t>1</a:t>
            </a:r>
          </a:p>
        </p:txBody>
      </p:sp>
      <p:sp>
        <p:nvSpPr>
          <p:cNvPr id="9" name="TextBox 8"/>
          <p:cNvSpPr txBox="1"/>
          <p:nvPr/>
        </p:nvSpPr>
        <p:spPr>
          <a:xfrm>
            <a:off x="1554480" y="2039112"/>
            <a:ext cx="4251959" cy="777239"/>
          </a:xfrm>
          <a:prstGeom prst="rect">
            <a:avLst/>
          </a:prstGeom>
          <a:noFill/>
        </p:spPr>
        <p:txBody>
          <a:bodyPr wrap="square" anchor="ctr" lIns="0" rIns="0" tIns="0" bIns="0">
            <a:spAutoFit/>
          </a:bodyPr>
          <a:lstStyle/>
          <a:p>
            <a:pPr algn="l"/>
            <a:r>
              <a:rPr sz="1450" b="0" i="0">
                <a:solidFill>
                  <a:srgbClr val="1D2433"/>
                </a:solidFill>
                <a:latin typeface="Calibri"/>
              </a:rPr>
              <a:t>Explain refraction, the laws of refraction and refractive index</a:t>
            </a:r>
          </a:p>
        </p:txBody>
      </p:sp>
      <p:sp>
        <p:nvSpPr>
          <p:cNvPr id="10" name="Rounded Rectangle 9"/>
          <p:cNvSpPr/>
          <p:nvPr/>
        </p:nvSpPr>
        <p:spPr>
          <a:xfrm>
            <a:off x="6172200" y="1874519"/>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46520" y="2167127"/>
            <a:ext cx="457200" cy="45720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2167127"/>
            <a:ext cx="457200" cy="457200"/>
          </a:xfrm>
          <a:prstGeom prst="rect">
            <a:avLst/>
          </a:prstGeom>
          <a:noFill/>
        </p:spPr>
        <p:txBody>
          <a:bodyPr wrap="square" anchor="ctr" lIns="0" rIns="0" tIns="0" bIns="0">
            <a:spAutoFit/>
          </a:bodyPr>
          <a:lstStyle/>
          <a:p>
            <a:pPr algn="ctr"/>
            <a:r>
              <a:rPr sz="1600" b="1" i="0">
                <a:solidFill>
                  <a:srgbClr val="FFFFFF"/>
                </a:solidFill>
                <a:latin typeface="Calibri"/>
              </a:rPr>
              <a:t>2</a:t>
            </a:r>
          </a:p>
        </p:txBody>
      </p:sp>
      <p:sp>
        <p:nvSpPr>
          <p:cNvPr id="13" name="TextBox 12"/>
          <p:cNvSpPr txBox="1"/>
          <p:nvPr/>
        </p:nvSpPr>
        <p:spPr>
          <a:xfrm>
            <a:off x="7086600" y="2039112"/>
            <a:ext cx="4251959" cy="777239"/>
          </a:xfrm>
          <a:prstGeom prst="rect">
            <a:avLst/>
          </a:prstGeom>
          <a:noFill/>
        </p:spPr>
        <p:txBody>
          <a:bodyPr wrap="square" anchor="ctr" lIns="0" rIns="0" tIns="0" bIns="0">
            <a:spAutoFit/>
          </a:bodyPr>
          <a:lstStyle/>
          <a:p>
            <a:pPr algn="l"/>
            <a:r>
              <a:rPr sz="1450" b="0" i="0">
                <a:solidFill>
                  <a:srgbClr val="1D2433"/>
                </a:solidFill>
                <a:latin typeface="Calibri"/>
              </a:rPr>
              <a:t>Trace a ray through a rectangular glass slab and define lateral displacement</a:t>
            </a:r>
          </a:p>
        </p:txBody>
      </p:sp>
      <p:sp>
        <p:nvSpPr>
          <p:cNvPr id="14" name="Rounded Rectangle 13"/>
          <p:cNvSpPr/>
          <p:nvPr/>
        </p:nvSpPr>
        <p:spPr>
          <a:xfrm>
            <a:off x="640080" y="3182111"/>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14400" y="3474719"/>
            <a:ext cx="457200" cy="457200"/>
          </a:xfrm>
          <a:prstGeom prst="ellipse">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474719"/>
            <a:ext cx="457200" cy="457200"/>
          </a:xfrm>
          <a:prstGeom prst="rect">
            <a:avLst/>
          </a:prstGeom>
          <a:noFill/>
        </p:spPr>
        <p:txBody>
          <a:bodyPr wrap="square" anchor="ctr" lIns="0" rIns="0" tIns="0" bIns="0">
            <a:spAutoFit/>
          </a:bodyPr>
          <a:lstStyle/>
          <a:p>
            <a:pPr algn="ctr"/>
            <a:r>
              <a:rPr sz="1600" b="1" i="0">
                <a:solidFill>
                  <a:srgbClr val="FFFFFF"/>
                </a:solidFill>
                <a:latin typeface="Calibri"/>
              </a:rPr>
              <a:t>3</a:t>
            </a:r>
          </a:p>
        </p:txBody>
      </p:sp>
      <p:sp>
        <p:nvSpPr>
          <p:cNvPr id="17" name="TextBox 16"/>
          <p:cNvSpPr txBox="1"/>
          <p:nvPr/>
        </p:nvSpPr>
        <p:spPr>
          <a:xfrm>
            <a:off x="1554480" y="3346703"/>
            <a:ext cx="4251959" cy="777239"/>
          </a:xfrm>
          <a:prstGeom prst="rect">
            <a:avLst/>
          </a:prstGeom>
          <a:noFill/>
        </p:spPr>
        <p:txBody>
          <a:bodyPr wrap="square" anchor="ctr" lIns="0" rIns="0" tIns="0" bIns="0">
            <a:spAutoFit/>
          </a:bodyPr>
          <a:lstStyle/>
          <a:p>
            <a:pPr algn="l"/>
            <a:r>
              <a:rPr sz="1450" b="0" i="0">
                <a:solidFill>
                  <a:srgbClr val="1D2433"/>
                </a:solidFill>
                <a:latin typeface="Calibri"/>
              </a:rPr>
              <a:t>Distinguish partial internal reflection from total internal reflection and use the critical angle</a:t>
            </a:r>
          </a:p>
        </p:txBody>
      </p:sp>
      <p:sp>
        <p:nvSpPr>
          <p:cNvPr id="18" name="Rounded Rectangle 17"/>
          <p:cNvSpPr/>
          <p:nvPr/>
        </p:nvSpPr>
        <p:spPr>
          <a:xfrm>
            <a:off x="6172200" y="3182111"/>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46520" y="3474719"/>
            <a:ext cx="457200" cy="457200"/>
          </a:xfrm>
          <a:prstGeom prst="ellipse">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3474719"/>
            <a:ext cx="457200" cy="457200"/>
          </a:xfrm>
          <a:prstGeom prst="rect">
            <a:avLst/>
          </a:prstGeom>
          <a:noFill/>
        </p:spPr>
        <p:txBody>
          <a:bodyPr wrap="square" anchor="ctr" lIns="0" rIns="0" tIns="0" bIns="0">
            <a:spAutoFit/>
          </a:bodyPr>
          <a:lstStyle/>
          <a:p>
            <a:pPr algn="ctr"/>
            <a:r>
              <a:rPr sz="1600" b="1" i="0">
                <a:solidFill>
                  <a:srgbClr val="FFFFFF"/>
                </a:solidFill>
                <a:latin typeface="Calibri"/>
              </a:rPr>
              <a:t>4</a:t>
            </a:r>
          </a:p>
        </p:txBody>
      </p:sp>
      <p:sp>
        <p:nvSpPr>
          <p:cNvPr id="21" name="TextBox 20"/>
          <p:cNvSpPr txBox="1"/>
          <p:nvPr/>
        </p:nvSpPr>
        <p:spPr>
          <a:xfrm>
            <a:off x="7086600" y="3346703"/>
            <a:ext cx="4251959" cy="777239"/>
          </a:xfrm>
          <a:prstGeom prst="rect">
            <a:avLst/>
          </a:prstGeom>
          <a:noFill/>
        </p:spPr>
        <p:txBody>
          <a:bodyPr wrap="square" anchor="ctr" lIns="0" rIns="0" tIns="0" bIns="0">
            <a:spAutoFit/>
          </a:bodyPr>
          <a:lstStyle/>
          <a:p>
            <a:pPr algn="l"/>
            <a:r>
              <a:rPr sz="1450" b="0" i="0">
                <a:solidFill>
                  <a:srgbClr val="1D2433"/>
                </a:solidFill>
                <a:latin typeface="Calibri"/>
              </a:rPr>
              <a:t>Describe how TIR explains optical fibres, mirage and diamond sparkle</a:t>
            </a:r>
          </a:p>
        </p:txBody>
      </p:sp>
      <p:sp>
        <p:nvSpPr>
          <p:cNvPr id="22" name="Rounded Rectangle 21"/>
          <p:cNvSpPr/>
          <p:nvPr/>
        </p:nvSpPr>
        <p:spPr>
          <a:xfrm>
            <a:off x="640080" y="4489704"/>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14400" y="4782312"/>
            <a:ext cx="457200" cy="4572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4782312"/>
            <a:ext cx="457200" cy="457200"/>
          </a:xfrm>
          <a:prstGeom prst="rect">
            <a:avLst/>
          </a:prstGeom>
          <a:noFill/>
        </p:spPr>
        <p:txBody>
          <a:bodyPr wrap="square" anchor="ctr" lIns="0" rIns="0" tIns="0" bIns="0">
            <a:spAutoFit/>
          </a:bodyPr>
          <a:lstStyle/>
          <a:p>
            <a:pPr algn="ctr"/>
            <a:r>
              <a:rPr sz="1600" b="1" i="0">
                <a:solidFill>
                  <a:srgbClr val="FFFFFF"/>
                </a:solidFill>
                <a:latin typeface="Calibri"/>
              </a:rPr>
              <a:t>5</a:t>
            </a:r>
          </a:p>
        </p:txBody>
      </p:sp>
      <p:sp>
        <p:nvSpPr>
          <p:cNvPr id="25" name="TextBox 24"/>
          <p:cNvSpPr txBox="1"/>
          <p:nvPr/>
        </p:nvSpPr>
        <p:spPr>
          <a:xfrm>
            <a:off x="1554480" y="4654296"/>
            <a:ext cx="4251959" cy="777239"/>
          </a:xfrm>
          <a:prstGeom prst="rect">
            <a:avLst/>
          </a:prstGeom>
          <a:noFill/>
        </p:spPr>
        <p:txBody>
          <a:bodyPr wrap="square" anchor="ctr" lIns="0" rIns="0" tIns="0" bIns="0">
            <a:spAutoFit/>
          </a:bodyPr>
          <a:lstStyle/>
          <a:p>
            <a:pPr algn="l"/>
            <a:r>
              <a:rPr sz="1450" b="0" i="0">
                <a:solidFill>
                  <a:srgbClr val="1D2433"/>
                </a:solidFill>
                <a:latin typeface="Calibri"/>
              </a:rPr>
              <a:t>Explain refraction and dispersion of light through a prism</a:t>
            </a:r>
          </a:p>
        </p:txBody>
      </p:sp>
      <p:sp>
        <p:nvSpPr>
          <p:cNvPr id="26" name="Rounded Rectangle 25"/>
          <p:cNvSpPr/>
          <p:nvPr/>
        </p:nvSpPr>
        <p:spPr>
          <a:xfrm>
            <a:off x="6172200" y="4489704"/>
            <a:ext cx="5349240" cy="1051560"/>
          </a:xfrm>
          <a:prstGeom prst="roundRect">
            <a:avLst>
              <a:gd name="adj" fmla="val 6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46520" y="4782312"/>
            <a:ext cx="457200" cy="45720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6520" y="4782312"/>
            <a:ext cx="457200" cy="457200"/>
          </a:xfrm>
          <a:prstGeom prst="rect">
            <a:avLst/>
          </a:prstGeom>
          <a:noFill/>
        </p:spPr>
        <p:txBody>
          <a:bodyPr wrap="square" anchor="ctr" lIns="0" rIns="0" tIns="0" bIns="0">
            <a:spAutoFit/>
          </a:bodyPr>
          <a:lstStyle/>
          <a:p>
            <a:pPr algn="ctr"/>
            <a:r>
              <a:rPr sz="1600" b="1" i="0">
                <a:solidFill>
                  <a:srgbClr val="FFFFFF"/>
                </a:solidFill>
                <a:latin typeface="Calibri"/>
              </a:rPr>
              <a:t>6</a:t>
            </a:r>
          </a:p>
        </p:txBody>
      </p:sp>
      <p:sp>
        <p:nvSpPr>
          <p:cNvPr id="29" name="TextBox 28"/>
          <p:cNvSpPr txBox="1"/>
          <p:nvPr/>
        </p:nvSpPr>
        <p:spPr>
          <a:xfrm>
            <a:off x="7086600" y="4654296"/>
            <a:ext cx="4251959" cy="777239"/>
          </a:xfrm>
          <a:prstGeom prst="rect">
            <a:avLst/>
          </a:prstGeom>
          <a:noFill/>
        </p:spPr>
        <p:txBody>
          <a:bodyPr wrap="square" anchor="ctr" lIns="0" rIns="0" tIns="0" bIns="0">
            <a:spAutoFit/>
          </a:bodyPr>
          <a:lstStyle/>
          <a:p>
            <a:pPr algn="l"/>
            <a:r>
              <a:rPr sz="1450" b="0" i="0">
                <a:solidFill>
                  <a:srgbClr val="1D2433"/>
                </a:solidFill>
                <a:latin typeface="Calibri"/>
              </a:rPr>
              <a:t>Explain atmospheric refraction: advance sunrise, delayed sunset and the twinkling of stars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8595360" y="-1463040"/>
            <a:ext cx="4937760" cy="493776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03920" y="3108960"/>
            <a:ext cx="3383280" cy="2743200"/>
          </a:xfrm>
          <a:prstGeom prst="rect">
            <a:avLst/>
          </a:prstGeom>
          <a:noFill/>
        </p:spPr>
        <p:txBody>
          <a:bodyPr wrap="square" anchor="t" lIns="0" rIns="0" tIns="0" bIns="0">
            <a:spAutoFit/>
          </a:bodyPr>
          <a:lstStyle/>
          <a:p>
            <a:pPr algn="r"/>
            <a:r>
              <a:rPr sz="20000" b="1" i="0">
                <a:solidFill>
                  <a:srgbClr val="263149"/>
                </a:solidFill>
                <a:latin typeface="Calibri"/>
              </a:rPr>
              <a:t>1</a:t>
            </a:r>
          </a:p>
        </p:txBody>
      </p:sp>
      <p:sp>
        <p:nvSpPr>
          <p:cNvPr id="4" name="TextBox 3"/>
          <p:cNvSpPr txBox="1"/>
          <p:nvPr/>
        </p:nvSpPr>
        <p:spPr>
          <a:xfrm>
            <a:off x="777240" y="2148840"/>
            <a:ext cx="6949440" cy="457200"/>
          </a:xfrm>
          <a:prstGeom prst="rect">
            <a:avLst/>
          </a:prstGeom>
          <a:noFill/>
        </p:spPr>
        <p:txBody>
          <a:bodyPr wrap="square" anchor="t" lIns="0" rIns="0" tIns="0" bIns="0">
            <a:spAutoFit/>
          </a:bodyPr>
          <a:lstStyle/>
          <a:p>
            <a:pPr algn="l"/>
            <a:r>
              <a:rPr sz="1600" b="1" i="0">
                <a:solidFill>
                  <a:srgbClr val="FFC300"/>
                </a:solidFill>
                <a:latin typeface="Arial"/>
              </a:rPr>
              <a:t>PART 1</a:t>
            </a:r>
          </a:p>
        </p:txBody>
      </p:sp>
      <p:sp>
        <p:nvSpPr>
          <p:cNvPr id="5" name="TextBox 4"/>
          <p:cNvSpPr txBox="1"/>
          <p:nvPr/>
        </p:nvSpPr>
        <p:spPr>
          <a:xfrm>
            <a:off x="777240" y="2697480"/>
            <a:ext cx="7498079" cy="1097280"/>
          </a:xfrm>
          <a:prstGeom prst="rect">
            <a:avLst/>
          </a:prstGeom>
          <a:noFill/>
        </p:spPr>
        <p:txBody>
          <a:bodyPr wrap="square" anchor="t" lIns="0" rIns="0" tIns="0" bIns="0">
            <a:spAutoFit/>
          </a:bodyPr>
          <a:lstStyle/>
          <a:p>
            <a:pPr algn="l"/>
            <a:r>
              <a:rPr sz="4200" b="1" i="0">
                <a:solidFill>
                  <a:srgbClr val="FFFFFF"/>
                </a:solidFill>
                <a:latin typeface="Calibri"/>
              </a:rPr>
              <a:t>Refraction and Refractive Index</a:t>
            </a:r>
          </a:p>
        </p:txBody>
      </p:sp>
      <p:sp>
        <p:nvSpPr>
          <p:cNvPr id="6" name="TextBox 5"/>
          <p:cNvSpPr txBox="1"/>
          <p:nvPr/>
        </p:nvSpPr>
        <p:spPr>
          <a:xfrm>
            <a:off x="777240" y="4114800"/>
            <a:ext cx="7315200" cy="822960"/>
          </a:xfrm>
          <a:prstGeom prst="rect">
            <a:avLst/>
          </a:prstGeom>
          <a:noFill/>
        </p:spPr>
        <p:txBody>
          <a:bodyPr wrap="square" anchor="t" lIns="0" rIns="0" tIns="0" bIns="0">
            <a:spAutoFit/>
          </a:bodyPr>
          <a:lstStyle/>
          <a:p>
            <a:pPr algn="l"/>
            <a:r>
              <a:rPr sz="1800" b="0" i="0">
                <a:solidFill>
                  <a:srgbClr val="CADCFC"/>
                </a:solidFill>
                <a:latin typeface="Calibri"/>
              </a:rPr>
              <a:t>Why light bends, and how we measure the bending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REFRACTION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What Is Refraction?</a:t>
            </a:r>
          </a:p>
        </p:txBody>
      </p:sp>
      <p:pic>
        <p:nvPicPr>
          <p:cNvPr id="6" name="Picture 5" descr="mh10_refr_bend.png"/>
          <p:cNvPicPr>
            <a:picLocks noChangeAspect="1"/>
          </p:cNvPicPr>
          <p:nvPr/>
        </p:nvPicPr>
        <p:blipFill>
          <a:blip r:embed="rId2"/>
          <a:stretch>
            <a:fillRect/>
          </a:stretch>
        </p:blipFill>
        <p:spPr>
          <a:xfrm>
            <a:off x="6613855" y="1965960"/>
            <a:ext cx="4754880" cy="3657600"/>
          </a:xfrm>
          <a:prstGeom prst="rect">
            <a:avLst/>
          </a:prstGeom>
        </p:spPr>
      </p:pic>
      <p:sp>
        <p:nvSpPr>
          <p:cNvPr id="7" name="Rounded Rectangle 6"/>
          <p:cNvSpPr/>
          <p:nvPr/>
        </p:nvSpPr>
        <p:spPr>
          <a:xfrm>
            <a:off x="822960" y="1828800"/>
            <a:ext cx="5669280" cy="393192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057400"/>
            <a:ext cx="5029200" cy="411480"/>
          </a:xfrm>
          <a:prstGeom prst="rect">
            <a:avLst/>
          </a:prstGeom>
          <a:noFill/>
        </p:spPr>
        <p:txBody>
          <a:bodyPr wrap="square" anchor="t" lIns="0" rIns="0" tIns="0" bIns="0">
            <a:spAutoFit/>
          </a:bodyPr>
          <a:lstStyle/>
          <a:p>
            <a:pPr algn="l"/>
            <a:r>
              <a:rPr sz="1800" b="1" i="0">
                <a:solidFill>
                  <a:srgbClr val="0A9396"/>
                </a:solidFill>
                <a:latin typeface="Calibri"/>
              </a:rPr>
              <a:t>Bending at a boundary</a:t>
            </a:r>
          </a:p>
        </p:txBody>
      </p:sp>
      <p:sp>
        <p:nvSpPr>
          <p:cNvPr id="9" name="TextBox 8"/>
          <p:cNvSpPr txBox="1"/>
          <p:nvPr/>
        </p:nvSpPr>
        <p:spPr>
          <a:xfrm>
            <a:off x="1143000" y="2606040"/>
            <a:ext cx="5074920" cy="3063240"/>
          </a:xfrm>
          <a:prstGeom prst="rect">
            <a:avLst/>
          </a:prstGeom>
          <a:noFill/>
        </p:spPr>
        <p:txBody>
          <a:bodyPr wrap="square" anchor="t" lIns="0" rIns="0" tIns="0" bIns="0">
            <a:spAutoFit/>
          </a:bodyPr>
          <a:lstStyle/>
          <a:p>
            <a:pPr algn="l">
              <a:lnSpc>
                <a:spcPct val="105000"/>
              </a:lnSpc>
              <a:spcAft>
                <a:spcPts val="900"/>
              </a:spcAft>
            </a:pPr>
            <a:r>
              <a:rPr sz="1500" b="1" i="0">
                <a:solidFill>
                  <a:srgbClr val="0A9396"/>
                </a:solidFill>
                <a:latin typeface="Calibri"/>
              </a:rPr>
              <a:t>•  </a:t>
            </a:r>
            <a:r>
              <a:rPr sz="1500" b="0" i="0">
                <a:solidFill>
                  <a:srgbClr val="1D2433"/>
                </a:solidFill>
                <a:latin typeface="Calibri"/>
              </a:rPr>
              <a:t>When light passes from one transparent medium into another, it changes speed and bends at the boundary — this is refraction.</a:t>
            </a:r>
          </a:p>
          <a:p>
            <a:pPr algn="l">
              <a:lnSpc>
                <a:spcPct val="105000"/>
              </a:lnSpc>
              <a:spcAft>
                <a:spcPts val="900"/>
              </a:spcAft>
            </a:pPr>
            <a:r>
              <a:rPr sz="1500" b="1" i="0">
                <a:solidFill>
                  <a:srgbClr val="0A9396"/>
                </a:solidFill>
                <a:latin typeface="Calibri"/>
              </a:rPr>
              <a:t>•  </a:t>
            </a:r>
            <a:r>
              <a:rPr sz="1500" b="0" i="0">
                <a:solidFill>
                  <a:srgbClr val="1D2433"/>
                </a:solidFill>
                <a:latin typeface="Calibri"/>
              </a:rPr>
              <a:t>Light bends towards the normal when it enters a denser medium (e.g. air to glass), and away from the normal when it enters a rarer medium (e.g. glass to air).</a:t>
            </a:r>
          </a:p>
          <a:p>
            <a:pPr algn="l">
              <a:lnSpc>
                <a:spcPct val="105000"/>
              </a:lnSpc>
              <a:spcAft>
                <a:spcPts val="900"/>
              </a:spcAft>
            </a:pPr>
            <a:r>
              <a:rPr sz="1500" b="1" i="0">
                <a:solidFill>
                  <a:srgbClr val="0A9396"/>
                </a:solidFill>
                <a:latin typeface="Calibri"/>
              </a:rPr>
              <a:t>•  </a:t>
            </a:r>
            <a:r>
              <a:rPr sz="1500" b="0" i="0">
                <a:solidFill>
                  <a:srgbClr val="1D2433"/>
                </a:solidFill>
                <a:latin typeface="Calibri"/>
              </a:rPr>
              <a:t>A ray travelling exactly along the normal does not bend at all, though its speed still changes.</a:t>
            </a:r>
          </a:p>
          <a:p>
            <a:pPr algn="l">
              <a:lnSpc>
                <a:spcPct val="105000"/>
              </a:lnSpc>
              <a:spcAft>
                <a:spcPts val="900"/>
              </a:spcAft>
            </a:pPr>
            <a:r>
              <a:rPr sz="1500" b="1" i="0">
                <a:solidFill>
                  <a:srgbClr val="0A9396"/>
                </a:solidFill>
                <a:latin typeface="Calibri"/>
              </a:rPr>
              <a:t>•  </a:t>
            </a:r>
            <a:r>
              <a:rPr sz="1500" b="0" i="0">
                <a:solidFill>
                  <a:srgbClr val="1D2433"/>
                </a:solidFill>
                <a:latin typeface="Calibri"/>
              </a:rPr>
              <a:t>Refraction happens because the speed of light is different in different media; the frequency stays the same but the wavelength changes.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LAWS OF REFRACTION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The Two Laws of Refraction</a:t>
            </a:r>
          </a:p>
        </p:txBody>
      </p:sp>
      <p:sp>
        <p:nvSpPr>
          <p:cNvPr id="6" name="Rounded Rectangle 5"/>
          <p:cNvSpPr/>
          <p:nvPr/>
        </p:nvSpPr>
        <p:spPr>
          <a:xfrm>
            <a:off x="640080" y="1828800"/>
            <a:ext cx="10881360" cy="1371600"/>
          </a:xfrm>
          <a:prstGeom prst="roundRect">
            <a:avLst>
              <a:gd name="adj" fmla="val 6000"/>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49840" cy="1371600"/>
          </a:xfrm>
          <a:prstGeom prst="rect">
            <a:avLst/>
          </a:prstGeom>
          <a:noFill/>
        </p:spPr>
        <p:txBody>
          <a:bodyPr wrap="square" anchor="ctr" lIns="0" rIns="0" tIns="0" bIns="0">
            <a:spAutoFit/>
          </a:bodyPr>
          <a:lstStyle/>
          <a:p>
            <a:pPr algn="l"/>
            <a:r>
              <a:rPr sz="1900" b="1" i="0">
                <a:solidFill>
                  <a:srgbClr val="FFFFFF"/>
                </a:solidFill>
                <a:latin typeface="Calibri"/>
              </a:rPr>
              <a:t>First law: the incident ray, the refracted ray and the normal at the point of incidence all lie in the same plane.</a:t>
            </a:r>
          </a:p>
        </p:txBody>
      </p:sp>
      <p:sp>
        <p:nvSpPr>
          <p:cNvPr id="8" name="TextBox 7"/>
          <p:cNvSpPr txBox="1"/>
          <p:nvPr/>
        </p:nvSpPr>
        <p:spPr>
          <a:xfrm>
            <a:off x="1005840" y="3474720"/>
            <a:ext cx="10058400" cy="2423160"/>
          </a:xfrm>
          <a:prstGeom prst="rect">
            <a:avLst/>
          </a:prstGeom>
          <a:noFill/>
        </p:spPr>
        <p:txBody>
          <a:bodyPr wrap="square" anchor="t" lIns="0" rIns="0" tIns="0" bIns="0">
            <a:spAutoFit/>
          </a:bodyPr>
          <a:lstStyle/>
          <a:p>
            <a:pPr algn="l">
              <a:spcAft>
                <a:spcPts val="900"/>
              </a:spcAft>
            </a:pPr>
            <a:r>
              <a:rPr sz="1500" b="1" i="0">
                <a:solidFill>
                  <a:srgbClr val="0A9396"/>
                </a:solidFill>
                <a:latin typeface="Calibri"/>
              </a:rPr>
              <a:t>•  </a:t>
            </a:r>
            <a:r>
              <a:rPr sz="1500" b="0" i="0">
                <a:solidFill>
                  <a:srgbClr val="1D2433"/>
                </a:solidFill>
                <a:latin typeface="Calibri"/>
              </a:rPr>
              <a:t>Second law (Snell's law): the ratio of the sine of the angle of incidence to the sine of the angle of refraction is constant for a given pair of media.</a:t>
            </a:r>
          </a:p>
          <a:p>
            <a:pPr algn="l">
              <a:spcAft>
                <a:spcPts val="900"/>
              </a:spcAft>
            </a:pPr>
            <a:r>
              <a:rPr sz="1500" b="1" i="0">
                <a:solidFill>
                  <a:srgbClr val="0A9396"/>
                </a:solidFill>
                <a:latin typeface="Calibri"/>
              </a:rPr>
              <a:t>•  </a:t>
            </a:r>
            <a:r>
              <a:rPr sz="1500" b="0" i="0">
                <a:solidFill>
                  <a:srgbClr val="1D2433"/>
                </a:solidFill>
                <a:latin typeface="Calibri"/>
              </a:rPr>
              <a:t>This constant is called the refractive index of the second medium with respect to the first.</a:t>
            </a:r>
          </a:p>
          <a:p>
            <a:pPr algn="l">
              <a:spcAft>
                <a:spcPts val="900"/>
              </a:spcAft>
            </a:pPr>
            <a:r>
              <a:rPr sz="1500" b="1" i="0">
                <a:solidFill>
                  <a:srgbClr val="0A9396"/>
                </a:solidFill>
                <a:latin typeface="Calibri"/>
              </a:rPr>
              <a:t>•  </a:t>
            </a:r>
            <a:r>
              <a:rPr sz="1500" b="0" i="0">
                <a:solidFill>
                  <a:srgbClr val="1D2433"/>
                </a:solidFill>
                <a:latin typeface="Calibri"/>
              </a:rPr>
              <a:t>Snell's law is written as: sin i / sin r = constant = ₁n₂</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REFRACTIVE INDEX</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Absolute Refractive Index</a:t>
            </a:r>
          </a:p>
        </p:txBody>
      </p:sp>
      <p:sp>
        <p:nvSpPr>
          <p:cNvPr id="6" name="Rounded Rectangle 5"/>
          <p:cNvSpPr/>
          <p:nvPr/>
        </p:nvSpPr>
        <p:spPr>
          <a:xfrm>
            <a:off x="640080" y="1828800"/>
            <a:ext cx="10881360" cy="1371600"/>
          </a:xfrm>
          <a:prstGeom prst="roundRect">
            <a:avLst>
              <a:gd name="adj" fmla="val 6000"/>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49840" cy="1371600"/>
          </a:xfrm>
          <a:prstGeom prst="rect">
            <a:avLst/>
          </a:prstGeom>
          <a:noFill/>
        </p:spPr>
        <p:txBody>
          <a:bodyPr wrap="square" anchor="ctr" lIns="0" rIns="0" tIns="0" bIns="0">
            <a:spAutoFit/>
          </a:bodyPr>
          <a:lstStyle/>
          <a:p>
            <a:pPr algn="l"/>
            <a:r>
              <a:rPr sz="1900" b="1" i="0">
                <a:solidFill>
                  <a:srgbClr val="FFFFFF"/>
                </a:solidFill>
                <a:latin typeface="Calibri"/>
              </a:rPr>
              <a:t>The absolute refractive index of a medium is the ratio of the speed of light in vacuum (or air) to its speed in that medium.</a:t>
            </a:r>
          </a:p>
        </p:txBody>
      </p:sp>
      <p:sp>
        <p:nvSpPr>
          <p:cNvPr id="8" name="Rounded Rectangle 7"/>
          <p:cNvSpPr/>
          <p:nvPr/>
        </p:nvSpPr>
        <p:spPr>
          <a:xfrm>
            <a:off x="640080" y="3429000"/>
            <a:ext cx="10881360" cy="914400"/>
          </a:xfrm>
          <a:prstGeom prst="roundRect">
            <a:avLst>
              <a:gd name="adj" fmla="val 8000"/>
            </a:avLst>
          </a:prstGeom>
          <a:solidFill>
            <a:srgbClr val="FFF6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429000"/>
            <a:ext cx="10149840" cy="914400"/>
          </a:xfrm>
          <a:prstGeom prst="rect">
            <a:avLst/>
          </a:prstGeom>
          <a:noFill/>
        </p:spPr>
        <p:txBody>
          <a:bodyPr wrap="square" anchor="ctr" lIns="0" rIns="0" tIns="0" bIns="0">
            <a:spAutoFit/>
          </a:bodyPr>
          <a:lstStyle/>
          <a:p>
            <a:pPr algn="ctr"/>
            <a:r>
              <a:rPr sz="2400" b="1" i="0">
                <a:solidFill>
                  <a:srgbClr val="F4801A"/>
                </a:solidFill>
                <a:latin typeface="Calibri"/>
              </a:rPr>
              <a:t>n = c / v</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REFERENCE VALUES</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Absolute Refractive Indices of Common Media</a:t>
            </a:r>
          </a:p>
        </p:txBody>
      </p:sp>
      <p:sp>
        <p:nvSpPr>
          <p:cNvPr id="6" name="Rounded Rectangle 5"/>
          <p:cNvSpPr/>
          <p:nvPr/>
        </p:nvSpPr>
        <p:spPr>
          <a:xfrm>
            <a:off x="640080" y="1920240"/>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19" y="2212848"/>
            <a:ext cx="502920" cy="502920"/>
          </a:xfrm>
          <a:prstGeom prst="roundRect">
            <a:avLst>
              <a:gd name="adj" fmla="val 30000"/>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park_FFFFFF.png"/>
          <p:cNvPicPr>
            <a:picLocks noChangeAspect="1"/>
          </p:cNvPicPr>
          <p:nvPr/>
        </p:nvPicPr>
        <p:blipFill>
          <a:blip r:embed="rId2"/>
          <a:stretch>
            <a:fillRect/>
          </a:stretch>
        </p:blipFill>
        <p:spPr>
          <a:xfrm>
            <a:off x="1070762" y="2323490"/>
            <a:ext cx="281635" cy="281635"/>
          </a:xfrm>
          <a:prstGeom prst="rect">
            <a:avLst/>
          </a:prstGeom>
        </p:spPr>
      </p:pic>
      <p:sp>
        <p:nvSpPr>
          <p:cNvPr id="9" name="TextBox 8"/>
          <p:cNvSpPr txBox="1"/>
          <p:nvPr/>
        </p:nvSpPr>
        <p:spPr>
          <a:xfrm>
            <a:off x="1645920" y="2176272"/>
            <a:ext cx="3931920" cy="457200"/>
          </a:xfrm>
          <a:prstGeom prst="rect">
            <a:avLst/>
          </a:prstGeom>
          <a:noFill/>
        </p:spPr>
        <p:txBody>
          <a:bodyPr wrap="square" anchor="t" lIns="0" rIns="0" tIns="0" bIns="0">
            <a:spAutoFit/>
          </a:bodyPr>
          <a:lstStyle/>
          <a:p>
            <a:pPr algn="l"/>
            <a:r>
              <a:rPr sz="1700" b="1" i="0">
                <a:solidFill>
                  <a:srgbClr val="1D2433"/>
                </a:solidFill>
                <a:latin typeface="Calibri"/>
              </a:rPr>
              <a:t>Air</a:t>
            </a:r>
          </a:p>
        </p:txBody>
      </p:sp>
      <p:sp>
        <p:nvSpPr>
          <p:cNvPr id="10" name="TextBox 9"/>
          <p:cNvSpPr txBox="1"/>
          <p:nvPr/>
        </p:nvSpPr>
        <p:spPr>
          <a:xfrm>
            <a:off x="1645920" y="2670048"/>
            <a:ext cx="3931920" cy="685800"/>
          </a:xfrm>
          <a:prstGeom prst="rect">
            <a:avLst/>
          </a:prstGeom>
          <a:noFill/>
        </p:spPr>
        <p:txBody>
          <a:bodyPr wrap="square" anchor="t" lIns="0" rIns="0" tIns="0" bIns="0">
            <a:spAutoFit/>
          </a:bodyPr>
          <a:lstStyle/>
          <a:p>
            <a:pPr algn="l"/>
            <a:r>
              <a:rPr sz="1350" b="0" i="0">
                <a:solidFill>
                  <a:srgbClr val="6B7280"/>
                </a:solidFill>
                <a:latin typeface="Calibri"/>
              </a:rPr>
              <a:t>n ≈ 1.0003 (taken as 1 for most calculations)</a:t>
            </a:r>
          </a:p>
        </p:txBody>
      </p:sp>
      <p:sp>
        <p:nvSpPr>
          <p:cNvPr id="11" name="Rounded Rectangle 10"/>
          <p:cNvSpPr/>
          <p:nvPr/>
        </p:nvSpPr>
        <p:spPr>
          <a:xfrm>
            <a:off x="6217920" y="1920240"/>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37960" y="2212848"/>
            <a:ext cx="502920" cy="502920"/>
          </a:xfrm>
          <a:prstGeom prst="roundRect">
            <a:avLst>
              <a:gd name="adj" fmla="val 30000"/>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rop_FFFFFF.png"/>
          <p:cNvPicPr>
            <a:picLocks noChangeAspect="1"/>
          </p:cNvPicPr>
          <p:nvPr/>
        </p:nvPicPr>
        <p:blipFill>
          <a:blip r:embed="rId3"/>
          <a:stretch>
            <a:fillRect/>
          </a:stretch>
        </p:blipFill>
        <p:spPr>
          <a:xfrm>
            <a:off x="6648602" y="2323490"/>
            <a:ext cx="281635" cy="281635"/>
          </a:xfrm>
          <a:prstGeom prst="rect">
            <a:avLst/>
          </a:prstGeom>
        </p:spPr>
      </p:pic>
      <p:sp>
        <p:nvSpPr>
          <p:cNvPr id="14" name="TextBox 13"/>
          <p:cNvSpPr txBox="1"/>
          <p:nvPr/>
        </p:nvSpPr>
        <p:spPr>
          <a:xfrm>
            <a:off x="7223760" y="2176272"/>
            <a:ext cx="3931920" cy="457200"/>
          </a:xfrm>
          <a:prstGeom prst="rect">
            <a:avLst/>
          </a:prstGeom>
          <a:noFill/>
        </p:spPr>
        <p:txBody>
          <a:bodyPr wrap="square" anchor="t" lIns="0" rIns="0" tIns="0" bIns="0">
            <a:spAutoFit/>
          </a:bodyPr>
          <a:lstStyle/>
          <a:p>
            <a:pPr algn="l"/>
            <a:r>
              <a:rPr sz="1700" b="1" i="0">
                <a:solidFill>
                  <a:srgbClr val="1D2433"/>
                </a:solidFill>
                <a:latin typeface="Calibri"/>
              </a:rPr>
              <a:t>Water</a:t>
            </a:r>
          </a:p>
        </p:txBody>
      </p:sp>
      <p:sp>
        <p:nvSpPr>
          <p:cNvPr id="15" name="TextBox 14"/>
          <p:cNvSpPr txBox="1"/>
          <p:nvPr/>
        </p:nvSpPr>
        <p:spPr>
          <a:xfrm>
            <a:off x="7223760" y="2670048"/>
            <a:ext cx="3931920" cy="685800"/>
          </a:xfrm>
          <a:prstGeom prst="rect">
            <a:avLst/>
          </a:prstGeom>
          <a:noFill/>
        </p:spPr>
        <p:txBody>
          <a:bodyPr wrap="square" anchor="t" lIns="0" rIns="0" tIns="0" bIns="0">
            <a:spAutoFit/>
          </a:bodyPr>
          <a:lstStyle/>
          <a:p>
            <a:pPr algn="l"/>
            <a:r>
              <a:rPr sz="1350" b="0" i="0">
                <a:solidFill>
                  <a:srgbClr val="6B7280"/>
                </a:solidFill>
                <a:latin typeface="Calibri"/>
              </a:rPr>
              <a:t>n = 1.33 — light travels at about 2.26 x 10⁸ m/s</a:t>
            </a:r>
          </a:p>
        </p:txBody>
      </p:sp>
      <p:sp>
        <p:nvSpPr>
          <p:cNvPr id="16" name="Rounded Rectangle 15"/>
          <p:cNvSpPr/>
          <p:nvPr/>
        </p:nvSpPr>
        <p:spPr>
          <a:xfrm>
            <a:off x="640080" y="3749039"/>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60119" y="4041648"/>
            <a:ext cx="502920" cy="502920"/>
          </a:xfrm>
          <a:prstGeom prst="roundRect">
            <a:avLst>
              <a:gd name="adj" fmla="val 3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park_FFFFFF.png"/>
          <p:cNvPicPr>
            <a:picLocks noChangeAspect="1"/>
          </p:cNvPicPr>
          <p:nvPr/>
        </p:nvPicPr>
        <p:blipFill>
          <a:blip r:embed="rId2"/>
          <a:stretch>
            <a:fillRect/>
          </a:stretch>
        </p:blipFill>
        <p:spPr>
          <a:xfrm>
            <a:off x="1070762" y="4152290"/>
            <a:ext cx="281635" cy="281635"/>
          </a:xfrm>
          <a:prstGeom prst="rect">
            <a:avLst/>
          </a:prstGeom>
        </p:spPr>
      </p:pic>
      <p:sp>
        <p:nvSpPr>
          <p:cNvPr id="19" name="TextBox 18"/>
          <p:cNvSpPr txBox="1"/>
          <p:nvPr/>
        </p:nvSpPr>
        <p:spPr>
          <a:xfrm>
            <a:off x="1645920" y="4005072"/>
            <a:ext cx="3931920" cy="457200"/>
          </a:xfrm>
          <a:prstGeom prst="rect">
            <a:avLst/>
          </a:prstGeom>
          <a:noFill/>
        </p:spPr>
        <p:txBody>
          <a:bodyPr wrap="square" anchor="t" lIns="0" rIns="0" tIns="0" bIns="0">
            <a:spAutoFit/>
          </a:bodyPr>
          <a:lstStyle/>
          <a:p>
            <a:pPr algn="l"/>
            <a:r>
              <a:rPr sz="1700" b="1" i="0">
                <a:solidFill>
                  <a:srgbClr val="1D2433"/>
                </a:solidFill>
                <a:latin typeface="Calibri"/>
              </a:rPr>
              <a:t>Glass (crown)</a:t>
            </a:r>
          </a:p>
        </p:txBody>
      </p:sp>
      <p:sp>
        <p:nvSpPr>
          <p:cNvPr id="20" name="TextBox 19"/>
          <p:cNvSpPr txBox="1"/>
          <p:nvPr/>
        </p:nvSpPr>
        <p:spPr>
          <a:xfrm>
            <a:off x="1645920" y="4498848"/>
            <a:ext cx="3931920" cy="685800"/>
          </a:xfrm>
          <a:prstGeom prst="rect">
            <a:avLst/>
          </a:prstGeom>
          <a:noFill/>
        </p:spPr>
        <p:txBody>
          <a:bodyPr wrap="square" anchor="t" lIns="0" rIns="0" tIns="0" bIns="0">
            <a:spAutoFit/>
          </a:bodyPr>
          <a:lstStyle/>
          <a:p>
            <a:pPr algn="l"/>
            <a:r>
              <a:rPr sz="1350" b="0" i="0">
                <a:solidFill>
                  <a:srgbClr val="6B7280"/>
                </a:solidFill>
                <a:latin typeface="Calibri"/>
              </a:rPr>
              <a:t>n = 1.5 — light travels at about 2 x 10⁸ m/s</a:t>
            </a:r>
          </a:p>
        </p:txBody>
      </p:sp>
      <p:sp>
        <p:nvSpPr>
          <p:cNvPr id="21" name="Rounded Rectangle 20"/>
          <p:cNvSpPr/>
          <p:nvPr/>
        </p:nvSpPr>
        <p:spPr>
          <a:xfrm>
            <a:off x="6217920" y="3749039"/>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37960" y="4041648"/>
            <a:ext cx="502920" cy="502920"/>
          </a:xfrm>
          <a:prstGeom prst="roundRect">
            <a:avLst>
              <a:gd name="adj" fmla="val 30000"/>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spark_FFFFFF.png"/>
          <p:cNvPicPr>
            <a:picLocks noChangeAspect="1"/>
          </p:cNvPicPr>
          <p:nvPr/>
        </p:nvPicPr>
        <p:blipFill>
          <a:blip r:embed="rId2"/>
          <a:stretch>
            <a:fillRect/>
          </a:stretch>
        </p:blipFill>
        <p:spPr>
          <a:xfrm>
            <a:off x="6648602" y="4152290"/>
            <a:ext cx="281635" cy="281635"/>
          </a:xfrm>
          <a:prstGeom prst="rect">
            <a:avLst/>
          </a:prstGeom>
        </p:spPr>
      </p:pic>
      <p:sp>
        <p:nvSpPr>
          <p:cNvPr id="24" name="TextBox 23"/>
          <p:cNvSpPr txBox="1"/>
          <p:nvPr/>
        </p:nvSpPr>
        <p:spPr>
          <a:xfrm>
            <a:off x="7223760" y="4005072"/>
            <a:ext cx="3931920" cy="457200"/>
          </a:xfrm>
          <a:prstGeom prst="rect">
            <a:avLst/>
          </a:prstGeom>
          <a:noFill/>
        </p:spPr>
        <p:txBody>
          <a:bodyPr wrap="square" anchor="t" lIns="0" rIns="0" tIns="0" bIns="0">
            <a:spAutoFit/>
          </a:bodyPr>
          <a:lstStyle/>
          <a:p>
            <a:pPr algn="l"/>
            <a:r>
              <a:rPr sz="1700" b="1" i="0">
                <a:solidFill>
                  <a:srgbClr val="1D2433"/>
                </a:solidFill>
                <a:latin typeface="Calibri"/>
              </a:rPr>
              <a:t>Diamond</a:t>
            </a:r>
          </a:p>
        </p:txBody>
      </p:sp>
      <p:sp>
        <p:nvSpPr>
          <p:cNvPr id="25" name="TextBox 24"/>
          <p:cNvSpPr txBox="1"/>
          <p:nvPr/>
        </p:nvSpPr>
        <p:spPr>
          <a:xfrm>
            <a:off x="7223760" y="4498848"/>
            <a:ext cx="3931920" cy="685800"/>
          </a:xfrm>
          <a:prstGeom prst="rect">
            <a:avLst/>
          </a:prstGeom>
          <a:noFill/>
        </p:spPr>
        <p:txBody>
          <a:bodyPr wrap="square" anchor="t" lIns="0" rIns="0" tIns="0" bIns="0">
            <a:spAutoFit/>
          </a:bodyPr>
          <a:lstStyle/>
          <a:p>
            <a:pPr algn="l"/>
            <a:r>
              <a:rPr sz="1350" b="0" i="0">
                <a:solidFill>
                  <a:srgbClr val="6B7280"/>
                </a:solidFill>
                <a:latin typeface="Calibri"/>
              </a:rPr>
              <a:t>n = 2.42 — the highest of common transparent materials, which is why it sparkles so brilliantly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RELATIVE REFRACTIVE INDEX</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Refractive Index Between Two Media</a:t>
            </a:r>
          </a:p>
        </p:txBody>
      </p:sp>
      <p:sp>
        <p:nvSpPr>
          <p:cNvPr id="6" name="Rounded Rectangle 5"/>
          <p:cNvSpPr/>
          <p:nvPr/>
        </p:nvSpPr>
        <p:spPr>
          <a:xfrm>
            <a:off x="640080" y="1828800"/>
            <a:ext cx="10881360" cy="1371600"/>
          </a:xfrm>
          <a:prstGeom prst="roundRect">
            <a:avLst>
              <a:gd name="adj" fmla="val 6000"/>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49840" cy="1371600"/>
          </a:xfrm>
          <a:prstGeom prst="rect">
            <a:avLst/>
          </a:prstGeom>
          <a:noFill/>
        </p:spPr>
        <p:txBody>
          <a:bodyPr wrap="square" anchor="ctr" lIns="0" rIns="0" tIns="0" bIns="0">
            <a:spAutoFit/>
          </a:bodyPr>
          <a:lstStyle/>
          <a:p>
            <a:pPr algn="l"/>
            <a:r>
              <a:rPr sz="1900" b="1" i="0">
                <a:solidFill>
                  <a:srgbClr val="FFFFFF"/>
                </a:solidFill>
                <a:latin typeface="Calibri"/>
              </a:rPr>
              <a:t>When light travels from medium 1 into medium 2, the refractive index of medium 2 with respect to medium 1 relates their absolute indices and speeds.</a:t>
            </a:r>
          </a:p>
        </p:txBody>
      </p:sp>
      <p:sp>
        <p:nvSpPr>
          <p:cNvPr id="8" name="Rounded Rectangle 7"/>
          <p:cNvSpPr/>
          <p:nvPr/>
        </p:nvSpPr>
        <p:spPr>
          <a:xfrm>
            <a:off x="640080" y="3429000"/>
            <a:ext cx="10881360" cy="914400"/>
          </a:xfrm>
          <a:prstGeom prst="roundRect">
            <a:avLst>
              <a:gd name="adj" fmla="val 8000"/>
            </a:avLst>
          </a:prstGeom>
          <a:solidFill>
            <a:srgbClr val="FFF6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429000"/>
            <a:ext cx="10149840" cy="914400"/>
          </a:xfrm>
          <a:prstGeom prst="rect">
            <a:avLst/>
          </a:prstGeom>
          <a:noFill/>
        </p:spPr>
        <p:txBody>
          <a:bodyPr wrap="square" anchor="ctr" lIns="0" rIns="0" tIns="0" bIns="0">
            <a:spAutoFit/>
          </a:bodyPr>
          <a:lstStyle/>
          <a:p>
            <a:pPr algn="ctr"/>
            <a:r>
              <a:rPr sz="2400" b="1" i="0">
                <a:solidFill>
                  <a:srgbClr val="F4801A"/>
                </a:solidFill>
                <a:latin typeface="Calibri"/>
              </a:rPr>
              <a:t>₁n₂ = n₂ / n₁ = v₁ / v₂ = sin i / sin r</a:t>
            </a:r>
          </a:p>
        </p:txBody>
      </p:sp>
      <p:sp>
        <p:nvSpPr>
          <p:cNvPr id="10" name="TextBox 9"/>
          <p:cNvSpPr txBox="1"/>
          <p:nvPr/>
        </p:nvSpPr>
        <p:spPr>
          <a:xfrm>
            <a:off x="1005840" y="4572000"/>
            <a:ext cx="10058400" cy="1325880"/>
          </a:xfrm>
          <a:prstGeom prst="rect">
            <a:avLst/>
          </a:prstGeom>
          <a:noFill/>
        </p:spPr>
        <p:txBody>
          <a:bodyPr wrap="square" anchor="t" lIns="0" rIns="0" tIns="0" bIns="0">
            <a:spAutoFit/>
          </a:bodyPr>
          <a:lstStyle/>
          <a:p>
            <a:pPr algn="l">
              <a:spcAft>
                <a:spcPts val="900"/>
              </a:spcAft>
            </a:pPr>
            <a:r>
              <a:rPr sz="1500" b="1" i="0">
                <a:solidFill>
                  <a:srgbClr val="0A9396"/>
                </a:solidFill>
                <a:latin typeface="Calibri"/>
              </a:rPr>
              <a:t>•  </a:t>
            </a:r>
            <a:r>
              <a:rPr sz="1500" b="0" i="0">
                <a:solidFill>
                  <a:srgbClr val="1D2433"/>
                </a:solidFill>
                <a:latin typeface="Calibri"/>
              </a:rPr>
              <a:t>If medium 2 is denser than medium 1, ₁n₂ &gt; 1 and the ray bends towards the normal.</a:t>
            </a:r>
          </a:p>
          <a:p>
            <a:pPr algn="l">
              <a:spcAft>
                <a:spcPts val="900"/>
              </a:spcAft>
            </a:pPr>
            <a:r>
              <a:rPr sz="1500" b="1" i="0">
                <a:solidFill>
                  <a:srgbClr val="0A9396"/>
                </a:solidFill>
                <a:latin typeface="Calibri"/>
              </a:rPr>
              <a:t>•  </a:t>
            </a:r>
            <a:r>
              <a:rPr sz="1500" b="0" i="0">
                <a:solidFill>
                  <a:srgbClr val="1D2433"/>
                </a:solidFill>
                <a:latin typeface="Calibri"/>
              </a:rPr>
              <a:t>If medium 2 is rarer than medium 1, ₁n₂ &lt; 1 and the ray bends away from the normal.</a:t>
            </a:r>
          </a:p>
          <a:p>
            <a:pPr algn="l">
              <a:spcAft>
                <a:spcPts val="900"/>
              </a:spcAft>
            </a:pPr>
            <a:r>
              <a:rPr sz="1500" b="1" i="0">
                <a:solidFill>
                  <a:srgbClr val="0A9396"/>
                </a:solidFill>
                <a:latin typeface="Calibri"/>
              </a:rPr>
              <a:t>•  </a:t>
            </a:r>
            <a:r>
              <a:rPr sz="1500" b="0" i="0">
                <a:solidFill>
                  <a:srgbClr val="1D2433"/>
                </a:solidFill>
                <a:latin typeface="Calibri"/>
              </a:rPr>
              <a:t>₁n₂ and ₂n₁ are reciprocals of each other: ₁n₂ = 1 / ₂n₁</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WORKED EXAMPLE</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Finding the Speed of Light in Glass</a:t>
            </a:r>
          </a:p>
        </p:txBody>
      </p:sp>
      <p:sp>
        <p:nvSpPr>
          <p:cNvPr id="6" name="Rounded Rectangle 5"/>
          <p:cNvSpPr/>
          <p:nvPr/>
        </p:nvSpPr>
        <p:spPr>
          <a:xfrm>
            <a:off x="640080" y="1828800"/>
            <a:ext cx="10881360" cy="1097280"/>
          </a:xfrm>
          <a:prstGeom prst="roundRect">
            <a:avLst>
              <a:gd name="adj" fmla="val 6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49840" cy="1097280"/>
          </a:xfrm>
          <a:prstGeom prst="rect">
            <a:avLst/>
          </a:prstGeom>
          <a:noFill/>
        </p:spPr>
        <p:txBody>
          <a:bodyPr wrap="square" anchor="ctr" lIns="0" rIns="0" tIns="0" bIns="0">
            <a:spAutoFit/>
          </a:bodyPr>
          <a:lstStyle/>
          <a:p>
            <a:pPr algn="l"/>
            <a:r>
              <a:rPr sz="1600" b="1" i="0">
                <a:solidFill>
                  <a:srgbClr val="0A9396"/>
                </a:solidFill>
                <a:latin typeface="Calibri"/>
              </a:rPr>
              <a:t>Problem.  </a:t>
            </a:r>
            <a:r>
              <a:rPr sz="1600" b="0" i="0">
                <a:solidFill>
                  <a:srgbClr val="1D2433"/>
                </a:solidFill>
                <a:latin typeface="Calibri"/>
              </a:rPr>
              <a:t>The absolute refractive index of glass is 1.5. Find the speed of light in glass. (Speed of light in vacuum = 3 x 10⁸ m/s.)</a:t>
            </a:r>
          </a:p>
        </p:txBody>
      </p:sp>
      <p:sp>
        <p:nvSpPr>
          <p:cNvPr id="8" name="Rounded Rectangle 7"/>
          <p:cNvSpPr/>
          <p:nvPr/>
        </p:nvSpPr>
        <p:spPr>
          <a:xfrm>
            <a:off x="640080" y="3108960"/>
            <a:ext cx="10881360" cy="2651760"/>
          </a:xfrm>
          <a:prstGeom prst="roundRect">
            <a:avLst>
              <a:gd name="adj" fmla="val 3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337560"/>
            <a:ext cx="10149840" cy="1828800"/>
          </a:xfrm>
          <a:prstGeom prst="rect">
            <a:avLst/>
          </a:prstGeom>
          <a:noFill/>
        </p:spPr>
        <p:txBody>
          <a:bodyPr wrap="square" anchor="t" lIns="0" rIns="0" tIns="0" bIns="0">
            <a:spAutoFit/>
          </a:bodyPr>
          <a:lstStyle/>
          <a:p>
            <a:pPr algn="l">
              <a:lnSpc>
                <a:spcPct val="105000"/>
              </a:lnSpc>
              <a:spcAft>
                <a:spcPts val="700"/>
              </a:spcAft>
            </a:pPr>
            <a:r>
              <a:rPr sz="1600" b="0" i="0">
                <a:solidFill>
                  <a:srgbClr val="1D2433"/>
                </a:solidFill>
                <a:latin typeface="Calibri"/>
              </a:rPr>
              <a:t>n = c / v</a:t>
            </a:r>
          </a:p>
          <a:p>
            <a:pPr algn="l">
              <a:lnSpc>
                <a:spcPct val="105000"/>
              </a:lnSpc>
              <a:spcAft>
                <a:spcPts val="700"/>
              </a:spcAft>
            </a:pPr>
            <a:r>
              <a:rPr sz="1600" b="0" i="0">
                <a:solidFill>
                  <a:srgbClr val="1D2433"/>
                </a:solidFill>
                <a:latin typeface="Calibri"/>
              </a:rPr>
              <a:t>1.5 = (3 x 10⁸) / v</a:t>
            </a:r>
          </a:p>
          <a:p>
            <a:pPr algn="l">
              <a:lnSpc>
                <a:spcPct val="105000"/>
              </a:lnSpc>
              <a:spcAft>
                <a:spcPts val="700"/>
              </a:spcAft>
            </a:pPr>
            <a:r>
              <a:rPr sz="1600" b="0" i="0">
                <a:solidFill>
                  <a:srgbClr val="1D2433"/>
                </a:solidFill>
                <a:latin typeface="Calibri"/>
              </a:rPr>
              <a:t>v = (3 x 10⁸) / 1.5</a:t>
            </a:r>
          </a:p>
        </p:txBody>
      </p:sp>
      <p:sp>
        <p:nvSpPr>
          <p:cNvPr id="10" name="Rounded Rectangle 9"/>
          <p:cNvSpPr/>
          <p:nvPr/>
        </p:nvSpPr>
        <p:spPr>
          <a:xfrm>
            <a:off x="640080" y="5074920"/>
            <a:ext cx="10881360" cy="594360"/>
          </a:xfrm>
          <a:prstGeom prst="roundRect">
            <a:avLst>
              <a:gd name="adj" fmla="val 12000"/>
            </a:avLst>
          </a:prstGeom>
          <a:solidFill>
            <a:srgbClr val="E9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074920"/>
            <a:ext cx="10149840" cy="594360"/>
          </a:xfrm>
          <a:prstGeom prst="rect">
            <a:avLst/>
          </a:prstGeom>
          <a:noFill/>
        </p:spPr>
        <p:txBody>
          <a:bodyPr wrap="square" anchor="ctr" lIns="0" rIns="0" tIns="0" bIns="0">
            <a:spAutoFit/>
          </a:bodyPr>
          <a:lstStyle/>
          <a:p>
            <a:pPr algn="l"/>
            <a:r>
              <a:rPr sz="1600" b="1" i="0">
                <a:solidFill>
                  <a:srgbClr val="2A9D8F"/>
                </a:solidFill>
                <a:latin typeface="Calibri"/>
              </a:rPr>
              <a:t>Answer:  </a:t>
            </a:r>
            <a:r>
              <a:rPr sz="1600" b="1" i="0">
                <a:solidFill>
                  <a:srgbClr val="1D2433"/>
                </a:solidFill>
                <a:latin typeface="Calibri"/>
              </a:rPr>
              <a:t>v = 2 x 10⁸ 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GLASS SLAB</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Refraction Through a Rectangular Glass Slab</a:t>
            </a:r>
          </a:p>
        </p:txBody>
      </p:sp>
      <p:pic>
        <p:nvPicPr>
          <p:cNvPr id="6" name="Picture 5" descr="mh10_refr_block.png"/>
          <p:cNvPicPr>
            <a:picLocks noChangeAspect="1"/>
          </p:cNvPicPr>
          <p:nvPr/>
        </p:nvPicPr>
        <p:blipFill>
          <a:blip r:embed="rId2"/>
          <a:stretch>
            <a:fillRect/>
          </a:stretch>
        </p:blipFill>
        <p:spPr>
          <a:xfrm>
            <a:off x="6613855" y="1965960"/>
            <a:ext cx="4754880" cy="3657600"/>
          </a:xfrm>
          <a:prstGeom prst="rect">
            <a:avLst/>
          </a:prstGeom>
        </p:spPr>
      </p:pic>
      <p:sp>
        <p:nvSpPr>
          <p:cNvPr id="7" name="Rounded Rectangle 6"/>
          <p:cNvSpPr/>
          <p:nvPr/>
        </p:nvSpPr>
        <p:spPr>
          <a:xfrm>
            <a:off x="822960" y="1828800"/>
            <a:ext cx="5669280" cy="393192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057400"/>
            <a:ext cx="5029200" cy="411480"/>
          </a:xfrm>
          <a:prstGeom prst="rect">
            <a:avLst/>
          </a:prstGeom>
          <a:noFill/>
        </p:spPr>
        <p:txBody>
          <a:bodyPr wrap="square" anchor="t" lIns="0" rIns="0" tIns="0" bIns="0">
            <a:spAutoFit/>
          </a:bodyPr>
          <a:lstStyle/>
          <a:p>
            <a:pPr algn="l"/>
            <a:r>
              <a:rPr sz="1800" b="1" i="0">
                <a:solidFill>
                  <a:srgbClr val="0A9396"/>
                </a:solidFill>
                <a:latin typeface="Calibri"/>
              </a:rPr>
              <a:t>Emergent ray is parallel but shifted</a:t>
            </a:r>
          </a:p>
        </p:txBody>
      </p:sp>
      <p:sp>
        <p:nvSpPr>
          <p:cNvPr id="9" name="TextBox 8"/>
          <p:cNvSpPr txBox="1"/>
          <p:nvPr/>
        </p:nvSpPr>
        <p:spPr>
          <a:xfrm>
            <a:off x="1143000" y="2606040"/>
            <a:ext cx="5074920" cy="3063240"/>
          </a:xfrm>
          <a:prstGeom prst="rect">
            <a:avLst/>
          </a:prstGeom>
          <a:noFill/>
        </p:spPr>
        <p:txBody>
          <a:bodyPr wrap="square" anchor="t" lIns="0" rIns="0" tIns="0" bIns="0">
            <a:spAutoFit/>
          </a:bodyPr>
          <a:lstStyle/>
          <a:p>
            <a:pPr algn="l">
              <a:lnSpc>
                <a:spcPct val="105000"/>
              </a:lnSpc>
              <a:spcAft>
                <a:spcPts val="900"/>
              </a:spcAft>
            </a:pPr>
            <a:r>
              <a:rPr sz="1500" b="1" i="0">
                <a:solidFill>
                  <a:srgbClr val="0A9396"/>
                </a:solidFill>
                <a:latin typeface="Calibri"/>
              </a:rPr>
              <a:t>•  </a:t>
            </a:r>
            <a:r>
              <a:rPr sz="1500" b="0" i="0">
                <a:solidFill>
                  <a:srgbClr val="1D2433"/>
                </a:solidFill>
                <a:latin typeface="Calibri"/>
              </a:rPr>
              <a:t>Light refracts twice — bending towards the normal on entering (air to glass) and away from the normal on leaving (glass to air).</a:t>
            </a:r>
          </a:p>
          <a:p>
            <a:pPr algn="l">
              <a:lnSpc>
                <a:spcPct val="105000"/>
              </a:lnSpc>
              <a:spcAft>
                <a:spcPts val="900"/>
              </a:spcAft>
            </a:pPr>
            <a:r>
              <a:rPr sz="1500" b="1" i="0">
                <a:solidFill>
                  <a:srgbClr val="0A9396"/>
                </a:solidFill>
                <a:latin typeface="Calibri"/>
              </a:rPr>
              <a:t>•  </a:t>
            </a:r>
            <a:r>
              <a:rPr sz="1500" b="0" i="0">
                <a:solidFill>
                  <a:srgbClr val="1D2433"/>
                </a:solidFill>
                <a:latin typeface="Calibri"/>
              </a:rPr>
              <a:t>The two parallel faces bend it by equal and opposite amounts, so the emergent ray is parallel to the incident ray.</a:t>
            </a:r>
          </a:p>
          <a:p>
            <a:pPr algn="l">
              <a:lnSpc>
                <a:spcPct val="105000"/>
              </a:lnSpc>
              <a:spcAft>
                <a:spcPts val="900"/>
              </a:spcAft>
            </a:pPr>
            <a:r>
              <a:rPr sz="1500" b="1" i="0">
                <a:solidFill>
                  <a:srgbClr val="0A9396"/>
                </a:solidFill>
                <a:latin typeface="Calibri"/>
              </a:rPr>
              <a:t>•  </a:t>
            </a:r>
            <a:r>
              <a:rPr sz="1500" b="0" i="0">
                <a:solidFill>
                  <a:srgbClr val="1D2433"/>
                </a:solidFill>
                <a:latin typeface="Calibri"/>
              </a:rPr>
              <a:t>The emergent ray is only shifted sideways from the original path — this shift is called lateral displacement.</a:t>
            </a:r>
          </a:p>
          <a:p>
            <a:pPr algn="l">
              <a:lnSpc>
                <a:spcPct val="105000"/>
              </a:lnSpc>
              <a:spcAft>
                <a:spcPts val="900"/>
              </a:spcAft>
            </a:pPr>
            <a:r>
              <a:rPr sz="1500" b="1" i="0">
                <a:solidFill>
                  <a:srgbClr val="0A9396"/>
                </a:solidFill>
                <a:latin typeface="Calibri"/>
              </a:rPr>
              <a:t>•  </a:t>
            </a:r>
            <a:r>
              <a:rPr sz="1500" b="0" i="0">
                <a:solidFill>
                  <a:srgbClr val="1D2433"/>
                </a:solidFill>
                <a:latin typeface="Calibri"/>
              </a:rPr>
              <a:t>Lateral displacement increases with the thickness of the slab and the angle of incidence.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8778240" y="-1371600"/>
            <a:ext cx="4754880" cy="47548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011680"/>
            <a:ext cx="8229600" cy="457200"/>
          </a:xfrm>
          <a:prstGeom prst="rect">
            <a:avLst/>
          </a:prstGeom>
          <a:noFill/>
        </p:spPr>
        <p:txBody>
          <a:bodyPr wrap="square" anchor="t" lIns="0" rIns="0" tIns="0" bIns="0">
            <a:spAutoFit/>
          </a:bodyPr>
          <a:lstStyle/>
          <a:p>
            <a:pPr algn="l"/>
            <a:r>
              <a:rPr sz="1600" b="1" i="0">
                <a:solidFill>
                  <a:srgbClr val="FFC300"/>
                </a:solidFill>
                <a:latin typeface="Arial"/>
              </a:rPr>
              <a:t>QUIZ 1</a:t>
            </a:r>
          </a:p>
        </p:txBody>
      </p:sp>
      <p:sp>
        <p:nvSpPr>
          <p:cNvPr id="4" name="TextBox 3"/>
          <p:cNvSpPr txBox="1"/>
          <p:nvPr/>
        </p:nvSpPr>
        <p:spPr>
          <a:xfrm>
            <a:off x="777240" y="2560320"/>
            <a:ext cx="9601200" cy="1005840"/>
          </a:xfrm>
          <a:prstGeom prst="rect">
            <a:avLst/>
          </a:prstGeom>
          <a:noFill/>
        </p:spPr>
        <p:txBody>
          <a:bodyPr wrap="square" anchor="t" lIns="0" rIns="0" tIns="0" bIns="0">
            <a:spAutoFit/>
          </a:bodyPr>
          <a:lstStyle/>
          <a:p>
            <a:pPr algn="l"/>
            <a:r>
              <a:rPr sz="4400" b="1" i="0">
                <a:solidFill>
                  <a:srgbClr val="FFFFFF"/>
                </a:solidFill>
                <a:latin typeface="Calibri"/>
              </a:rPr>
              <a:t>Check — Laws, Refractive Index &amp; Glass Slab</a:t>
            </a:r>
          </a:p>
        </p:txBody>
      </p:sp>
      <p:sp>
        <p:nvSpPr>
          <p:cNvPr id="5" name="TextBox 4"/>
          <p:cNvSpPr txBox="1"/>
          <p:nvPr/>
        </p:nvSpPr>
        <p:spPr>
          <a:xfrm>
            <a:off x="777240" y="3749039"/>
            <a:ext cx="9601200" cy="548640"/>
          </a:xfrm>
          <a:prstGeom prst="rect">
            <a:avLst/>
          </a:prstGeom>
          <a:noFill/>
        </p:spPr>
        <p:txBody>
          <a:bodyPr wrap="square" anchor="t" lIns="0" rIns="0" tIns="0" bIns="0">
            <a:spAutoFit/>
          </a:bodyPr>
          <a:lstStyle/>
          <a:p>
            <a:pPr algn="l"/>
            <a:r>
              <a:rPr sz="1800" b="0" i="0">
                <a:solidFill>
                  <a:srgbClr val="CADCFC"/>
                </a:solidFill>
                <a:latin typeface="Calibri"/>
              </a:rPr>
              <a:t>5 questions  •  think before the answer reveals on the next slide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Q1 — Refraction</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Light bends towards the normal when it passes from:</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a denser medium to a rarer medium</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a rarer medium to a denser medium</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air into air</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vacuum into vacuum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Q1 — Refraction</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Light bends towards the normal when it passes from:</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a denser medium to a rarer medium</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a rarer medium to a denser medium</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air into air</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vacuum into vacuum</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Entering a denser medium slows the light down, and it bends towards the normal; entering a rarer medium it speeds up and bends away from the normal.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Q2 — Snell's Law</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Snell's law states that, for a given pair of media, sin i / sin r is: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always equal to 1</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constant</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equal to the speed of light</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always greater than 90°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Q2 — Snell's Law</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Snell's law states that, for a given pair of media, sin i / sin r is: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always equal to 1</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constant</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equal to the speed of light</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always greater than 90°</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This constant ratio is the refractive index of the second medium with respect to the first.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Q3 — Absolute refractive index</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The absolute refractive index of a medium is defined as: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v / c</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c / v</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c x v</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sin i / sin r for any two media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Q3 — Absolute refractive index</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The absolute refractive index of a medium is defined as: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v / c</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c / v</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c x v</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sin i / sin r for any two media</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n = speed of light in vacuum / speed of light in the medium. Since v is always less than c inside a medium, n is always greater than 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Q4 — Numerical</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The refractive index of water is 1.33. The approximate speed of light in water is: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3 x 10⁸ m/s</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2.26 x 10⁸ m/s</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4 x 10⁸ m/s</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1.33 x 10⁸ m/s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Q4 — Numerical</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The refractive index of water is 1.33. The approximate speed of light in water is: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3 x 10⁸ m/s</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2.26 x 10⁸ m/s</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4 x 10⁸ m/s</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1.33 x 10⁸ m/s</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v = c / n = (3 x 10⁸) / 1.33 ≈ 2.26 x 10⁸ m/s.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Q5 — Glass slab</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After passing through a rectangular glass slab, the emergent ray is: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bent towards the normal</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parallel to the incident ray but laterally displaced</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reflected straight back</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split into seven colours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Q5 — Glass slab</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After passing through a rectangular glass slab, the emergent ray is: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bent towards the normal</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parallel to the incident ray but laterally displaced</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reflected straight back</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split into seven colours</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The two equal-and-opposite refractions at the parallel faces keep the emergent ray parallel to the incident ray, but shift it sideways (lateral displacement).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8595360" y="-1463040"/>
            <a:ext cx="4937760" cy="493776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03920" y="3108960"/>
            <a:ext cx="3383280" cy="2743200"/>
          </a:xfrm>
          <a:prstGeom prst="rect">
            <a:avLst/>
          </a:prstGeom>
          <a:noFill/>
        </p:spPr>
        <p:txBody>
          <a:bodyPr wrap="square" anchor="t" lIns="0" rIns="0" tIns="0" bIns="0">
            <a:spAutoFit/>
          </a:bodyPr>
          <a:lstStyle/>
          <a:p>
            <a:pPr algn="r"/>
            <a:r>
              <a:rPr sz="20000" b="1" i="0">
                <a:solidFill>
                  <a:srgbClr val="263149"/>
                </a:solidFill>
                <a:latin typeface="Calibri"/>
              </a:rPr>
              <a:t>2</a:t>
            </a:r>
          </a:p>
        </p:txBody>
      </p:sp>
      <p:sp>
        <p:nvSpPr>
          <p:cNvPr id="4" name="TextBox 3"/>
          <p:cNvSpPr txBox="1"/>
          <p:nvPr/>
        </p:nvSpPr>
        <p:spPr>
          <a:xfrm>
            <a:off x="777240" y="2148840"/>
            <a:ext cx="6949440" cy="457200"/>
          </a:xfrm>
          <a:prstGeom prst="rect">
            <a:avLst/>
          </a:prstGeom>
          <a:noFill/>
        </p:spPr>
        <p:txBody>
          <a:bodyPr wrap="square" anchor="t" lIns="0" rIns="0" tIns="0" bIns="0">
            <a:spAutoFit/>
          </a:bodyPr>
          <a:lstStyle/>
          <a:p>
            <a:pPr algn="l"/>
            <a:r>
              <a:rPr sz="1600" b="1" i="0">
                <a:solidFill>
                  <a:srgbClr val="FFC300"/>
                </a:solidFill>
                <a:latin typeface="Arial"/>
              </a:rPr>
              <a:t>PART 2</a:t>
            </a:r>
          </a:p>
        </p:txBody>
      </p:sp>
      <p:sp>
        <p:nvSpPr>
          <p:cNvPr id="5" name="TextBox 4"/>
          <p:cNvSpPr txBox="1"/>
          <p:nvPr/>
        </p:nvSpPr>
        <p:spPr>
          <a:xfrm>
            <a:off x="777240" y="2697480"/>
            <a:ext cx="7498079" cy="1097280"/>
          </a:xfrm>
          <a:prstGeom prst="rect">
            <a:avLst/>
          </a:prstGeom>
          <a:noFill/>
        </p:spPr>
        <p:txBody>
          <a:bodyPr wrap="square" anchor="t" lIns="0" rIns="0" tIns="0" bIns="0">
            <a:spAutoFit/>
          </a:bodyPr>
          <a:lstStyle/>
          <a:p>
            <a:pPr algn="l"/>
            <a:r>
              <a:rPr sz="4200" b="1" i="0">
                <a:solidFill>
                  <a:srgbClr val="FFFFFF"/>
                </a:solidFill>
                <a:latin typeface="Calibri"/>
              </a:rPr>
              <a:t>Internal Reflection, Prism &amp; Atmospheric Refraction</a:t>
            </a:r>
          </a:p>
        </p:txBody>
      </p:sp>
      <p:sp>
        <p:nvSpPr>
          <p:cNvPr id="6" name="TextBox 5"/>
          <p:cNvSpPr txBox="1"/>
          <p:nvPr/>
        </p:nvSpPr>
        <p:spPr>
          <a:xfrm>
            <a:off x="777240" y="4114800"/>
            <a:ext cx="7315200" cy="822960"/>
          </a:xfrm>
          <a:prstGeom prst="rect">
            <a:avLst/>
          </a:prstGeom>
          <a:noFill/>
        </p:spPr>
        <p:txBody>
          <a:bodyPr wrap="square" anchor="t" lIns="0" rIns="0" tIns="0" bIns="0">
            <a:spAutoFit/>
          </a:bodyPr>
          <a:lstStyle/>
          <a:p>
            <a:pPr algn="l"/>
            <a:r>
              <a:rPr sz="1800" b="0" i="0">
                <a:solidFill>
                  <a:srgbClr val="CADCFC"/>
                </a:solidFill>
                <a:latin typeface="Calibri"/>
              </a:rPr>
              <a:t>Critical angle, the prism, dispersion and sky phenomena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PARTIAL &amp; TOTAL</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Partial and Total Internal Reflection</a:t>
            </a:r>
          </a:p>
        </p:txBody>
      </p:sp>
      <p:sp>
        <p:nvSpPr>
          <p:cNvPr id="6" name="Rounded Rectangle 5"/>
          <p:cNvSpPr/>
          <p:nvPr/>
        </p:nvSpPr>
        <p:spPr>
          <a:xfrm>
            <a:off x="640080" y="1828800"/>
            <a:ext cx="10881360" cy="4114800"/>
          </a:xfrm>
          <a:prstGeom prst="roundRect">
            <a:avLst>
              <a:gd name="adj" fmla="val 3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03120"/>
            <a:ext cx="10058400" cy="3657600"/>
          </a:xfrm>
          <a:prstGeom prst="rect">
            <a:avLst/>
          </a:prstGeom>
          <a:noFill/>
        </p:spPr>
        <p:txBody>
          <a:bodyPr wrap="square" anchor="t" lIns="0" rIns="0" tIns="0" bIns="0">
            <a:spAutoFit/>
          </a:bodyPr>
          <a:lstStyle/>
          <a:p>
            <a:pPr algn="l">
              <a:lnSpc>
                <a:spcPct val="105000"/>
              </a:lnSpc>
              <a:spcAft>
                <a:spcPts val="1100"/>
              </a:spcAft>
            </a:pPr>
            <a:r>
              <a:rPr sz="1600" b="1" i="0">
                <a:solidFill>
                  <a:srgbClr val="0A9396"/>
                </a:solidFill>
                <a:latin typeface="Calibri"/>
              </a:rPr>
              <a:t>•  </a:t>
            </a:r>
            <a:r>
              <a:rPr sz="1600" b="1" i="0">
                <a:solidFill>
                  <a:srgbClr val="1D2433"/>
                </a:solidFill>
                <a:latin typeface="Calibri"/>
              </a:rPr>
              <a:t>Partial internal reflection  </a:t>
            </a:r>
            <a:r>
              <a:rPr sz="1500" b="0" i="0">
                <a:solidFill>
                  <a:srgbClr val="6B7280"/>
                </a:solidFill>
                <a:latin typeface="Calibri"/>
              </a:rPr>
              <a:t>When light travels from a denser to a rarer medium at a small angle of incidence, most of it refracts out (bending away from the normal) while a small part is reflected back into the denser medium — this is partial internal reflection.</a:t>
            </a:r>
          </a:p>
          <a:p>
            <a:pPr algn="l">
              <a:lnSpc>
                <a:spcPct val="105000"/>
              </a:lnSpc>
              <a:spcAft>
                <a:spcPts val="1100"/>
              </a:spcAft>
            </a:pPr>
            <a:r>
              <a:rPr sz="1600" b="1" i="0">
                <a:solidFill>
                  <a:srgbClr val="0A9396"/>
                </a:solidFill>
                <a:latin typeface="Calibri"/>
              </a:rPr>
              <a:t>•  </a:t>
            </a:r>
            <a:r>
              <a:rPr sz="1600" b="1" i="0">
                <a:solidFill>
                  <a:srgbClr val="1D2433"/>
                </a:solidFill>
                <a:latin typeface="Calibri"/>
              </a:rPr>
              <a:t>As the angle increases  </a:t>
            </a:r>
            <a:r>
              <a:rPr sz="1500" b="0" i="0">
                <a:solidFill>
                  <a:srgbClr val="6B7280"/>
                </a:solidFill>
                <a:latin typeface="Calibri"/>
              </a:rPr>
              <a:t>As the angle of incidence in the denser medium is increased, the refracted ray bends more and more towards the boundary and grows fainter, while the reflected ray grows brighter.</a:t>
            </a:r>
          </a:p>
          <a:p>
            <a:pPr algn="l">
              <a:lnSpc>
                <a:spcPct val="105000"/>
              </a:lnSpc>
              <a:spcAft>
                <a:spcPts val="1100"/>
              </a:spcAft>
            </a:pPr>
            <a:r>
              <a:rPr sz="1600" b="1" i="0">
                <a:solidFill>
                  <a:srgbClr val="0A9396"/>
                </a:solidFill>
                <a:latin typeface="Calibri"/>
              </a:rPr>
              <a:t>•  </a:t>
            </a:r>
            <a:r>
              <a:rPr sz="1600" b="1" i="0">
                <a:solidFill>
                  <a:srgbClr val="1D2433"/>
                </a:solidFill>
                <a:latin typeface="Calibri"/>
              </a:rPr>
              <a:t>At the critical angle  </a:t>
            </a:r>
            <a:r>
              <a:rPr sz="1500" b="0" i="0">
                <a:solidFill>
                  <a:srgbClr val="6B7280"/>
                </a:solidFill>
                <a:latin typeface="Calibri"/>
              </a:rPr>
              <a:t>The critical angle (C) is the angle of incidence in the denser medium for which the angle of refraction becomes 90°; the refracted ray just grazes along the surface.</a:t>
            </a:r>
          </a:p>
          <a:p>
            <a:pPr algn="l">
              <a:lnSpc>
                <a:spcPct val="105000"/>
              </a:lnSpc>
              <a:spcAft>
                <a:spcPts val="1100"/>
              </a:spcAft>
            </a:pPr>
            <a:r>
              <a:rPr sz="1600" b="1" i="0">
                <a:solidFill>
                  <a:srgbClr val="0A9396"/>
                </a:solidFill>
                <a:latin typeface="Calibri"/>
              </a:rPr>
              <a:t>•  </a:t>
            </a:r>
            <a:r>
              <a:rPr sz="1600" b="1" i="0">
                <a:solidFill>
                  <a:srgbClr val="1D2433"/>
                </a:solidFill>
                <a:latin typeface="Calibri"/>
              </a:rPr>
              <a:t>Beyond the critical angle  </a:t>
            </a:r>
            <a:r>
              <a:rPr sz="1500" b="0" i="0">
                <a:solidFill>
                  <a:srgbClr val="6B7280"/>
                </a:solidFill>
                <a:latin typeface="Calibri"/>
              </a:rPr>
              <a:t>If the angle of incidence exceeds the critical angle, no light refracts out at all — all of it is reflected back into the denser medium. This is total internal reflection (TIR).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CONDITIONS FOR TIR</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The Two Conditions for Total Internal Reflection</a:t>
            </a:r>
          </a:p>
        </p:txBody>
      </p:sp>
      <p:pic>
        <p:nvPicPr>
          <p:cNvPr id="6" name="Picture 5" descr="mh10_refr_tir.png"/>
          <p:cNvPicPr>
            <a:picLocks noChangeAspect="1"/>
          </p:cNvPicPr>
          <p:nvPr/>
        </p:nvPicPr>
        <p:blipFill>
          <a:blip r:embed="rId2"/>
          <a:stretch>
            <a:fillRect/>
          </a:stretch>
        </p:blipFill>
        <p:spPr>
          <a:xfrm>
            <a:off x="822960" y="1965960"/>
            <a:ext cx="4754880" cy="3657600"/>
          </a:xfrm>
          <a:prstGeom prst="rect">
            <a:avLst/>
          </a:prstGeom>
        </p:spPr>
      </p:pic>
      <p:sp>
        <p:nvSpPr>
          <p:cNvPr id="7" name="Rounded Rectangle 6"/>
          <p:cNvSpPr/>
          <p:nvPr/>
        </p:nvSpPr>
        <p:spPr>
          <a:xfrm>
            <a:off x="5699455" y="1828800"/>
            <a:ext cx="5669280" cy="393192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19495" y="2057400"/>
            <a:ext cx="5029200" cy="411480"/>
          </a:xfrm>
          <a:prstGeom prst="rect">
            <a:avLst/>
          </a:prstGeom>
          <a:noFill/>
        </p:spPr>
        <p:txBody>
          <a:bodyPr wrap="square" anchor="t" lIns="0" rIns="0" tIns="0" bIns="0">
            <a:spAutoFit/>
          </a:bodyPr>
          <a:lstStyle/>
          <a:p>
            <a:pPr algn="l"/>
            <a:r>
              <a:rPr sz="1800" b="1" i="0">
                <a:solidFill>
                  <a:srgbClr val="0A9396"/>
                </a:solidFill>
                <a:latin typeface="Calibri"/>
              </a:rPr>
              <a:t>When the surface acts as a mirror</a:t>
            </a:r>
          </a:p>
        </p:txBody>
      </p:sp>
      <p:sp>
        <p:nvSpPr>
          <p:cNvPr id="9" name="TextBox 8"/>
          <p:cNvSpPr txBox="1"/>
          <p:nvPr/>
        </p:nvSpPr>
        <p:spPr>
          <a:xfrm>
            <a:off x="6019495" y="2606040"/>
            <a:ext cx="5074920" cy="3063240"/>
          </a:xfrm>
          <a:prstGeom prst="rect">
            <a:avLst/>
          </a:prstGeom>
          <a:noFill/>
        </p:spPr>
        <p:txBody>
          <a:bodyPr wrap="square" anchor="t" lIns="0" rIns="0" tIns="0" bIns="0">
            <a:spAutoFit/>
          </a:bodyPr>
          <a:lstStyle/>
          <a:p>
            <a:pPr algn="l">
              <a:lnSpc>
                <a:spcPct val="105000"/>
              </a:lnSpc>
              <a:spcAft>
                <a:spcPts val="900"/>
              </a:spcAft>
            </a:pPr>
            <a:r>
              <a:rPr sz="1500" b="1" i="0">
                <a:solidFill>
                  <a:srgbClr val="0A9396"/>
                </a:solidFill>
                <a:latin typeface="Calibri"/>
              </a:rPr>
              <a:t>•  </a:t>
            </a:r>
            <a:r>
              <a:rPr sz="1500" b="0" i="0">
                <a:solidFill>
                  <a:srgbClr val="1D2433"/>
                </a:solidFill>
                <a:latin typeface="Calibri"/>
              </a:rPr>
              <a:t>Total internal reflection can occur only when both of these conditions are satisfied together:</a:t>
            </a:r>
          </a:p>
          <a:p>
            <a:pPr algn="l">
              <a:lnSpc>
                <a:spcPct val="105000"/>
              </a:lnSpc>
              <a:spcAft>
                <a:spcPts val="900"/>
              </a:spcAft>
            </a:pPr>
            <a:r>
              <a:rPr sz="1500" b="1" i="0">
                <a:solidFill>
                  <a:srgbClr val="0A9396"/>
                </a:solidFill>
                <a:latin typeface="Calibri"/>
              </a:rPr>
              <a:t>•  </a:t>
            </a:r>
            <a:r>
              <a:rPr sz="1500" b="0" i="0">
                <a:solidFill>
                  <a:srgbClr val="1D2433"/>
                </a:solidFill>
                <a:latin typeface="Calibri"/>
              </a:rPr>
              <a:t>1. Light must travel from an optically denser medium into an optically rarer medium (for example, from water or glass into air).</a:t>
            </a:r>
          </a:p>
          <a:p>
            <a:pPr algn="l">
              <a:lnSpc>
                <a:spcPct val="105000"/>
              </a:lnSpc>
              <a:spcAft>
                <a:spcPts val="900"/>
              </a:spcAft>
            </a:pPr>
            <a:r>
              <a:rPr sz="1500" b="1" i="0">
                <a:solidFill>
                  <a:srgbClr val="0A9396"/>
                </a:solidFill>
                <a:latin typeface="Calibri"/>
              </a:rPr>
              <a:t>•  </a:t>
            </a:r>
            <a:r>
              <a:rPr sz="1500" b="0" i="0">
                <a:solidFill>
                  <a:srgbClr val="1D2433"/>
                </a:solidFill>
                <a:latin typeface="Calibri"/>
              </a:rPr>
              <a:t>2. The angle of incidence in the denser medium must be greater than the critical angle for that pair of media.</a:t>
            </a:r>
          </a:p>
          <a:p>
            <a:pPr algn="l">
              <a:lnSpc>
                <a:spcPct val="105000"/>
              </a:lnSpc>
              <a:spcAft>
                <a:spcPts val="900"/>
              </a:spcAft>
            </a:pPr>
            <a:r>
              <a:rPr sz="1500" b="1" i="0">
                <a:solidFill>
                  <a:srgbClr val="0A9396"/>
                </a:solidFill>
                <a:latin typeface="Calibri"/>
              </a:rPr>
              <a:t>•  </a:t>
            </a:r>
            <a:r>
              <a:rPr sz="1500" b="0" i="0">
                <a:solidFill>
                  <a:srgbClr val="1D2433"/>
                </a:solidFill>
                <a:latin typeface="Calibri"/>
              </a:rPr>
              <a:t>When this happens, the boundary behaves like a perfect mirror — all the light energy is reflected back with none refracting out, as shown in the diagram.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CRITICAL ANGLE FORMULA</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Relating Critical Angle and Refractive Index</a:t>
            </a:r>
          </a:p>
        </p:txBody>
      </p:sp>
      <p:sp>
        <p:nvSpPr>
          <p:cNvPr id="6" name="Rounded Rectangle 5"/>
          <p:cNvSpPr/>
          <p:nvPr/>
        </p:nvSpPr>
        <p:spPr>
          <a:xfrm>
            <a:off x="640080" y="1828800"/>
            <a:ext cx="10881360" cy="1371600"/>
          </a:xfrm>
          <a:prstGeom prst="roundRect">
            <a:avLst>
              <a:gd name="adj" fmla="val 6000"/>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49840" cy="1371600"/>
          </a:xfrm>
          <a:prstGeom prst="rect">
            <a:avLst/>
          </a:prstGeom>
          <a:noFill/>
        </p:spPr>
        <p:txBody>
          <a:bodyPr wrap="square" anchor="ctr" lIns="0" rIns="0" tIns="0" bIns="0">
            <a:spAutoFit/>
          </a:bodyPr>
          <a:lstStyle/>
          <a:p>
            <a:pPr algn="l"/>
            <a:r>
              <a:rPr sz="1900" b="1" i="0">
                <a:solidFill>
                  <a:srgbClr val="FFFFFF"/>
                </a:solidFill>
                <a:latin typeface="Calibri"/>
              </a:rPr>
              <a:t>For light travelling from a denser medium into air, the critical angle C is related to the absolute refractive index of the denser medium.</a:t>
            </a:r>
          </a:p>
        </p:txBody>
      </p:sp>
      <p:sp>
        <p:nvSpPr>
          <p:cNvPr id="8" name="Rounded Rectangle 7"/>
          <p:cNvSpPr/>
          <p:nvPr/>
        </p:nvSpPr>
        <p:spPr>
          <a:xfrm>
            <a:off x="640080" y="3429000"/>
            <a:ext cx="10881360" cy="914400"/>
          </a:xfrm>
          <a:prstGeom prst="roundRect">
            <a:avLst>
              <a:gd name="adj" fmla="val 8000"/>
            </a:avLst>
          </a:prstGeom>
          <a:solidFill>
            <a:srgbClr val="FFF6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429000"/>
            <a:ext cx="10149840" cy="914400"/>
          </a:xfrm>
          <a:prstGeom prst="rect">
            <a:avLst/>
          </a:prstGeom>
          <a:noFill/>
        </p:spPr>
        <p:txBody>
          <a:bodyPr wrap="square" anchor="ctr" lIns="0" rIns="0" tIns="0" bIns="0">
            <a:spAutoFit/>
          </a:bodyPr>
          <a:lstStyle/>
          <a:p>
            <a:pPr algn="ctr"/>
            <a:r>
              <a:rPr sz="2400" b="1" i="0">
                <a:solidFill>
                  <a:srgbClr val="F4801A"/>
                </a:solidFill>
                <a:latin typeface="Calibri"/>
              </a:rPr>
              <a:t>sin C = 1 / 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WORKED EXAMPLE</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Critical Angle of Water</a:t>
            </a:r>
          </a:p>
        </p:txBody>
      </p:sp>
      <p:sp>
        <p:nvSpPr>
          <p:cNvPr id="6" name="Rounded Rectangle 5"/>
          <p:cNvSpPr/>
          <p:nvPr/>
        </p:nvSpPr>
        <p:spPr>
          <a:xfrm>
            <a:off x="640080" y="1828800"/>
            <a:ext cx="10881360" cy="1097280"/>
          </a:xfrm>
          <a:prstGeom prst="roundRect">
            <a:avLst>
              <a:gd name="adj" fmla="val 6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10149840" cy="1097280"/>
          </a:xfrm>
          <a:prstGeom prst="rect">
            <a:avLst/>
          </a:prstGeom>
          <a:noFill/>
        </p:spPr>
        <p:txBody>
          <a:bodyPr wrap="square" anchor="ctr" lIns="0" rIns="0" tIns="0" bIns="0">
            <a:spAutoFit/>
          </a:bodyPr>
          <a:lstStyle/>
          <a:p>
            <a:pPr algn="l"/>
            <a:r>
              <a:rPr sz="1600" b="1" i="0">
                <a:solidFill>
                  <a:srgbClr val="0A9396"/>
                </a:solidFill>
                <a:latin typeface="Calibri"/>
              </a:rPr>
              <a:t>Problem.  </a:t>
            </a:r>
            <a:r>
              <a:rPr sz="1600" b="0" i="0">
                <a:solidFill>
                  <a:srgbClr val="1D2433"/>
                </a:solidFill>
                <a:latin typeface="Calibri"/>
              </a:rPr>
              <a:t>The refractive index of water is 1.33. Find its critical angle. (sin 48.8° ≈ 0.75)</a:t>
            </a:r>
          </a:p>
        </p:txBody>
      </p:sp>
      <p:sp>
        <p:nvSpPr>
          <p:cNvPr id="8" name="Rounded Rectangle 7"/>
          <p:cNvSpPr/>
          <p:nvPr/>
        </p:nvSpPr>
        <p:spPr>
          <a:xfrm>
            <a:off x="640080" y="3108960"/>
            <a:ext cx="10881360" cy="2651760"/>
          </a:xfrm>
          <a:prstGeom prst="roundRect">
            <a:avLst>
              <a:gd name="adj" fmla="val 3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337560"/>
            <a:ext cx="10149840" cy="1828800"/>
          </a:xfrm>
          <a:prstGeom prst="rect">
            <a:avLst/>
          </a:prstGeom>
          <a:noFill/>
        </p:spPr>
        <p:txBody>
          <a:bodyPr wrap="square" anchor="t" lIns="0" rIns="0" tIns="0" bIns="0">
            <a:spAutoFit/>
          </a:bodyPr>
          <a:lstStyle/>
          <a:p>
            <a:pPr algn="l">
              <a:lnSpc>
                <a:spcPct val="105000"/>
              </a:lnSpc>
              <a:spcAft>
                <a:spcPts val="700"/>
              </a:spcAft>
            </a:pPr>
            <a:r>
              <a:rPr sz="1600" b="0" i="0">
                <a:solidFill>
                  <a:srgbClr val="1D2433"/>
                </a:solidFill>
                <a:latin typeface="Calibri"/>
              </a:rPr>
              <a:t>sin C = 1 / n = 1 / 1.33</a:t>
            </a:r>
          </a:p>
          <a:p>
            <a:pPr algn="l">
              <a:lnSpc>
                <a:spcPct val="105000"/>
              </a:lnSpc>
              <a:spcAft>
                <a:spcPts val="700"/>
              </a:spcAft>
            </a:pPr>
            <a:r>
              <a:rPr sz="1600" b="0" i="0">
                <a:solidFill>
                  <a:srgbClr val="1D2433"/>
                </a:solidFill>
                <a:latin typeface="Calibri"/>
              </a:rPr>
              <a:t>sin C = 0.75</a:t>
            </a:r>
          </a:p>
        </p:txBody>
      </p:sp>
      <p:sp>
        <p:nvSpPr>
          <p:cNvPr id="10" name="Rounded Rectangle 9"/>
          <p:cNvSpPr/>
          <p:nvPr/>
        </p:nvSpPr>
        <p:spPr>
          <a:xfrm>
            <a:off x="640080" y="5074920"/>
            <a:ext cx="10881360" cy="594360"/>
          </a:xfrm>
          <a:prstGeom prst="roundRect">
            <a:avLst>
              <a:gd name="adj" fmla="val 12000"/>
            </a:avLst>
          </a:prstGeom>
          <a:solidFill>
            <a:srgbClr val="E9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074920"/>
            <a:ext cx="10149840" cy="594360"/>
          </a:xfrm>
          <a:prstGeom prst="rect">
            <a:avLst/>
          </a:prstGeom>
          <a:noFill/>
        </p:spPr>
        <p:txBody>
          <a:bodyPr wrap="square" anchor="ctr" lIns="0" rIns="0" tIns="0" bIns="0">
            <a:spAutoFit/>
          </a:bodyPr>
          <a:lstStyle/>
          <a:p>
            <a:pPr algn="l"/>
            <a:r>
              <a:rPr sz="1600" b="1" i="0">
                <a:solidFill>
                  <a:srgbClr val="2A9D8F"/>
                </a:solidFill>
                <a:latin typeface="Calibri"/>
              </a:rPr>
              <a:t>Answer:  </a:t>
            </a:r>
            <a:r>
              <a:rPr sz="1600" b="1" i="0">
                <a:solidFill>
                  <a:srgbClr val="1D2433"/>
                </a:solidFill>
                <a:latin typeface="Calibri"/>
              </a:rPr>
              <a:t>C ≈ 48.8°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APPLICATIONS OF TIR</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Everyday Uses of Total Internal Reflection</a:t>
            </a:r>
          </a:p>
        </p:txBody>
      </p:sp>
      <p:sp>
        <p:nvSpPr>
          <p:cNvPr id="6" name="Rounded Rectangle 5"/>
          <p:cNvSpPr/>
          <p:nvPr/>
        </p:nvSpPr>
        <p:spPr>
          <a:xfrm>
            <a:off x="640080" y="1920240"/>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19" y="2212848"/>
            <a:ext cx="502920" cy="502920"/>
          </a:xfrm>
          <a:prstGeom prst="roundRect">
            <a:avLst>
              <a:gd name="adj" fmla="val 30000"/>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park_FFFFFF.png"/>
          <p:cNvPicPr>
            <a:picLocks noChangeAspect="1"/>
          </p:cNvPicPr>
          <p:nvPr/>
        </p:nvPicPr>
        <p:blipFill>
          <a:blip r:embed="rId2"/>
          <a:stretch>
            <a:fillRect/>
          </a:stretch>
        </p:blipFill>
        <p:spPr>
          <a:xfrm>
            <a:off x="1070762" y="2323490"/>
            <a:ext cx="281635" cy="281635"/>
          </a:xfrm>
          <a:prstGeom prst="rect">
            <a:avLst/>
          </a:prstGeom>
        </p:spPr>
      </p:pic>
      <p:sp>
        <p:nvSpPr>
          <p:cNvPr id="9" name="TextBox 8"/>
          <p:cNvSpPr txBox="1"/>
          <p:nvPr/>
        </p:nvSpPr>
        <p:spPr>
          <a:xfrm>
            <a:off x="1645920" y="2176272"/>
            <a:ext cx="3931920" cy="457200"/>
          </a:xfrm>
          <a:prstGeom prst="rect">
            <a:avLst/>
          </a:prstGeom>
          <a:noFill/>
        </p:spPr>
        <p:txBody>
          <a:bodyPr wrap="square" anchor="t" lIns="0" rIns="0" tIns="0" bIns="0">
            <a:spAutoFit/>
          </a:bodyPr>
          <a:lstStyle/>
          <a:p>
            <a:pPr algn="l"/>
            <a:r>
              <a:rPr sz="1700" b="1" i="0">
                <a:solidFill>
                  <a:srgbClr val="1D2433"/>
                </a:solidFill>
                <a:latin typeface="Calibri"/>
              </a:rPr>
              <a:t>Optical fibres</a:t>
            </a:r>
          </a:p>
        </p:txBody>
      </p:sp>
      <p:sp>
        <p:nvSpPr>
          <p:cNvPr id="10" name="TextBox 9"/>
          <p:cNvSpPr txBox="1"/>
          <p:nvPr/>
        </p:nvSpPr>
        <p:spPr>
          <a:xfrm>
            <a:off x="1645920" y="2670048"/>
            <a:ext cx="3931920" cy="685800"/>
          </a:xfrm>
          <a:prstGeom prst="rect">
            <a:avLst/>
          </a:prstGeom>
          <a:noFill/>
        </p:spPr>
        <p:txBody>
          <a:bodyPr wrap="square" anchor="t" lIns="0" rIns="0" tIns="0" bIns="0">
            <a:spAutoFit/>
          </a:bodyPr>
          <a:lstStyle/>
          <a:p>
            <a:pPr algn="l"/>
            <a:r>
              <a:rPr sz="1350" b="0" i="0">
                <a:solidFill>
                  <a:srgbClr val="6B7280"/>
                </a:solidFill>
                <a:latin typeface="Calibri"/>
              </a:rPr>
              <a:t>Light entering a thin glass fibre strikes the inner wall beyond the critical angle again and again, so it travels the whole length by repeated TIR with almost no loss — used in telecommunication and medical endoscopes.</a:t>
            </a:r>
          </a:p>
        </p:txBody>
      </p:sp>
      <p:sp>
        <p:nvSpPr>
          <p:cNvPr id="11" name="Rounded Rectangle 10"/>
          <p:cNvSpPr/>
          <p:nvPr/>
        </p:nvSpPr>
        <p:spPr>
          <a:xfrm>
            <a:off x="6217920" y="1920240"/>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37960" y="2212848"/>
            <a:ext cx="502920" cy="502920"/>
          </a:xfrm>
          <a:prstGeom prst="roundRect">
            <a:avLst>
              <a:gd name="adj" fmla="val 30000"/>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park_FFFFFF.png"/>
          <p:cNvPicPr>
            <a:picLocks noChangeAspect="1"/>
          </p:cNvPicPr>
          <p:nvPr/>
        </p:nvPicPr>
        <p:blipFill>
          <a:blip r:embed="rId2"/>
          <a:stretch>
            <a:fillRect/>
          </a:stretch>
        </p:blipFill>
        <p:spPr>
          <a:xfrm>
            <a:off x="6648602" y="2323490"/>
            <a:ext cx="281635" cy="281635"/>
          </a:xfrm>
          <a:prstGeom prst="rect">
            <a:avLst/>
          </a:prstGeom>
        </p:spPr>
      </p:pic>
      <p:sp>
        <p:nvSpPr>
          <p:cNvPr id="14" name="TextBox 13"/>
          <p:cNvSpPr txBox="1"/>
          <p:nvPr/>
        </p:nvSpPr>
        <p:spPr>
          <a:xfrm>
            <a:off x="7223760" y="2176272"/>
            <a:ext cx="3931920" cy="457200"/>
          </a:xfrm>
          <a:prstGeom prst="rect">
            <a:avLst/>
          </a:prstGeom>
          <a:noFill/>
        </p:spPr>
        <p:txBody>
          <a:bodyPr wrap="square" anchor="t" lIns="0" rIns="0" tIns="0" bIns="0">
            <a:spAutoFit/>
          </a:bodyPr>
          <a:lstStyle/>
          <a:p>
            <a:pPr algn="l"/>
            <a:r>
              <a:rPr sz="1700" b="1" i="0">
                <a:solidFill>
                  <a:srgbClr val="1D2433"/>
                </a:solidFill>
                <a:latin typeface="Calibri"/>
              </a:rPr>
              <a:t>Sparkle of a diamond</a:t>
            </a:r>
          </a:p>
        </p:txBody>
      </p:sp>
      <p:sp>
        <p:nvSpPr>
          <p:cNvPr id="15" name="TextBox 14"/>
          <p:cNvSpPr txBox="1"/>
          <p:nvPr/>
        </p:nvSpPr>
        <p:spPr>
          <a:xfrm>
            <a:off x="7223760" y="2670048"/>
            <a:ext cx="3931920" cy="685800"/>
          </a:xfrm>
          <a:prstGeom prst="rect">
            <a:avLst/>
          </a:prstGeom>
          <a:noFill/>
        </p:spPr>
        <p:txBody>
          <a:bodyPr wrap="square" anchor="t" lIns="0" rIns="0" tIns="0" bIns="0">
            <a:spAutoFit/>
          </a:bodyPr>
          <a:lstStyle/>
          <a:p>
            <a:pPr algn="l"/>
            <a:r>
              <a:rPr sz="1350" b="0" i="0">
                <a:solidFill>
                  <a:srgbClr val="6B7280"/>
                </a:solidFill>
                <a:latin typeface="Calibri"/>
              </a:rPr>
              <a:t>Diamond has a very high refractive index (2.42) and hence a very small critical angle (about 24.4°). Light entering a cut diamond undergoes TIR repeatedly before emerging, giving it its brilliance.</a:t>
            </a:r>
          </a:p>
        </p:txBody>
      </p:sp>
      <p:sp>
        <p:nvSpPr>
          <p:cNvPr id="16" name="Rounded Rectangle 15"/>
          <p:cNvSpPr/>
          <p:nvPr/>
        </p:nvSpPr>
        <p:spPr>
          <a:xfrm>
            <a:off x="640080" y="3749039"/>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60119" y="4041648"/>
            <a:ext cx="502920" cy="502920"/>
          </a:xfrm>
          <a:prstGeom prst="roundRect">
            <a:avLst>
              <a:gd name="adj" fmla="val 3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un_FFFFFF.png"/>
          <p:cNvPicPr>
            <a:picLocks noChangeAspect="1"/>
          </p:cNvPicPr>
          <p:nvPr/>
        </p:nvPicPr>
        <p:blipFill>
          <a:blip r:embed="rId3"/>
          <a:stretch>
            <a:fillRect/>
          </a:stretch>
        </p:blipFill>
        <p:spPr>
          <a:xfrm>
            <a:off x="1070762" y="4152290"/>
            <a:ext cx="281635" cy="281635"/>
          </a:xfrm>
          <a:prstGeom prst="rect">
            <a:avLst/>
          </a:prstGeom>
        </p:spPr>
      </p:pic>
      <p:sp>
        <p:nvSpPr>
          <p:cNvPr id="19" name="TextBox 18"/>
          <p:cNvSpPr txBox="1"/>
          <p:nvPr/>
        </p:nvSpPr>
        <p:spPr>
          <a:xfrm>
            <a:off x="1645920" y="4005072"/>
            <a:ext cx="3931920" cy="457200"/>
          </a:xfrm>
          <a:prstGeom prst="rect">
            <a:avLst/>
          </a:prstGeom>
          <a:noFill/>
        </p:spPr>
        <p:txBody>
          <a:bodyPr wrap="square" anchor="t" lIns="0" rIns="0" tIns="0" bIns="0">
            <a:spAutoFit/>
          </a:bodyPr>
          <a:lstStyle/>
          <a:p>
            <a:pPr algn="l"/>
            <a:r>
              <a:rPr sz="1700" b="1" i="0">
                <a:solidFill>
                  <a:srgbClr val="1D2433"/>
                </a:solidFill>
                <a:latin typeface="Calibri"/>
              </a:rPr>
              <a:t>Mirage</a:t>
            </a:r>
          </a:p>
        </p:txBody>
      </p:sp>
      <p:sp>
        <p:nvSpPr>
          <p:cNvPr id="20" name="TextBox 19"/>
          <p:cNvSpPr txBox="1"/>
          <p:nvPr/>
        </p:nvSpPr>
        <p:spPr>
          <a:xfrm>
            <a:off x="1645920" y="4498848"/>
            <a:ext cx="3931920" cy="685800"/>
          </a:xfrm>
          <a:prstGeom prst="rect">
            <a:avLst/>
          </a:prstGeom>
          <a:noFill/>
        </p:spPr>
        <p:txBody>
          <a:bodyPr wrap="square" anchor="t" lIns="0" rIns="0" tIns="0" bIns="0">
            <a:spAutoFit/>
          </a:bodyPr>
          <a:lstStyle/>
          <a:p>
            <a:pPr algn="l"/>
            <a:r>
              <a:rPr sz="1350" b="0" i="0">
                <a:solidFill>
                  <a:srgbClr val="6B7280"/>
                </a:solidFill>
                <a:latin typeface="Calibri"/>
              </a:rPr>
              <a:t>On a hot road, air near the ground is much hotter and rarer than the air above. Light from the sky bends more and more as it grazes the hot layer until it undergoes TIR, reaching the eye as if reflected from a pool of water.</a:t>
            </a:r>
          </a:p>
        </p:txBody>
      </p:sp>
      <p:sp>
        <p:nvSpPr>
          <p:cNvPr id="21" name="Rounded Rectangle 20"/>
          <p:cNvSpPr/>
          <p:nvPr/>
        </p:nvSpPr>
        <p:spPr>
          <a:xfrm>
            <a:off x="6217920" y="3749039"/>
            <a:ext cx="5212080" cy="160020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37960" y="4041648"/>
            <a:ext cx="502920" cy="502920"/>
          </a:xfrm>
          <a:prstGeom prst="roundRect">
            <a:avLst>
              <a:gd name="adj" fmla="val 30000"/>
            </a:avLst>
          </a:prstGeom>
          <a:solidFill>
            <a:srgbClr val="E639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eye_FFFFFF.png"/>
          <p:cNvPicPr>
            <a:picLocks noChangeAspect="1"/>
          </p:cNvPicPr>
          <p:nvPr/>
        </p:nvPicPr>
        <p:blipFill>
          <a:blip r:embed="rId4"/>
          <a:stretch>
            <a:fillRect/>
          </a:stretch>
        </p:blipFill>
        <p:spPr>
          <a:xfrm>
            <a:off x="6648602" y="4152290"/>
            <a:ext cx="281635" cy="281635"/>
          </a:xfrm>
          <a:prstGeom prst="rect">
            <a:avLst/>
          </a:prstGeom>
        </p:spPr>
      </p:pic>
      <p:sp>
        <p:nvSpPr>
          <p:cNvPr id="24" name="TextBox 23"/>
          <p:cNvSpPr txBox="1"/>
          <p:nvPr/>
        </p:nvSpPr>
        <p:spPr>
          <a:xfrm>
            <a:off x="7223760" y="4005072"/>
            <a:ext cx="3931920" cy="457200"/>
          </a:xfrm>
          <a:prstGeom prst="rect">
            <a:avLst/>
          </a:prstGeom>
          <a:noFill/>
        </p:spPr>
        <p:txBody>
          <a:bodyPr wrap="square" anchor="t" lIns="0" rIns="0" tIns="0" bIns="0">
            <a:spAutoFit/>
          </a:bodyPr>
          <a:lstStyle/>
          <a:p>
            <a:pPr algn="l"/>
            <a:r>
              <a:rPr sz="1700" b="1" i="0">
                <a:solidFill>
                  <a:srgbClr val="1D2433"/>
                </a:solidFill>
                <a:latin typeface="Calibri"/>
              </a:rPr>
              <a:t>Totally reflecting prisms</a:t>
            </a:r>
          </a:p>
        </p:txBody>
      </p:sp>
      <p:sp>
        <p:nvSpPr>
          <p:cNvPr id="25" name="TextBox 24"/>
          <p:cNvSpPr txBox="1"/>
          <p:nvPr/>
        </p:nvSpPr>
        <p:spPr>
          <a:xfrm>
            <a:off x="7223760" y="4498848"/>
            <a:ext cx="3931920" cy="685800"/>
          </a:xfrm>
          <a:prstGeom prst="rect">
            <a:avLst/>
          </a:prstGeom>
          <a:noFill/>
        </p:spPr>
        <p:txBody>
          <a:bodyPr wrap="square" anchor="t" lIns="0" rIns="0" tIns="0" bIns="0">
            <a:spAutoFit/>
          </a:bodyPr>
          <a:lstStyle/>
          <a:p>
            <a:pPr algn="l"/>
            <a:r>
              <a:rPr sz="1350" b="0" i="0">
                <a:solidFill>
                  <a:srgbClr val="6B7280"/>
                </a:solidFill>
                <a:latin typeface="Calibri"/>
              </a:rPr>
              <a:t>A right-angled prism can turn or invert light by TIR at its hypotenuse face, used in periscopes and binoculars instead of ordinary mirrors.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MIRAGE</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Mirage: TIR in the Open Air</a:t>
            </a:r>
          </a:p>
        </p:txBody>
      </p:sp>
      <p:pic>
        <p:nvPicPr>
          <p:cNvPr id="6" name="Picture 5" descr="mh10_refr_mirage.png"/>
          <p:cNvPicPr>
            <a:picLocks noChangeAspect="1"/>
          </p:cNvPicPr>
          <p:nvPr/>
        </p:nvPicPr>
        <p:blipFill>
          <a:blip r:embed="rId2"/>
          <a:stretch>
            <a:fillRect/>
          </a:stretch>
        </p:blipFill>
        <p:spPr>
          <a:xfrm>
            <a:off x="6613855" y="1965960"/>
            <a:ext cx="4754880" cy="3657600"/>
          </a:xfrm>
          <a:prstGeom prst="rect">
            <a:avLst/>
          </a:prstGeom>
        </p:spPr>
      </p:pic>
      <p:sp>
        <p:nvSpPr>
          <p:cNvPr id="7" name="Rounded Rectangle 6"/>
          <p:cNvSpPr/>
          <p:nvPr/>
        </p:nvSpPr>
        <p:spPr>
          <a:xfrm>
            <a:off x="822960" y="1828800"/>
            <a:ext cx="5669280" cy="393192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057400"/>
            <a:ext cx="5029200" cy="411480"/>
          </a:xfrm>
          <a:prstGeom prst="rect">
            <a:avLst/>
          </a:prstGeom>
          <a:noFill/>
        </p:spPr>
        <p:txBody>
          <a:bodyPr wrap="square" anchor="t" lIns="0" rIns="0" tIns="0" bIns="0">
            <a:spAutoFit/>
          </a:bodyPr>
          <a:lstStyle/>
          <a:p>
            <a:pPr algn="l"/>
            <a:r>
              <a:rPr sz="1800" b="1" i="0">
                <a:solidFill>
                  <a:srgbClr val="0A9396"/>
                </a:solidFill>
                <a:latin typeface="Calibri"/>
              </a:rPr>
              <a:t>The 'water' that isn't there</a:t>
            </a:r>
          </a:p>
        </p:txBody>
      </p:sp>
      <p:sp>
        <p:nvSpPr>
          <p:cNvPr id="9" name="TextBox 8"/>
          <p:cNvSpPr txBox="1"/>
          <p:nvPr/>
        </p:nvSpPr>
        <p:spPr>
          <a:xfrm>
            <a:off x="1143000" y="2606040"/>
            <a:ext cx="5074920" cy="3063240"/>
          </a:xfrm>
          <a:prstGeom prst="rect">
            <a:avLst/>
          </a:prstGeom>
          <a:noFill/>
        </p:spPr>
        <p:txBody>
          <a:bodyPr wrap="square" anchor="t" lIns="0" rIns="0" tIns="0" bIns="0">
            <a:spAutoFit/>
          </a:bodyPr>
          <a:lstStyle/>
          <a:p>
            <a:pPr algn="l">
              <a:lnSpc>
                <a:spcPct val="105000"/>
              </a:lnSpc>
              <a:spcAft>
                <a:spcPts val="900"/>
              </a:spcAft>
            </a:pPr>
            <a:r>
              <a:rPr sz="1500" b="1" i="0">
                <a:solidFill>
                  <a:srgbClr val="0A9396"/>
                </a:solidFill>
                <a:latin typeface="Calibri"/>
              </a:rPr>
              <a:t>•  </a:t>
            </a:r>
            <a:r>
              <a:rPr sz="1500" b="0" i="0">
                <a:solidFill>
                  <a:srgbClr val="1D2433"/>
                </a:solidFill>
                <a:latin typeface="Calibri"/>
              </a:rPr>
              <a:t>On a very hot day, the layer of air just above a road or a desert surface becomes much hotter — and hence much less dense — than the air above it.</a:t>
            </a:r>
          </a:p>
          <a:p>
            <a:pPr algn="l">
              <a:lnSpc>
                <a:spcPct val="105000"/>
              </a:lnSpc>
              <a:spcAft>
                <a:spcPts val="900"/>
              </a:spcAft>
            </a:pPr>
            <a:r>
              <a:rPr sz="1500" b="1" i="0">
                <a:solidFill>
                  <a:srgbClr val="0A9396"/>
                </a:solidFill>
                <a:latin typeface="Calibri"/>
              </a:rPr>
              <a:t>•  </a:t>
            </a:r>
            <a:r>
              <a:rPr sz="1500" b="0" i="0">
                <a:solidFill>
                  <a:srgbClr val="1D2433"/>
                </a:solidFill>
                <a:latin typeface="Calibri"/>
              </a:rPr>
              <a:t>Light from the sky travelling towards the ground is refracted more and more as it enters progressively rarer layers of hot air, bending it away from the normal at each layer.</a:t>
            </a:r>
          </a:p>
          <a:p>
            <a:pPr algn="l">
              <a:lnSpc>
                <a:spcPct val="105000"/>
              </a:lnSpc>
              <a:spcAft>
                <a:spcPts val="900"/>
              </a:spcAft>
            </a:pPr>
            <a:r>
              <a:rPr sz="1500" b="1" i="0">
                <a:solidFill>
                  <a:srgbClr val="0A9396"/>
                </a:solidFill>
                <a:latin typeface="Calibri"/>
              </a:rPr>
              <a:t>•  </a:t>
            </a:r>
            <a:r>
              <a:rPr sz="1500" b="0" i="0">
                <a:solidFill>
                  <a:srgbClr val="1D2433"/>
                </a:solidFill>
                <a:latin typeface="Calibri"/>
              </a:rPr>
              <a:t>Eventually the ray undergoes total internal reflection at the hottest layer and travels back up to an observer's eye.</a:t>
            </a:r>
          </a:p>
          <a:p>
            <a:pPr algn="l">
              <a:lnSpc>
                <a:spcPct val="105000"/>
              </a:lnSpc>
              <a:spcAft>
                <a:spcPts val="900"/>
              </a:spcAft>
            </a:pPr>
            <a:r>
              <a:rPr sz="1500" b="1" i="0">
                <a:solidFill>
                  <a:srgbClr val="0A9396"/>
                </a:solidFill>
                <a:latin typeface="Calibri"/>
              </a:rPr>
              <a:t>•  </a:t>
            </a:r>
            <a:r>
              <a:rPr sz="1500" b="0" i="0">
                <a:solidFill>
                  <a:srgbClr val="1D2433"/>
                </a:solidFill>
                <a:latin typeface="Calibri"/>
              </a:rPr>
              <a:t>The observer sees an inverted image of the sky on the road, which looks exactly like a pool of water.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PRISM</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Refraction of Light Through a Prism</a:t>
            </a:r>
          </a:p>
        </p:txBody>
      </p:sp>
      <p:pic>
        <p:nvPicPr>
          <p:cNvPr id="6" name="Picture 5" descr="mh10_refr_prism.png"/>
          <p:cNvPicPr>
            <a:picLocks noChangeAspect="1"/>
          </p:cNvPicPr>
          <p:nvPr/>
        </p:nvPicPr>
        <p:blipFill>
          <a:blip r:embed="rId2"/>
          <a:stretch>
            <a:fillRect/>
          </a:stretch>
        </p:blipFill>
        <p:spPr>
          <a:xfrm>
            <a:off x="6613855" y="1965960"/>
            <a:ext cx="4754880" cy="3657600"/>
          </a:xfrm>
          <a:prstGeom prst="rect">
            <a:avLst/>
          </a:prstGeom>
        </p:spPr>
      </p:pic>
      <p:sp>
        <p:nvSpPr>
          <p:cNvPr id="7" name="Rounded Rectangle 6"/>
          <p:cNvSpPr/>
          <p:nvPr/>
        </p:nvSpPr>
        <p:spPr>
          <a:xfrm>
            <a:off x="822960" y="1828800"/>
            <a:ext cx="5669280" cy="393192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057400"/>
            <a:ext cx="5029200" cy="411480"/>
          </a:xfrm>
          <a:prstGeom prst="rect">
            <a:avLst/>
          </a:prstGeom>
          <a:noFill/>
        </p:spPr>
        <p:txBody>
          <a:bodyPr wrap="square" anchor="t" lIns="0" rIns="0" tIns="0" bIns="0">
            <a:spAutoFit/>
          </a:bodyPr>
          <a:lstStyle/>
          <a:p>
            <a:pPr algn="l"/>
            <a:r>
              <a:rPr sz="1800" b="1" i="0">
                <a:solidFill>
                  <a:srgbClr val="0A9396"/>
                </a:solidFill>
                <a:latin typeface="Calibri"/>
              </a:rPr>
              <a:t>Bending towards the base</a:t>
            </a:r>
          </a:p>
        </p:txBody>
      </p:sp>
      <p:sp>
        <p:nvSpPr>
          <p:cNvPr id="9" name="TextBox 8"/>
          <p:cNvSpPr txBox="1"/>
          <p:nvPr/>
        </p:nvSpPr>
        <p:spPr>
          <a:xfrm>
            <a:off x="1143000" y="2606040"/>
            <a:ext cx="5074920" cy="3063240"/>
          </a:xfrm>
          <a:prstGeom prst="rect">
            <a:avLst/>
          </a:prstGeom>
          <a:noFill/>
        </p:spPr>
        <p:txBody>
          <a:bodyPr wrap="square" anchor="t" lIns="0" rIns="0" tIns="0" bIns="0">
            <a:spAutoFit/>
          </a:bodyPr>
          <a:lstStyle/>
          <a:p>
            <a:pPr algn="l">
              <a:lnSpc>
                <a:spcPct val="105000"/>
              </a:lnSpc>
              <a:spcAft>
                <a:spcPts val="900"/>
              </a:spcAft>
            </a:pPr>
            <a:r>
              <a:rPr sz="1500" b="1" i="0">
                <a:solidFill>
                  <a:srgbClr val="0A9396"/>
                </a:solidFill>
                <a:latin typeface="Calibri"/>
              </a:rPr>
              <a:t>•  </a:t>
            </a:r>
            <a:r>
              <a:rPr sz="1500" b="0" i="0">
                <a:solidFill>
                  <a:srgbClr val="1D2433"/>
                </a:solidFill>
                <a:latin typeface="Calibri"/>
              </a:rPr>
              <a:t>A prism is a transparent optical element with two triangular ends and three rectangular side faces; the two faces at which refraction takes place are its refracting surfaces, and the angle between them is the refracting angle (angle of the prism).</a:t>
            </a:r>
          </a:p>
          <a:p>
            <a:pPr algn="l">
              <a:lnSpc>
                <a:spcPct val="105000"/>
              </a:lnSpc>
              <a:spcAft>
                <a:spcPts val="900"/>
              </a:spcAft>
            </a:pPr>
            <a:r>
              <a:rPr sz="1500" b="1" i="0">
                <a:solidFill>
                  <a:srgbClr val="0A9396"/>
                </a:solidFill>
                <a:latin typeface="Calibri"/>
              </a:rPr>
              <a:t>•  </a:t>
            </a:r>
            <a:r>
              <a:rPr sz="1500" b="0" i="0">
                <a:solidFill>
                  <a:srgbClr val="1D2433"/>
                </a:solidFill>
                <a:latin typeface="Calibri"/>
              </a:rPr>
              <a:t>A ray entering a prism refracts at the first surface and again at the second surface, and unlike a glass slab the two surfaces are not parallel, so the emergent ray is NOT parallel to the incident ray.</a:t>
            </a:r>
          </a:p>
          <a:p>
            <a:pPr algn="l">
              <a:lnSpc>
                <a:spcPct val="105000"/>
              </a:lnSpc>
              <a:spcAft>
                <a:spcPts val="900"/>
              </a:spcAft>
            </a:pPr>
            <a:r>
              <a:rPr sz="1500" b="1" i="0">
                <a:solidFill>
                  <a:srgbClr val="0A9396"/>
                </a:solidFill>
                <a:latin typeface="Calibri"/>
              </a:rPr>
              <a:t>•  </a:t>
            </a:r>
            <a:r>
              <a:rPr sz="1500" b="0" i="0">
                <a:solidFill>
                  <a:srgbClr val="1D2433"/>
                </a:solidFill>
                <a:latin typeface="Calibri"/>
              </a:rPr>
              <a:t>The ray is bent towards the base of the prism; the angle between the incident ray (produced forward) and the emergent ray (produced backward) is called the angle of deviation.</a:t>
            </a:r>
          </a:p>
          <a:p>
            <a:pPr algn="l">
              <a:lnSpc>
                <a:spcPct val="105000"/>
              </a:lnSpc>
              <a:spcAft>
                <a:spcPts val="900"/>
              </a:spcAft>
            </a:pPr>
            <a:r>
              <a:rPr sz="1500" b="1" i="0">
                <a:solidFill>
                  <a:srgbClr val="0A9396"/>
                </a:solidFill>
                <a:latin typeface="Calibri"/>
              </a:rPr>
              <a:t>•  </a:t>
            </a:r>
            <a:r>
              <a:rPr sz="1500" b="0" i="0">
                <a:solidFill>
                  <a:srgbClr val="1D2433"/>
                </a:solidFill>
                <a:latin typeface="Calibri"/>
              </a:rPr>
              <a:t>The angle of deviation depends on the angle of incidence, the refracting angle and the material of the prism.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DISPERSION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Dispersion of Light Through a Prism</a:t>
            </a:r>
          </a:p>
        </p:txBody>
      </p:sp>
      <p:pic>
        <p:nvPicPr>
          <p:cNvPr id="6" name="Picture 5" descr="mh10_refr_disp.png"/>
          <p:cNvPicPr>
            <a:picLocks noChangeAspect="1"/>
          </p:cNvPicPr>
          <p:nvPr/>
        </p:nvPicPr>
        <p:blipFill>
          <a:blip r:embed="rId2"/>
          <a:stretch>
            <a:fillRect/>
          </a:stretch>
        </p:blipFill>
        <p:spPr>
          <a:xfrm>
            <a:off x="822960" y="1965960"/>
            <a:ext cx="4754880" cy="3657600"/>
          </a:xfrm>
          <a:prstGeom prst="rect">
            <a:avLst/>
          </a:prstGeom>
        </p:spPr>
      </p:pic>
      <p:sp>
        <p:nvSpPr>
          <p:cNvPr id="7" name="Rounded Rectangle 6"/>
          <p:cNvSpPr/>
          <p:nvPr/>
        </p:nvSpPr>
        <p:spPr>
          <a:xfrm>
            <a:off x="5699455" y="1828800"/>
            <a:ext cx="5669280" cy="393192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19495" y="2057400"/>
            <a:ext cx="5029200" cy="411480"/>
          </a:xfrm>
          <a:prstGeom prst="rect">
            <a:avLst/>
          </a:prstGeom>
          <a:noFill/>
        </p:spPr>
        <p:txBody>
          <a:bodyPr wrap="square" anchor="t" lIns="0" rIns="0" tIns="0" bIns="0">
            <a:spAutoFit/>
          </a:bodyPr>
          <a:lstStyle/>
          <a:p>
            <a:pPr algn="l"/>
            <a:r>
              <a:rPr sz="1800" b="1" i="0">
                <a:solidFill>
                  <a:srgbClr val="0A9396"/>
                </a:solidFill>
                <a:latin typeface="Calibri"/>
              </a:rPr>
              <a:t>Splitting white light</a:t>
            </a:r>
          </a:p>
        </p:txBody>
      </p:sp>
      <p:sp>
        <p:nvSpPr>
          <p:cNvPr id="9" name="TextBox 8"/>
          <p:cNvSpPr txBox="1"/>
          <p:nvPr/>
        </p:nvSpPr>
        <p:spPr>
          <a:xfrm>
            <a:off x="6019495" y="2606040"/>
            <a:ext cx="5074920" cy="3063240"/>
          </a:xfrm>
          <a:prstGeom prst="rect">
            <a:avLst/>
          </a:prstGeom>
          <a:noFill/>
        </p:spPr>
        <p:txBody>
          <a:bodyPr wrap="square" anchor="t" lIns="0" rIns="0" tIns="0" bIns="0">
            <a:spAutoFit/>
          </a:bodyPr>
          <a:lstStyle/>
          <a:p>
            <a:pPr algn="l">
              <a:lnSpc>
                <a:spcPct val="105000"/>
              </a:lnSpc>
              <a:spcAft>
                <a:spcPts val="900"/>
              </a:spcAft>
            </a:pPr>
            <a:r>
              <a:rPr sz="1500" b="1" i="0">
                <a:solidFill>
                  <a:srgbClr val="0A9396"/>
                </a:solidFill>
                <a:latin typeface="Calibri"/>
              </a:rPr>
              <a:t>•  </a:t>
            </a:r>
            <a:r>
              <a:rPr sz="1500" b="0" i="0">
                <a:solidFill>
                  <a:srgbClr val="1D2433"/>
                </a:solidFill>
                <a:latin typeface="Calibri"/>
              </a:rPr>
              <a:t>White light is a mixture of seven colours: violet, indigo, blue, green, yellow, orange and red (VIBGYOR).</a:t>
            </a:r>
          </a:p>
          <a:p>
            <a:pPr algn="l">
              <a:lnSpc>
                <a:spcPct val="105000"/>
              </a:lnSpc>
              <a:spcAft>
                <a:spcPts val="900"/>
              </a:spcAft>
            </a:pPr>
            <a:r>
              <a:rPr sz="1500" b="1" i="0">
                <a:solidFill>
                  <a:srgbClr val="0A9396"/>
                </a:solidFill>
                <a:latin typeface="Calibri"/>
              </a:rPr>
              <a:t>•  </a:t>
            </a:r>
            <a:r>
              <a:rPr sz="1500" b="0" i="0">
                <a:solidFill>
                  <a:srgbClr val="1D2433"/>
                </a:solidFill>
                <a:latin typeface="Calibri"/>
              </a:rPr>
              <a:t>Each colour has a different wavelength, and a glass prism has a slightly different refractive index for each wavelength — violet is bent the most and red the least.</a:t>
            </a:r>
          </a:p>
          <a:p>
            <a:pPr algn="l">
              <a:lnSpc>
                <a:spcPct val="105000"/>
              </a:lnSpc>
              <a:spcAft>
                <a:spcPts val="900"/>
              </a:spcAft>
            </a:pPr>
            <a:r>
              <a:rPr sz="1500" b="1" i="0">
                <a:solidFill>
                  <a:srgbClr val="0A9396"/>
                </a:solidFill>
                <a:latin typeface="Calibri"/>
              </a:rPr>
              <a:t>•  </a:t>
            </a:r>
            <a:r>
              <a:rPr sz="1500" b="0" i="0">
                <a:solidFill>
                  <a:srgbClr val="1D2433"/>
                </a:solidFill>
                <a:latin typeface="Calibri"/>
              </a:rPr>
              <a:t>When white light passes through a prism, the different colours are refracted by different amounts and emerge separated as a band of colours called a spectrum.</a:t>
            </a:r>
          </a:p>
          <a:p>
            <a:pPr algn="l">
              <a:lnSpc>
                <a:spcPct val="105000"/>
              </a:lnSpc>
              <a:spcAft>
                <a:spcPts val="900"/>
              </a:spcAft>
            </a:pPr>
            <a:r>
              <a:rPr sz="1500" b="1" i="0">
                <a:solidFill>
                  <a:srgbClr val="0A9396"/>
                </a:solidFill>
                <a:latin typeface="Calibri"/>
              </a:rPr>
              <a:t>•  </a:t>
            </a:r>
            <a:r>
              <a:rPr sz="1500" b="0" i="0">
                <a:solidFill>
                  <a:srgbClr val="1D2433"/>
                </a:solidFill>
                <a:latin typeface="Calibri"/>
              </a:rPr>
              <a:t>This splitting of white light into its component colours is called dispersion.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ATMOSPHERIC REFRACTION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Advance Sunrise and Delayed Sunset</a:t>
            </a:r>
          </a:p>
        </p:txBody>
      </p:sp>
      <p:sp>
        <p:nvSpPr>
          <p:cNvPr id="6" name="Rounded Rectangle 5"/>
          <p:cNvSpPr/>
          <p:nvPr/>
        </p:nvSpPr>
        <p:spPr>
          <a:xfrm>
            <a:off x="640080" y="1828800"/>
            <a:ext cx="10881360" cy="4114800"/>
          </a:xfrm>
          <a:prstGeom prst="roundRect">
            <a:avLst>
              <a:gd name="adj" fmla="val 3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03120"/>
            <a:ext cx="10058400" cy="3657600"/>
          </a:xfrm>
          <a:prstGeom prst="rect">
            <a:avLst/>
          </a:prstGeom>
          <a:noFill/>
        </p:spPr>
        <p:txBody>
          <a:bodyPr wrap="square" anchor="t" lIns="0" rIns="0" tIns="0" bIns="0">
            <a:spAutoFit/>
          </a:bodyPr>
          <a:lstStyle/>
          <a:p>
            <a:pPr algn="l">
              <a:lnSpc>
                <a:spcPct val="105000"/>
              </a:lnSpc>
              <a:spcAft>
                <a:spcPts val="1100"/>
              </a:spcAft>
            </a:pPr>
            <a:r>
              <a:rPr sz="1600" b="1" i="0">
                <a:solidFill>
                  <a:srgbClr val="0A9396"/>
                </a:solidFill>
                <a:latin typeface="Calibri"/>
              </a:rPr>
              <a:t>•  </a:t>
            </a:r>
            <a:r>
              <a:rPr sz="1600" b="1" i="0">
                <a:solidFill>
                  <a:srgbClr val="1D2433"/>
                </a:solidFill>
                <a:latin typeface="Calibri"/>
              </a:rPr>
              <a:t>Denser air near the ground  </a:t>
            </a:r>
            <a:r>
              <a:rPr sz="1500" b="0" i="0">
                <a:solidFill>
                  <a:srgbClr val="6B7280"/>
                </a:solidFill>
                <a:latin typeface="Calibri"/>
              </a:rPr>
              <a:t>The Earth's atmosphere is denser near the surface and gradually becomes rarer with height, so sunlight bends continuously as it passes down through it.</a:t>
            </a:r>
          </a:p>
          <a:p>
            <a:pPr algn="l">
              <a:lnSpc>
                <a:spcPct val="105000"/>
              </a:lnSpc>
              <a:spcAft>
                <a:spcPts val="1100"/>
              </a:spcAft>
            </a:pPr>
            <a:r>
              <a:rPr sz="1600" b="1" i="0">
                <a:solidFill>
                  <a:srgbClr val="0A9396"/>
                </a:solidFill>
                <a:latin typeface="Calibri"/>
              </a:rPr>
              <a:t>•  </a:t>
            </a:r>
            <a:r>
              <a:rPr sz="1600" b="1" i="0">
                <a:solidFill>
                  <a:srgbClr val="1D2433"/>
                </a:solidFill>
                <a:latin typeface="Calibri"/>
              </a:rPr>
              <a:t>Advance sunrise  </a:t>
            </a:r>
            <a:r>
              <a:rPr sz="1500" b="0" i="0">
                <a:solidFill>
                  <a:srgbClr val="6B7280"/>
                </a:solidFill>
                <a:latin typeface="Calibri"/>
              </a:rPr>
              <a:t>Because of this bending, the Sun's light reaches us even when the Sun is still slightly below the horizon, so we see the Sun about two minutes before it actually rises.</a:t>
            </a:r>
          </a:p>
          <a:p>
            <a:pPr algn="l">
              <a:lnSpc>
                <a:spcPct val="105000"/>
              </a:lnSpc>
              <a:spcAft>
                <a:spcPts val="1100"/>
              </a:spcAft>
            </a:pPr>
            <a:r>
              <a:rPr sz="1600" b="1" i="0">
                <a:solidFill>
                  <a:srgbClr val="0A9396"/>
                </a:solidFill>
                <a:latin typeface="Calibri"/>
              </a:rPr>
              <a:t>•  </a:t>
            </a:r>
            <a:r>
              <a:rPr sz="1600" b="1" i="0">
                <a:solidFill>
                  <a:srgbClr val="1D2433"/>
                </a:solidFill>
                <a:latin typeface="Calibri"/>
              </a:rPr>
              <a:t>Delayed sunset  </a:t>
            </a:r>
            <a:r>
              <a:rPr sz="1500" b="0" i="0">
                <a:solidFill>
                  <a:srgbClr val="6B7280"/>
                </a:solidFill>
                <a:latin typeface="Calibri"/>
              </a:rPr>
              <a:t>For the same reason, we continue to see the Sun for about two minutes after it has actually set below the horizon — giving roughly four extra minutes of daylight each day.</a:t>
            </a:r>
          </a:p>
          <a:p>
            <a:pPr algn="l">
              <a:lnSpc>
                <a:spcPct val="105000"/>
              </a:lnSpc>
              <a:spcAft>
                <a:spcPts val="1100"/>
              </a:spcAft>
            </a:pPr>
            <a:r>
              <a:rPr sz="1600" b="1" i="0">
                <a:solidFill>
                  <a:srgbClr val="0A9396"/>
                </a:solidFill>
                <a:latin typeface="Calibri"/>
              </a:rPr>
              <a:t>•  </a:t>
            </a:r>
            <a:r>
              <a:rPr sz="1600" b="1" i="0">
                <a:solidFill>
                  <a:srgbClr val="1D2433"/>
                </a:solidFill>
                <a:latin typeface="Calibri"/>
              </a:rPr>
              <a:t>Oval-shaped Sun  </a:t>
            </a:r>
            <a:r>
              <a:rPr sz="1500" b="0" i="0">
                <a:solidFill>
                  <a:srgbClr val="6B7280"/>
                </a:solidFill>
                <a:latin typeface="Calibri"/>
              </a:rPr>
              <a:t>Near the horizon, light from the lower edge of the Sun is refracted more than that from the upper edge, so the Sun appears slightly flattened (oval) at sunrise and sunset.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TWINKLING OF STARS</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Why Do Stars Twinkle?</a:t>
            </a:r>
          </a:p>
        </p:txBody>
      </p:sp>
      <p:sp>
        <p:nvSpPr>
          <p:cNvPr id="6" name="Rounded Rectangle 5"/>
          <p:cNvSpPr/>
          <p:nvPr/>
        </p:nvSpPr>
        <p:spPr>
          <a:xfrm>
            <a:off x="640080" y="1828800"/>
            <a:ext cx="10881360" cy="4114800"/>
          </a:xfrm>
          <a:prstGeom prst="roundRect">
            <a:avLst>
              <a:gd name="adj" fmla="val 3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03120"/>
            <a:ext cx="10058400" cy="3657600"/>
          </a:xfrm>
          <a:prstGeom prst="rect">
            <a:avLst/>
          </a:prstGeom>
          <a:noFill/>
        </p:spPr>
        <p:txBody>
          <a:bodyPr wrap="square" anchor="t" lIns="0" rIns="0" tIns="0" bIns="0">
            <a:spAutoFit/>
          </a:bodyPr>
          <a:lstStyle/>
          <a:p>
            <a:pPr algn="l">
              <a:lnSpc>
                <a:spcPct val="105000"/>
              </a:lnSpc>
              <a:spcAft>
                <a:spcPts val="1100"/>
              </a:spcAft>
            </a:pPr>
            <a:r>
              <a:rPr sz="1600" b="1" i="0">
                <a:solidFill>
                  <a:srgbClr val="0A9396"/>
                </a:solidFill>
                <a:latin typeface="Calibri"/>
              </a:rPr>
              <a:t>•  </a:t>
            </a:r>
            <a:r>
              <a:rPr sz="1600" b="1" i="0">
                <a:solidFill>
                  <a:srgbClr val="1D2433"/>
                </a:solidFill>
                <a:latin typeface="Calibri"/>
              </a:rPr>
              <a:t>Atmospheric refraction  </a:t>
            </a:r>
            <a:r>
              <a:rPr sz="1500" b="0" i="0">
                <a:solidFill>
                  <a:srgbClr val="6B7280"/>
                </a:solidFill>
                <a:latin typeface="Calibri"/>
              </a:rPr>
              <a:t>Starlight enters the Earth's atmosphere and passes through air layers of continuously changing density and temperature before reaching our eyes.</a:t>
            </a:r>
          </a:p>
          <a:p>
            <a:pPr algn="l">
              <a:lnSpc>
                <a:spcPct val="105000"/>
              </a:lnSpc>
              <a:spcAft>
                <a:spcPts val="1100"/>
              </a:spcAft>
            </a:pPr>
            <a:r>
              <a:rPr sz="1600" b="1" i="0">
                <a:solidFill>
                  <a:srgbClr val="0A9396"/>
                </a:solidFill>
                <a:latin typeface="Calibri"/>
              </a:rPr>
              <a:t>•  </a:t>
            </a:r>
            <a:r>
              <a:rPr sz="1600" b="1" i="0">
                <a:solidFill>
                  <a:srgbClr val="1D2433"/>
                </a:solidFill>
                <a:latin typeface="Calibri"/>
              </a:rPr>
              <a:t>Continuous bending  </a:t>
            </a:r>
            <a:r>
              <a:rPr sz="1500" b="0" i="0">
                <a:solidFill>
                  <a:srgbClr val="6B7280"/>
                </a:solidFill>
                <a:latin typeface="Calibri"/>
              </a:rPr>
              <a:t>Because the atmosphere has no sharp boundaries, the light bends gradually and does not travel in a single straight line — it follows a slightly curved path.</a:t>
            </a:r>
          </a:p>
          <a:p>
            <a:pPr algn="l">
              <a:lnSpc>
                <a:spcPct val="105000"/>
              </a:lnSpc>
              <a:spcAft>
                <a:spcPts val="1100"/>
              </a:spcAft>
            </a:pPr>
            <a:r>
              <a:rPr sz="1600" b="1" i="0">
                <a:solidFill>
                  <a:srgbClr val="0A9396"/>
                </a:solidFill>
                <a:latin typeface="Calibri"/>
              </a:rPr>
              <a:t>•  </a:t>
            </a:r>
            <a:r>
              <a:rPr sz="1600" b="1" i="0">
                <a:solidFill>
                  <a:srgbClr val="1D2433"/>
                </a:solidFill>
                <a:latin typeface="Calibri"/>
              </a:rPr>
              <a:t>Fluctuating refractive index  </a:t>
            </a:r>
            <a:r>
              <a:rPr sz="1500" b="0" i="0">
                <a:solidFill>
                  <a:srgbClr val="6B7280"/>
                </a:solidFill>
                <a:latin typeface="Calibri"/>
              </a:rPr>
              <a:t>Air currents constantly change the density of the layers, so the amount of bending keeps changing from moment to moment.</a:t>
            </a:r>
          </a:p>
          <a:p>
            <a:pPr algn="l">
              <a:lnSpc>
                <a:spcPct val="105000"/>
              </a:lnSpc>
              <a:spcAft>
                <a:spcPts val="1100"/>
              </a:spcAft>
            </a:pPr>
            <a:r>
              <a:rPr sz="1600" b="1" i="0">
                <a:solidFill>
                  <a:srgbClr val="0A9396"/>
                </a:solidFill>
                <a:latin typeface="Calibri"/>
              </a:rPr>
              <a:t>•  </a:t>
            </a:r>
            <a:r>
              <a:rPr sz="1600" b="1" i="0">
                <a:solidFill>
                  <a:srgbClr val="1D2433"/>
                </a:solidFill>
                <a:latin typeface="Calibri"/>
              </a:rPr>
              <a:t>Apparent flickering  </a:t>
            </a:r>
            <a:r>
              <a:rPr sz="1500" b="0" i="0">
                <a:solidFill>
                  <a:srgbClr val="6B7280"/>
                </a:solidFill>
                <a:latin typeface="Calibri"/>
              </a:rPr>
              <a:t>This makes the star's apparent position and brightness fluctuate rapidly, which we see as twinkling.</a:t>
            </a:r>
          </a:p>
          <a:p>
            <a:pPr algn="l">
              <a:lnSpc>
                <a:spcPct val="105000"/>
              </a:lnSpc>
              <a:spcAft>
                <a:spcPts val="1100"/>
              </a:spcAft>
            </a:pPr>
            <a:r>
              <a:rPr sz="1600" b="1" i="0">
                <a:solidFill>
                  <a:srgbClr val="0A9396"/>
                </a:solidFill>
                <a:latin typeface="Calibri"/>
              </a:rPr>
              <a:t>•  </a:t>
            </a:r>
            <a:r>
              <a:rPr sz="1600" b="1" i="0">
                <a:solidFill>
                  <a:srgbClr val="1D2433"/>
                </a:solidFill>
                <a:latin typeface="Calibri"/>
              </a:rPr>
              <a:t>Planets do not twinkle noticeably  </a:t>
            </a:r>
            <a:r>
              <a:rPr sz="1500" b="0" i="0">
                <a:solidFill>
                  <a:srgbClr val="6B7280"/>
                </a:solidFill>
                <a:latin typeface="Calibri"/>
              </a:rPr>
              <a:t>Planets are much closer and appear as extended sources (a collection of many points), so the twinkling from different points averages out.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WRAP UP</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Quick Recap</a:t>
            </a:r>
          </a:p>
        </p:txBody>
      </p:sp>
      <p:sp>
        <p:nvSpPr>
          <p:cNvPr id="6" name="Rounded Rectangle 5"/>
          <p:cNvSpPr/>
          <p:nvPr/>
        </p:nvSpPr>
        <p:spPr>
          <a:xfrm>
            <a:off x="640080" y="1828800"/>
            <a:ext cx="10881360" cy="4114800"/>
          </a:xfrm>
          <a:prstGeom prst="roundRect">
            <a:avLst>
              <a:gd name="adj" fmla="val 3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48840"/>
            <a:ext cx="10058400" cy="3657600"/>
          </a:xfrm>
          <a:prstGeom prst="rect">
            <a:avLst/>
          </a:prstGeom>
          <a:noFill/>
        </p:spPr>
        <p:txBody>
          <a:bodyPr wrap="square" anchor="t" lIns="0" rIns="0" tIns="0" bIns="0">
            <a:spAutoFit/>
          </a:bodyPr>
          <a:lstStyle/>
          <a:p>
            <a:pPr algn="l">
              <a:lnSpc>
                <a:spcPct val="105000"/>
              </a:lnSpc>
              <a:spcAft>
                <a:spcPts val="1200"/>
              </a:spcAft>
            </a:pPr>
            <a:r>
              <a:rPr sz="1600" b="1" i="0">
                <a:solidFill>
                  <a:srgbClr val="2A9D8F"/>
                </a:solidFill>
                <a:latin typeface="Calibri"/>
              </a:rPr>
              <a:t>✓  </a:t>
            </a:r>
            <a:r>
              <a:rPr sz="1600" b="1" i="0">
                <a:solidFill>
                  <a:srgbClr val="1D2433"/>
                </a:solidFill>
                <a:latin typeface="Calibri"/>
              </a:rPr>
              <a:t>Refraction &amp; Snell's law  —  </a:t>
            </a:r>
            <a:r>
              <a:rPr sz="1500" b="0" i="0">
                <a:solidFill>
                  <a:srgbClr val="6B7280"/>
                </a:solidFill>
                <a:latin typeface="Calibri"/>
              </a:rPr>
              <a:t>Light bends at a boundary; sin i / sin r = refractive index; n = c / v.</a:t>
            </a:r>
          </a:p>
          <a:p>
            <a:pPr algn="l">
              <a:lnSpc>
                <a:spcPct val="105000"/>
              </a:lnSpc>
              <a:spcAft>
                <a:spcPts val="1200"/>
              </a:spcAft>
            </a:pPr>
            <a:r>
              <a:rPr sz="1600" b="1" i="0">
                <a:solidFill>
                  <a:srgbClr val="2A9D8F"/>
                </a:solidFill>
                <a:latin typeface="Calibri"/>
              </a:rPr>
              <a:t>✓  </a:t>
            </a:r>
            <a:r>
              <a:rPr sz="1600" b="1" i="0">
                <a:solidFill>
                  <a:srgbClr val="1D2433"/>
                </a:solidFill>
                <a:latin typeface="Calibri"/>
              </a:rPr>
              <a:t>Glass slab  —  </a:t>
            </a:r>
            <a:r>
              <a:rPr sz="1500" b="0" i="0">
                <a:solidFill>
                  <a:srgbClr val="6B7280"/>
                </a:solidFill>
                <a:latin typeface="Calibri"/>
              </a:rPr>
              <a:t>Emergent ray is parallel to the incident ray but laterally displaced.</a:t>
            </a:r>
          </a:p>
          <a:p>
            <a:pPr algn="l">
              <a:lnSpc>
                <a:spcPct val="105000"/>
              </a:lnSpc>
              <a:spcAft>
                <a:spcPts val="1200"/>
              </a:spcAft>
            </a:pPr>
            <a:r>
              <a:rPr sz="1600" b="1" i="0">
                <a:solidFill>
                  <a:srgbClr val="2A9D8F"/>
                </a:solidFill>
                <a:latin typeface="Calibri"/>
              </a:rPr>
              <a:t>✓  </a:t>
            </a:r>
            <a:r>
              <a:rPr sz="1600" b="1" i="0">
                <a:solidFill>
                  <a:srgbClr val="1D2433"/>
                </a:solidFill>
                <a:latin typeface="Calibri"/>
              </a:rPr>
              <a:t>Partial vs total reflection  —  </a:t>
            </a:r>
            <a:r>
              <a:rPr sz="1500" b="0" i="0">
                <a:solidFill>
                  <a:srgbClr val="6B7280"/>
                </a:solidFill>
                <a:latin typeface="Calibri"/>
              </a:rPr>
              <a:t>Below the critical angle: refraction + partial reflection; beyond it (sin C = 1/n): total internal reflection.</a:t>
            </a:r>
          </a:p>
          <a:p>
            <a:pPr algn="l">
              <a:lnSpc>
                <a:spcPct val="105000"/>
              </a:lnSpc>
              <a:spcAft>
                <a:spcPts val="1200"/>
              </a:spcAft>
            </a:pPr>
            <a:r>
              <a:rPr sz="1600" b="1" i="0">
                <a:solidFill>
                  <a:srgbClr val="2A9D8F"/>
                </a:solidFill>
                <a:latin typeface="Calibri"/>
              </a:rPr>
              <a:t>✓  </a:t>
            </a:r>
            <a:r>
              <a:rPr sz="1600" b="1" i="0">
                <a:solidFill>
                  <a:srgbClr val="1D2433"/>
                </a:solidFill>
                <a:latin typeface="Calibri"/>
              </a:rPr>
              <a:t>TIR applications  —  </a:t>
            </a:r>
            <a:r>
              <a:rPr sz="1500" b="0" i="0">
                <a:solidFill>
                  <a:srgbClr val="6B7280"/>
                </a:solidFill>
                <a:latin typeface="Calibri"/>
              </a:rPr>
              <a:t>Optical fibres, diamond sparkle, mirage, totally reflecting prisms.</a:t>
            </a:r>
          </a:p>
          <a:p>
            <a:pPr algn="l">
              <a:lnSpc>
                <a:spcPct val="105000"/>
              </a:lnSpc>
              <a:spcAft>
                <a:spcPts val="1200"/>
              </a:spcAft>
            </a:pPr>
            <a:r>
              <a:rPr sz="1600" b="1" i="0">
                <a:solidFill>
                  <a:srgbClr val="2A9D8F"/>
                </a:solidFill>
                <a:latin typeface="Calibri"/>
              </a:rPr>
              <a:t>✓  </a:t>
            </a:r>
            <a:r>
              <a:rPr sz="1600" b="1" i="0">
                <a:solidFill>
                  <a:srgbClr val="1D2433"/>
                </a:solidFill>
                <a:latin typeface="Calibri"/>
              </a:rPr>
              <a:t>Prism &amp; dispersion  —  </a:t>
            </a:r>
            <a:r>
              <a:rPr sz="1500" b="0" i="0">
                <a:solidFill>
                  <a:srgbClr val="6B7280"/>
                </a:solidFill>
                <a:latin typeface="Calibri"/>
              </a:rPr>
              <a:t>A prism deviates light towards its base and splits white light into the VIBGYOR spectrum.</a:t>
            </a:r>
          </a:p>
          <a:p>
            <a:pPr algn="l">
              <a:lnSpc>
                <a:spcPct val="105000"/>
              </a:lnSpc>
              <a:spcAft>
                <a:spcPts val="1200"/>
              </a:spcAft>
            </a:pPr>
            <a:r>
              <a:rPr sz="1600" b="1" i="0">
                <a:solidFill>
                  <a:srgbClr val="2A9D8F"/>
                </a:solidFill>
                <a:latin typeface="Calibri"/>
              </a:rPr>
              <a:t>✓  </a:t>
            </a:r>
            <a:r>
              <a:rPr sz="1600" b="1" i="0">
                <a:solidFill>
                  <a:srgbClr val="1D2433"/>
                </a:solidFill>
                <a:latin typeface="Calibri"/>
              </a:rPr>
              <a:t>Atmospheric refraction  —  </a:t>
            </a:r>
            <a:r>
              <a:rPr sz="1500" b="0" i="0">
                <a:solidFill>
                  <a:srgbClr val="6B7280"/>
                </a:solidFill>
                <a:latin typeface="Calibri"/>
              </a:rPr>
              <a:t>Advance sunrise, delayed sunset and the twinkling of stars.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8778240" y="-1371600"/>
            <a:ext cx="4754880" cy="47548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011680"/>
            <a:ext cx="8229600" cy="457200"/>
          </a:xfrm>
          <a:prstGeom prst="rect">
            <a:avLst/>
          </a:prstGeom>
          <a:noFill/>
        </p:spPr>
        <p:txBody>
          <a:bodyPr wrap="square" anchor="t" lIns="0" rIns="0" tIns="0" bIns="0">
            <a:spAutoFit/>
          </a:bodyPr>
          <a:lstStyle/>
          <a:p>
            <a:pPr algn="l"/>
            <a:r>
              <a:rPr sz="1600" b="1" i="0">
                <a:solidFill>
                  <a:srgbClr val="FFC300"/>
                </a:solidFill>
                <a:latin typeface="Arial"/>
              </a:rPr>
              <a:t>QUIZ 2</a:t>
            </a:r>
          </a:p>
        </p:txBody>
      </p:sp>
      <p:sp>
        <p:nvSpPr>
          <p:cNvPr id="4" name="TextBox 3"/>
          <p:cNvSpPr txBox="1"/>
          <p:nvPr/>
        </p:nvSpPr>
        <p:spPr>
          <a:xfrm>
            <a:off x="777240" y="2560320"/>
            <a:ext cx="9601200" cy="1005840"/>
          </a:xfrm>
          <a:prstGeom prst="rect">
            <a:avLst/>
          </a:prstGeom>
          <a:noFill/>
        </p:spPr>
        <p:txBody>
          <a:bodyPr wrap="square" anchor="t" lIns="0" rIns="0" tIns="0" bIns="0">
            <a:spAutoFit/>
          </a:bodyPr>
          <a:lstStyle/>
          <a:p>
            <a:pPr algn="l"/>
            <a:r>
              <a:rPr sz="4400" b="1" i="0">
                <a:solidFill>
                  <a:srgbClr val="FFFFFF"/>
                </a:solidFill>
                <a:latin typeface="Calibri"/>
              </a:rPr>
              <a:t>Final Check — TIR, Dispersion &amp; Twinkling</a:t>
            </a:r>
          </a:p>
        </p:txBody>
      </p:sp>
      <p:sp>
        <p:nvSpPr>
          <p:cNvPr id="5" name="TextBox 4"/>
          <p:cNvSpPr txBox="1"/>
          <p:nvPr/>
        </p:nvSpPr>
        <p:spPr>
          <a:xfrm>
            <a:off x="777240" y="3749039"/>
            <a:ext cx="9601200" cy="548640"/>
          </a:xfrm>
          <a:prstGeom prst="rect">
            <a:avLst/>
          </a:prstGeom>
          <a:noFill/>
        </p:spPr>
        <p:txBody>
          <a:bodyPr wrap="square" anchor="t" lIns="0" rIns="0" tIns="0" bIns="0">
            <a:spAutoFit/>
          </a:bodyPr>
          <a:lstStyle/>
          <a:p>
            <a:pPr algn="l"/>
            <a:r>
              <a:rPr sz="1800" b="0" i="0">
                <a:solidFill>
                  <a:srgbClr val="CADCFC"/>
                </a:solidFill>
                <a:latin typeface="Calibri"/>
              </a:rPr>
              <a:t>4 questions  •  think before the answer reveals on the next slide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Q1 — Critical angle</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The critical angle is the angle of incidence in the denser medium for which the angle of refraction is: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0°</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45°</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90°</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equal to the critical angle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Q1 — Critical angle</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The critical angle is the angle of incidence in the denser medium for which the angle of refraction is: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0°</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45°</a:t>
            </a:r>
          </a:p>
        </p:txBody>
      </p:sp>
      <p:sp>
        <p:nvSpPr>
          <p:cNvPr id="16" name="Rounded Rectangle 15"/>
          <p:cNvSpPr/>
          <p:nvPr/>
        </p:nvSpPr>
        <p:spPr>
          <a:xfrm>
            <a:off x="640080" y="4370831"/>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1" i="0">
                <a:solidFill>
                  <a:srgbClr val="1D2433"/>
                </a:solidFill>
                <a:latin typeface="Calibri"/>
              </a:rPr>
              <a:t>90°</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equal to the critical angle</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At the critical angle the refracted ray grazes along the boundary surface, making an angle of refraction of exactly 90°.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Q2 — TIR condition</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Total internal reflection can occur only when light travels: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from a rarer to a denser medium</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from a denser to a rarer medium, beyond the critical angle</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along the normal</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through a vacuum</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Q2 — TIR condition</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Total internal reflection can occur only when light travels: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from a rarer to a denser medium</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from a denser to a rarer medium, beyond the critical angle</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along the normal</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through a vacuum</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Both conditions are needed together: denser-to-rarer travel, and an angle of incidence greater than the critical angle.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Q3 — Diamond</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 diamond sparkles brilliantly mainly because it has: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a very low refractive index</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a very high refractive index and hence a small critical angle</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no refractive index</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a rough, unpolished surface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Q3 — Diamond</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A diamond sparkles brilliantly mainly because it has:</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a very low refractive index</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a very high refractive index and hence a small critical angle</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no refractive index</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a rough, unpolished surface</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With C ≈ 24.4°, light entering a cut diamond undergoes TIR repeatedly before it can escape, producing its brilliance.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0A9396"/>
                </a:solidFill>
                <a:latin typeface="Arial"/>
              </a:rPr>
              <a:t>QUIZ QUESTION</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Q4 — Twinkling</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Stars appear to twinkle mainly because of:</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their own changing brightness</a:t>
            </a:r>
          </a:p>
        </p:txBody>
      </p:sp>
      <p:sp>
        <p:nvSpPr>
          <p:cNvPr id="12" name="Rounded Rectangle 11"/>
          <p:cNvSpPr/>
          <p:nvPr/>
        </p:nvSpPr>
        <p:spPr>
          <a:xfrm>
            <a:off x="617220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B</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0" i="0">
                <a:solidFill>
                  <a:srgbClr val="1D2433"/>
                </a:solidFill>
                <a:latin typeface="Calibri"/>
              </a:rPr>
              <a:t>continuously changing refraction in the Earth's atmosphere</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dispersion by a prism</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1D2433"/>
                </a:solidFill>
                <a:latin typeface="Calibri"/>
              </a:rPr>
              <a:t>total internal reflection in the star itself</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Oval 1"/>
          <p:cNvSpPr/>
          <p:nvPr/>
        </p:nvSpPr>
        <p:spPr>
          <a:xfrm>
            <a:off x="10927080" y="365760"/>
            <a:ext cx="868680" cy="868680"/>
          </a:xfrm>
          <a:prstGeom prst="ellipse">
            <a:avLst/>
          </a:prstGeom>
          <a:noFill/>
          <a:ln w="15875">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502920"/>
            <a:ext cx="256032" cy="2560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457200"/>
            <a:ext cx="9509760" cy="320040"/>
          </a:xfrm>
          <a:prstGeom prst="rect">
            <a:avLst/>
          </a:prstGeom>
          <a:noFill/>
        </p:spPr>
        <p:txBody>
          <a:bodyPr wrap="square" anchor="t" lIns="0" rIns="0" tIns="0" bIns="0">
            <a:spAutoFit/>
          </a:bodyPr>
          <a:lstStyle/>
          <a:p>
            <a:pPr algn="l"/>
            <a:r>
              <a:rPr sz="1300" b="1" i="0">
                <a:solidFill>
                  <a:srgbClr val="2A9D8F"/>
                </a:solidFill>
                <a:latin typeface="Arial"/>
              </a:rPr>
              <a:t>ANSWER REVEALED</a:t>
            </a:r>
          </a:p>
        </p:txBody>
      </p:sp>
      <p:sp>
        <p:nvSpPr>
          <p:cNvPr id="5" name="TextBox 4"/>
          <p:cNvSpPr txBox="1"/>
          <p:nvPr/>
        </p:nvSpPr>
        <p:spPr>
          <a:xfrm>
            <a:off x="548640" y="777240"/>
            <a:ext cx="9966960" cy="822960"/>
          </a:xfrm>
          <a:prstGeom prst="rect">
            <a:avLst/>
          </a:prstGeom>
          <a:noFill/>
        </p:spPr>
        <p:txBody>
          <a:bodyPr wrap="square" anchor="t" lIns="0" rIns="0" tIns="0" bIns="0">
            <a:spAutoFit/>
          </a:bodyPr>
          <a:lstStyle/>
          <a:p>
            <a:pPr algn="l"/>
            <a:r>
              <a:rPr sz="3000" b="1" i="0">
                <a:solidFill>
                  <a:srgbClr val="1D2433"/>
                </a:solidFill>
                <a:latin typeface="Calibri"/>
              </a:rPr>
              <a:t>Q4 — Twinkling</a:t>
            </a:r>
          </a:p>
        </p:txBody>
      </p:sp>
      <p:sp>
        <p:nvSpPr>
          <p:cNvPr id="6" name="Rounded Rectangle 5"/>
          <p:cNvSpPr/>
          <p:nvPr/>
        </p:nvSpPr>
        <p:spPr>
          <a:xfrm>
            <a:off x="640080" y="1783080"/>
            <a:ext cx="10881360" cy="1325880"/>
          </a:xfrm>
          <a:prstGeom prst="roundRect">
            <a:avLst>
              <a:gd name="adj" fmla="val 4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783080"/>
            <a:ext cx="10149840" cy="1325880"/>
          </a:xfrm>
          <a:prstGeom prst="rect">
            <a:avLst/>
          </a:prstGeom>
          <a:noFill/>
        </p:spPr>
        <p:txBody>
          <a:bodyPr wrap="square" anchor="ctr" lIns="0" rIns="0" tIns="0" bIns="0">
            <a:spAutoFit/>
          </a:bodyPr>
          <a:lstStyle/>
          <a:p>
            <a:pPr algn="l"/>
            <a:r>
              <a:rPr sz="1800" b="1" i="0">
                <a:solidFill>
                  <a:srgbClr val="1D2433"/>
                </a:solidFill>
                <a:latin typeface="Calibri"/>
              </a:rPr>
              <a:t>Stars appear to twinkle mainly because of:</a:t>
            </a:r>
          </a:p>
        </p:txBody>
      </p:sp>
      <p:sp>
        <p:nvSpPr>
          <p:cNvPr id="8" name="Rounded Rectangle 7"/>
          <p:cNvSpPr/>
          <p:nvPr/>
        </p:nvSpPr>
        <p:spPr>
          <a:xfrm>
            <a:off x="640080" y="3337560"/>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3566160"/>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a:t>
            </a:r>
          </a:p>
        </p:txBody>
      </p:sp>
      <p:sp>
        <p:nvSpPr>
          <p:cNvPr id="11" name="TextBox 10"/>
          <p:cNvSpPr txBox="1"/>
          <p:nvPr/>
        </p:nvSpPr>
        <p:spPr>
          <a:xfrm>
            <a:off x="1508760" y="3337560"/>
            <a:ext cx="4297680" cy="868680"/>
          </a:xfrm>
          <a:prstGeom prst="rect">
            <a:avLst/>
          </a:prstGeom>
          <a:noFill/>
        </p:spPr>
        <p:txBody>
          <a:bodyPr wrap="square" anchor="ctr" lIns="0" rIns="0" tIns="0" bIns="0">
            <a:spAutoFit/>
          </a:bodyPr>
          <a:lstStyle/>
          <a:p>
            <a:pPr algn="l"/>
            <a:r>
              <a:rPr sz="1450" b="0" i="0">
                <a:solidFill>
                  <a:srgbClr val="6B7280"/>
                </a:solidFill>
                <a:latin typeface="Calibri"/>
              </a:rPr>
              <a:t>their own changing brightness</a:t>
            </a:r>
          </a:p>
        </p:txBody>
      </p:sp>
      <p:sp>
        <p:nvSpPr>
          <p:cNvPr id="12" name="Rounded Rectangle 11"/>
          <p:cNvSpPr/>
          <p:nvPr/>
        </p:nvSpPr>
        <p:spPr>
          <a:xfrm>
            <a:off x="6172200" y="3337560"/>
            <a:ext cx="5349240" cy="868680"/>
          </a:xfrm>
          <a:prstGeom prst="roundRect">
            <a:avLst>
              <a:gd name="adj" fmla="val 12000"/>
            </a:avLst>
          </a:prstGeom>
          <a:solidFill>
            <a:srgbClr val="E9F5F0"/>
          </a:solidFill>
          <a:ln w="254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3566160"/>
            <a:ext cx="411480" cy="41148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3566160"/>
            <a:ext cx="411480" cy="411480"/>
          </a:xfrm>
          <a:prstGeom prst="rect">
            <a:avLst/>
          </a:prstGeom>
          <a:noFill/>
        </p:spPr>
        <p:txBody>
          <a:bodyPr wrap="square" anchor="ctr" lIns="0" rIns="0" tIns="0" bIns="0">
            <a:spAutoFit/>
          </a:bodyPr>
          <a:lstStyle/>
          <a:p>
            <a:pPr algn="ctr"/>
            <a:r>
              <a:rPr sz="1400" b="1" i="0">
                <a:solidFill>
                  <a:srgbClr val="FFFFFF"/>
                </a:solidFill>
                <a:latin typeface="Calibri"/>
              </a:rPr>
              <a:t>✓</a:t>
            </a:r>
          </a:p>
        </p:txBody>
      </p:sp>
      <p:sp>
        <p:nvSpPr>
          <p:cNvPr id="15" name="TextBox 14"/>
          <p:cNvSpPr txBox="1"/>
          <p:nvPr/>
        </p:nvSpPr>
        <p:spPr>
          <a:xfrm>
            <a:off x="7040880" y="3337560"/>
            <a:ext cx="4297680" cy="868680"/>
          </a:xfrm>
          <a:prstGeom prst="rect">
            <a:avLst/>
          </a:prstGeom>
          <a:noFill/>
        </p:spPr>
        <p:txBody>
          <a:bodyPr wrap="square" anchor="ctr" lIns="0" rIns="0" tIns="0" bIns="0">
            <a:spAutoFit/>
          </a:bodyPr>
          <a:lstStyle/>
          <a:p>
            <a:pPr algn="l"/>
            <a:r>
              <a:rPr sz="1450" b="1" i="0">
                <a:solidFill>
                  <a:srgbClr val="1D2433"/>
                </a:solidFill>
                <a:latin typeface="Calibri"/>
              </a:rPr>
              <a:t>continuously changing refraction in the Earth's atmosphere</a:t>
            </a:r>
          </a:p>
        </p:txBody>
      </p:sp>
      <p:sp>
        <p:nvSpPr>
          <p:cNvPr id="16" name="Rounded Rectangle 15"/>
          <p:cNvSpPr/>
          <p:nvPr/>
        </p:nvSpPr>
        <p:spPr>
          <a:xfrm>
            <a:off x="64008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C</a:t>
            </a:r>
          </a:p>
        </p:txBody>
      </p:sp>
      <p:sp>
        <p:nvSpPr>
          <p:cNvPr id="19" name="TextBox 18"/>
          <p:cNvSpPr txBox="1"/>
          <p:nvPr/>
        </p:nvSpPr>
        <p:spPr>
          <a:xfrm>
            <a:off x="150876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dispersion by a prism</a:t>
            </a:r>
          </a:p>
        </p:txBody>
      </p:sp>
      <p:sp>
        <p:nvSpPr>
          <p:cNvPr id="20" name="Rounded Rectangle 19"/>
          <p:cNvSpPr/>
          <p:nvPr/>
        </p:nvSpPr>
        <p:spPr>
          <a:xfrm>
            <a:off x="6172200" y="4370831"/>
            <a:ext cx="5349240" cy="868680"/>
          </a:xfrm>
          <a:prstGeom prst="roundRect">
            <a:avLst>
              <a:gd name="adj" fmla="val 12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4599431"/>
            <a:ext cx="411480" cy="411480"/>
          </a:xfrm>
          <a:prstGeom prst="ellipse">
            <a:avLst/>
          </a:prstGeom>
          <a:solidFill>
            <a:srgbClr val="B7C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599431"/>
            <a:ext cx="411480" cy="411480"/>
          </a:xfrm>
          <a:prstGeom prst="rect">
            <a:avLst/>
          </a:prstGeom>
          <a:noFill/>
        </p:spPr>
        <p:txBody>
          <a:bodyPr wrap="square" anchor="ctr" lIns="0" rIns="0" tIns="0" bIns="0">
            <a:spAutoFit/>
          </a:bodyPr>
          <a:lstStyle/>
          <a:p>
            <a:pPr algn="ctr"/>
            <a:r>
              <a:rPr sz="1400" b="1" i="0">
                <a:solidFill>
                  <a:srgbClr val="FFFFFF"/>
                </a:solidFill>
                <a:latin typeface="Calibri"/>
              </a:rPr>
              <a:t>D</a:t>
            </a:r>
          </a:p>
        </p:txBody>
      </p:sp>
      <p:sp>
        <p:nvSpPr>
          <p:cNvPr id="23" name="TextBox 22"/>
          <p:cNvSpPr txBox="1"/>
          <p:nvPr/>
        </p:nvSpPr>
        <p:spPr>
          <a:xfrm>
            <a:off x="7040880" y="4370831"/>
            <a:ext cx="4297680" cy="868680"/>
          </a:xfrm>
          <a:prstGeom prst="rect">
            <a:avLst/>
          </a:prstGeom>
          <a:noFill/>
        </p:spPr>
        <p:txBody>
          <a:bodyPr wrap="square" anchor="ctr" lIns="0" rIns="0" tIns="0" bIns="0">
            <a:spAutoFit/>
          </a:bodyPr>
          <a:lstStyle/>
          <a:p>
            <a:pPr algn="l"/>
            <a:r>
              <a:rPr sz="1450" b="0" i="0">
                <a:solidFill>
                  <a:srgbClr val="6B7280"/>
                </a:solidFill>
                <a:latin typeface="Calibri"/>
              </a:rPr>
              <a:t>total internal reflection in the star itself</a:t>
            </a:r>
          </a:p>
        </p:txBody>
      </p:sp>
      <p:sp>
        <p:nvSpPr>
          <p:cNvPr id="24" name="Rounded Rectangle 23"/>
          <p:cNvSpPr/>
          <p:nvPr/>
        </p:nvSpPr>
        <p:spPr>
          <a:xfrm>
            <a:off x="640080" y="5440680"/>
            <a:ext cx="10881360" cy="1097280"/>
          </a:xfrm>
          <a:prstGeom prst="roundRect">
            <a:avLst>
              <a:gd name="adj" fmla="val 5000"/>
            </a:avLst>
          </a:prstGeom>
          <a:solidFill>
            <a:srgbClr val="FFFFFF"/>
          </a:solidFill>
          <a:ln>
            <a:noFill/>
          </a:ln>
          <a:effectLst>
            <a:outerShdw blurRad="88900" dist="38100" dir="5400000" rotWithShape="0" algn="bl">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596128"/>
            <a:ext cx="4572000" cy="320040"/>
          </a:xfrm>
          <a:prstGeom prst="rect">
            <a:avLst/>
          </a:prstGeom>
          <a:noFill/>
        </p:spPr>
        <p:txBody>
          <a:bodyPr wrap="square" anchor="t" lIns="0" rIns="0" tIns="0" bIns="0">
            <a:spAutoFit/>
          </a:bodyPr>
          <a:lstStyle/>
          <a:p>
            <a:pPr algn="l"/>
            <a:r>
              <a:rPr sz="1300" b="1" i="0">
                <a:solidFill>
                  <a:srgbClr val="2A9D8F"/>
                </a:solidFill>
                <a:latin typeface="Arial"/>
              </a:rPr>
              <a:t>WHY</a:t>
            </a:r>
          </a:p>
        </p:txBody>
      </p:sp>
      <p:sp>
        <p:nvSpPr>
          <p:cNvPr id="26" name="TextBox 25"/>
          <p:cNvSpPr txBox="1"/>
          <p:nvPr/>
        </p:nvSpPr>
        <p:spPr>
          <a:xfrm>
            <a:off x="1005840" y="5943600"/>
            <a:ext cx="10149840" cy="548640"/>
          </a:xfrm>
          <a:prstGeom prst="rect">
            <a:avLst/>
          </a:prstGeom>
          <a:noFill/>
        </p:spPr>
        <p:txBody>
          <a:bodyPr wrap="square" anchor="t" lIns="0" rIns="0" tIns="0" bIns="0">
            <a:spAutoFit/>
          </a:bodyPr>
          <a:lstStyle/>
          <a:p>
            <a:pPr algn="l">
              <a:lnSpc>
                <a:spcPct val="105000"/>
              </a:lnSpc>
            </a:pPr>
            <a:r>
              <a:rPr sz="1450" b="0" i="0">
                <a:solidFill>
                  <a:srgbClr val="1D2433"/>
                </a:solidFill>
                <a:latin typeface="Calibri"/>
              </a:rPr>
              <a:t>Air layers of constantly changing density bend starlight by varying amounts, making its apparent position and brightness flicker.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D2433"/>
        </a:solidFill>
        <a:effectLst/>
      </p:bgPr>
    </p:bg>
    <p:spTree>
      <p:nvGrpSpPr>
        <p:cNvPr id="1" name=""/>
        <p:cNvGrpSpPr/>
        <p:nvPr/>
      </p:nvGrpSpPr>
      <p:grpSpPr/>
      <p:sp>
        <p:nvSpPr>
          <p:cNvPr id="2" name="Oval 1"/>
          <p:cNvSpPr/>
          <p:nvPr/>
        </p:nvSpPr>
        <p:spPr>
          <a:xfrm>
            <a:off x="-1463040" y="3108960"/>
            <a:ext cx="4754880" cy="4754880"/>
          </a:xfrm>
          <a:prstGeom prst="ellipse">
            <a:avLst/>
          </a:prstGeom>
          <a:solidFill>
            <a:srgbClr val="0A93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1645920"/>
            <a:ext cx="4206240" cy="4206240"/>
          </a:xfrm>
          <a:prstGeom prst="ellipse">
            <a:avLst/>
          </a:prstGeom>
          <a:solidFill>
            <a:srgbClr val="F4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10515600" cy="1097280"/>
          </a:xfrm>
          <a:prstGeom prst="rect">
            <a:avLst/>
          </a:prstGeom>
          <a:noFill/>
        </p:spPr>
        <p:txBody>
          <a:bodyPr wrap="square" anchor="t" lIns="0" rIns="0" tIns="0" bIns="0">
            <a:spAutoFit/>
          </a:bodyPr>
          <a:lstStyle/>
          <a:p>
            <a:pPr algn="l"/>
            <a:r>
              <a:rPr sz="4600" b="1" i="0">
                <a:solidFill>
                  <a:srgbClr val="FFFFFF"/>
                </a:solidFill>
                <a:latin typeface="Calibri"/>
              </a:rPr>
              <a:t>Bending Light, Understanding Nature</a:t>
            </a:r>
          </a:p>
        </p:txBody>
      </p:sp>
      <p:sp>
        <p:nvSpPr>
          <p:cNvPr id="5" name="TextBox 4"/>
          <p:cNvSpPr txBox="1"/>
          <p:nvPr/>
        </p:nvSpPr>
        <p:spPr>
          <a:xfrm>
            <a:off x="731520" y="3566160"/>
            <a:ext cx="10058400" cy="1097280"/>
          </a:xfrm>
          <a:prstGeom prst="rect">
            <a:avLst/>
          </a:prstGeom>
          <a:noFill/>
        </p:spPr>
        <p:txBody>
          <a:bodyPr wrap="square" anchor="t" lIns="0" rIns="0" tIns="0" bIns="0">
            <a:spAutoFit/>
          </a:bodyPr>
          <a:lstStyle/>
          <a:p>
            <a:pPr algn="l"/>
            <a:r>
              <a:rPr sz="1900" b="0" i="0">
                <a:solidFill>
                  <a:srgbClr val="CADCFC"/>
                </a:solidFill>
                <a:latin typeface="Calibri"/>
              </a:rPr>
              <a:t>From a straw that looks bent in water to the sparkle of a diamond and the twinkle of a star, refraction explains it all — one law, endless everyday effects.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