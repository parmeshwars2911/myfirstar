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a pencil in a glass of water appearing bent. Stress: refraction is a change in speed and direction, not a change in frequency.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Snell's law on the board and label i and r on the refraction_bending diagram already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speed of light in vacuum = 3 x 10^8 m/s. n has no unit since it is a ratio of two speeds. The denser the medium, the smaller v, and so the larger 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higher n means light slows down more and bends more strongly on entering that medium.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through both directions (air-to-glass and glass-to-air) so students see the reciprocal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very common numerical style in the MSBSHSE textbook — always rearrange n = c/v for whichever quantity is asked.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two key facts examiners look for: the emergent ray is parallel to the incident ray, and it is laterally displaced.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progression: partial internal reflection always accompanies refraction, but TIR is a special case that only begins once the critical angle is exceeded.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the previous slide: below the critical angle you get refraction plus partial reflection; only above it do you get true total internal reflection.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by setting the angle of refraction to 90° in Snell's law: n = sin 90° / sin C = 1 / sin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looking up from underwater, the entire sky outside a cone of about 97° (2C) is compressed into that circle — beyond it, the water surface acts like a mirror.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optical-fibre and mirage diagrams alongside this slide; both are direct consequences of the same TIR condition just derived.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critical-angle condition: TIR happens here even though there is no sharp single boundary — the air's density changes gradually with height.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contrast: a slab keeps the ray parallel, a prism deviates it towards the base — this deviation, being different for each colour, is what produces dispersion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rainbow is a natural example of dispersion combined with internal reflection inside raindrops.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atmospheric refraction that causes twinkling; here it shifts the Sun's apparent position rather than making it flicker.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why stars appear steady when viewed from space (no atmosphere) — reinforces that twinkling is purely an atmospheric refraction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each recap point; ask students to state the formula for critical angle from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STD 10 • SCIENCE PART 1 • LIGHT</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5000" b="1" i="0">
                <a:solidFill>
                  <a:srgbClr val="FFFFFF"/>
                </a:solidFill>
                <a:latin typeface="Calibri"/>
              </a:rPr>
              <a:t>Refraction of Light</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Laws of refraction  •  Refractive index  •  Total internal reflection  •  Dispersion  •  Twinkling of stars</a:t>
            </a:r>
          </a:p>
        </p:txBody>
      </p:sp>
      <p:pic>
        <p:nvPicPr>
          <p:cNvPr id="7" name="Picture 6" descr="mh10_refr_bend.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refraction, the laws of refraction and refractive index</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Trace a ray through a rectangular glass slab and define lateral displacement</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Distinguish partial internal reflection from total internal reflection and use the critical angle</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Describe how TIR explains optical fibres, mirage and diamond sparkle</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refraction and dispersion of light through a prism</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atmospheric refraction: advance sunrise, delayed sunset and the twinkling of stars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Refraction and Refractive Index</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Why light bends, and how we measure the bending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What Is Refraction?</a:t>
            </a:r>
          </a:p>
        </p:txBody>
      </p:sp>
      <p:pic>
        <p:nvPicPr>
          <p:cNvPr id="6" name="Picture 5" descr="mh10_refr_bend.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Bending at a boundary</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When light passes from one transparent medium into another, it changes speed and bends at the boundary — this is refraction.</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Light bends towards the normal when it enters a denser medium (e.g. air to glass), and away from the normal when it enters a rarer medium (e.g. glass to air).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A ray travelling exactly along the normal does not bend at all, though its speed still changes.</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Refraction happens because the speed of light is different in different media; the frequency stays the same but the wavelength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LAWS OF 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Two Laws of Refraction</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First law: the incident ray, the refracted ray and the normal at the point of incidence all lie in the same plane.</a:t>
            </a:r>
          </a:p>
        </p:txBody>
      </p:sp>
      <p:sp>
        <p:nvSpPr>
          <p:cNvPr id="8" name="TextBox 7"/>
          <p:cNvSpPr txBox="1"/>
          <p:nvPr/>
        </p:nvSpPr>
        <p:spPr>
          <a:xfrm>
            <a:off x="1005840" y="3474720"/>
            <a:ext cx="10058400" cy="242316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Second law (Snell's law): the ratio of the sine of the angle of incidence to the sine of the angle of refraction is constant for a given pair of media.</a:t>
            </a:r>
          </a:p>
          <a:p>
            <a:pPr algn="l">
              <a:spcAft>
                <a:spcPts val="900"/>
              </a:spcAft>
            </a:pPr>
            <a:r>
              <a:rPr sz="1500" b="1" i="0">
                <a:solidFill>
                  <a:srgbClr val="0A9396"/>
                </a:solidFill>
                <a:latin typeface="Calibri"/>
              </a:rPr>
              <a:t>•  </a:t>
            </a:r>
            <a:r>
              <a:rPr sz="1500" b="0" i="0">
                <a:solidFill>
                  <a:srgbClr val="1D2433"/>
                </a:solidFill>
                <a:latin typeface="Calibri"/>
              </a:rPr>
              <a:t>This constant is called the refractive index of the second medium with respect to the first.</a:t>
            </a:r>
          </a:p>
          <a:p>
            <a:pPr algn="l">
              <a:spcAft>
                <a:spcPts val="900"/>
              </a:spcAft>
            </a:pPr>
            <a:r>
              <a:rPr sz="1500" b="1" i="0">
                <a:solidFill>
                  <a:srgbClr val="0A9396"/>
                </a:solidFill>
                <a:latin typeface="Calibri"/>
              </a:rPr>
              <a:t>•  </a:t>
            </a:r>
            <a:r>
              <a:rPr sz="1500" b="0" i="0">
                <a:solidFill>
                  <a:srgbClr val="1D2433"/>
                </a:solidFill>
                <a:latin typeface="Calibri"/>
              </a:rPr>
              <a:t>Snell's law is written as: sin i / sin r = constant = ₁n₂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The absolute refractive index of a medium is the ratio of the speed of light in vacuum (or air) to its speed in that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n = c / 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REFERENCE VALUES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Indices of Common Media</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Air</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1.0003 (taken as 1 for most calculations)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rop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Water</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1.33 — light travels at about 2.26 x 10⁸ m/s</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Glass (crown)</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1.5 — light travels at about 2 x 10⁸ m/s</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Diamond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2.42 — the highest of common transparent materials, which is why it sparkles so brilliantly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RELATIVE 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Refractive Index Between Two Media</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When light travels from medium 1 into medium 2, the refractive index of medium 2 with respect to medium 1 relates their absolute indices and speeds.</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₁n₂ = n₂ / n₁ = v₁ / v₂ = sin i / sin r</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If medium 2 is denser than medium 1, ₁n₂ &gt; 1 and the ray bends towards the normal.</a:t>
            </a:r>
          </a:p>
          <a:p>
            <a:pPr algn="l">
              <a:spcAft>
                <a:spcPts val="900"/>
              </a:spcAft>
            </a:pPr>
            <a:r>
              <a:rPr sz="1500" b="1" i="0">
                <a:solidFill>
                  <a:srgbClr val="0A9396"/>
                </a:solidFill>
                <a:latin typeface="Calibri"/>
              </a:rPr>
              <a:t>•  </a:t>
            </a:r>
            <a:r>
              <a:rPr sz="1500" b="0" i="0">
                <a:solidFill>
                  <a:srgbClr val="1D2433"/>
                </a:solidFill>
                <a:latin typeface="Calibri"/>
              </a:rPr>
              <a:t>If medium 2 is rarer than medium 1, ₁n₂ &lt; 1 and the ray bends away from the normal.</a:t>
            </a:r>
          </a:p>
          <a:p>
            <a:pPr algn="l">
              <a:spcAft>
                <a:spcPts val="900"/>
              </a:spcAft>
            </a:pPr>
            <a:r>
              <a:rPr sz="1500" b="1" i="0">
                <a:solidFill>
                  <a:srgbClr val="0A9396"/>
                </a:solidFill>
                <a:latin typeface="Calibri"/>
              </a:rPr>
              <a:t>•  </a:t>
            </a:r>
            <a:r>
              <a:rPr sz="1500" b="0" i="0">
                <a:solidFill>
                  <a:srgbClr val="1D2433"/>
                </a:solidFill>
                <a:latin typeface="Calibri"/>
              </a:rPr>
              <a:t>₁n₂ and ₂n₁ are reciprocals of each other: ₁n₂ = 1 / ₂n₁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Finding the Speed of Light in Glass</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absolute refractive index of glass is 1.5. Find the speed of light in glass. (Speed of light in vacuum = 3 x 10⁸ m/s.)</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c / v</a:t>
            </a:r>
          </a:p>
          <a:p>
            <a:pPr algn="l">
              <a:lnSpc>
                <a:spcPct val="105000"/>
              </a:lnSpc>
              <a:spcAft>
                <a:spcPts val="700"/>
              </a:spcAft>
            </a:pPr>
            <a:r>
              <a:rPr sz="1600" b="0" i="0">
                <a:solidFill>
                  <a:srgbClr val="1D2433"/>
                </a:solidFill>
                <a:latin typeface="Calibri"/>
              </a:rPr>
              <a:t>1.5 = (3 x 10⁸) / v</a:t>
            </a:r>
          </a:p>
          <a:p>
            <a:pPr algn="l">
              <a:lnSpc>
                <a:spcPct val="105000"/>
              </a:lnSpc>
              <a:spcAft>
                <a:spcPts val="700"/>
              </a:spcAft>
            </a:pPr>
            <a:r>
              <a:rPr sz="1600" b="0" i="0">
                <a:solidFill>
                  <a:srgbClr val="1D2433"/>
                </a:solidFill>
                <a:latin typeface="Calibri"/>
              </a:rPr>
              <a:t>v = (3 x 10⁸) / 1.5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v = 2 x 10⁸ 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GLASS SLAB</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Through a Rectangular Glass Slab</a:t>
            </a:r>
          </a:p>
        </p:txBody>
      </p:sp>
      <p:pic>
        <p:nvPicPr>
          <p:cNvPr id="6" name="Picture 5" descr="mh10_refr_block.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Emergent ray is parallel but shifted</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Light refracts twice — bending towards the normal on entering (air to glass) and away from the normal on leaving (glass to air).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two parallel faces bend it by equal and opposite amounts, so the emergent ray is parallel to the incident ray.</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emergent ray is only shifted sideways from the original path — this shift is called lateral displacement.</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Lateral displacement increases with the thickness of the slab and the angle of incidence.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 Laws, Refractive Index &amp; Glass Slab</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vacuum into vacuum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vacuum into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Entering a denser medium slows the light down, and it bends towards the normal; entering a rarer medium it speeds up and bends away from the normal.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greater than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greater than 90°</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This constant ratio is the refractive index of the second medium with respect to the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sin i / sin r for any two media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sin i / sin r for any two media</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n = speed of light in vacuum / speed of light in the medium. Since v is always less than c inside a medium, n is always greater than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1.33 x 10⁸ 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1.33 x 10⁸ m/s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v = c / n = (3 x 10⁸) / 1.33 ≈ 2.26 x 10⁸ 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Glass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After passing through a rectangular glass slab, the emergent ray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bent towards the normal</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parallel to the incident ray but laterally displaced</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reflected straight back</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split into seven colours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Glass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After passing through a rectangular glass slab, the emergent ray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bent towards the normal</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parallel to the incident ray but laterally displaced</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reflected straight back</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split into seven colours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The two equal-and-opposite refractions at the parallel faces keep the emergent ray parallel to the incident ray, but shift it sideways (lateral displacement).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Internal Reflection, Prism &amp; Atmospheric Refraction</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Critical angle, the prism, dispersion and sky phenomena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PARTIAL &amp; TOTAL</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Partial and Total Internal Reflection</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3657600"/>
          </a:xfrm>
          <a:prstGeom prst="rect">
            <a:avLst/>
          </a:prstGeom>
          <a:noFill/>
        </p:spPr>
        <p:txBody>
          <a:bodyPr wrap="square" anchor="t" lIns="0" rIns="0" tIns="0" bIns="0">
            <a:spAutoFit/>
          </a:bodyPr>
          <a:lstStyle/>
          <a:p>
            <a:pPr algn="l">
              <a:lnSpc>
                <a:spcPct val="105000"/>
              </a:lnSpc>
              <a:spcAft>
                <a:spcPts val="1100"/>
              </a:spcAft>
            </a:pPr>
            <a:r>
              <a:rPr sz="1600" b="1" i="0">
                <a:solidFill>
                  <a:srgbClr val="0A9396"/>
                </a:solidFill>
                <a:latin typeface="Calibri"/>
              </a:rPr>
              <a:t>•  </a:t>
            </a:r>
            <a:r>
              <a:rPr sz="1600" b="1" i="0">
                <a:solidFill>
                  <a:srgbClr val="1D2433"/>
                </a:solidFill>
                <a:latin typeface="Calibri"/>
              </a:rPr>
              <a:t>Partial internal reflection  </a:t>
            </a:r>
            <a:r>
              <a:rPr sz="1500" b="0" i="0">
                <a:solidFill>
                  <a:srgbClr val="6B7280"/>
                </a:solidFill>
                <a:latin typeface="Calibri"/>
              </a:rPr>
              <a:t>When light travels from a denser to a rarer medium at a small angle of incidence, most of it refracts out (bending away from the normal) while a small part is reflected back into the denser medium — this is partial internal reflection.</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As the angle increases  </a:t>
            </a:r>
            <a:r>
              <a:rPr sz="1500" b="0" i="0">
                <a:solidFill>
                  <a:srgbClr val="6B7280"/>
                </a:solidFill>
                <a:latin typeface="Calibri"/>
              </a:rPr>
              <a:t>As the angle of incidence in the denser medium is increased, the refracted ray bends more and more towards the boundary and grows fainter, while the reflected ray grows brighter.</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At the critical angle  </a:t>
            </a:r>
            <a:r>
              <a:rPr sz="1500" b="0" i="0">
                <a:solidFill>
                  <a:srgbClr val="6B7280"/>
                </a:solidFill>
                <a:latin typeface="Calibri"/>
              </a:rPr>
              <a:t>The critical angle (C) is the angle of incidence in the denser medium for which the angle of refraction becomes 90°; the refracted ray just grazes along the surface.</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Beyond the critical angle  </a:t>
            </a:r>
            <a:r>
              <a:rPr sz="1500" b="0" i="0">
                <a:solidFill>
                  <a:srgbClr val="6B7280"/>
                </a:solidFill>
                <a:latin typeface="Calibri"/>
              </a:rPr>
              <a:t>If the angle of incidence exceeds the critical angle, no light refracts out at all — all of it is reflected back into the denser medium. This is total internal reflection (TIR).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CONDITIONS FOR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Two Conditions for Total Internal Reflection</a:t>
            </a:r>
          </a:p>
        </p:txBody>
      </p:sp>
      <p:pic>
        <p:nvPicPr>
          <p:cNvPr id="6" name="Picture 5" descr="mh10_refr_tir.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When the surface acts as a mirror</a:t>
            </a:r>
          </a:p>
        </p:txBody>
      </p:sp>
      <p:sp>
        <p:nvSpPr>
          <p:cNvPr id="9" name="TextBox 8"/>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Total internal reflection can occur only when both of these conditions are satisfied together: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1. Light must travel from an optically denser medium into an optically rarer medium (for example, from water or glass into air).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2. The angle of incidence in the denser medium must be greater than the critical angle for that pair of media.</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When this happens, the boundary behaves like a perfect mirror — all the light energy is reflected back with none refracting out, as shown in the diagram.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CRITICAL ANGLE FORMULA</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Relating Critical Angle and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For light travelling from a denser medium into air, the critical angle C is related to the absolute refractive index of the denser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sin C = 1 / 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of Water</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refractive index of water is 1.33. Find its critical angle. (sin 48.8° ≈ 0.75)</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sin C = 1 / n = 1 / 1.33</a:t>
            </a:r>
          </a:p>
          <a:p>
            <a:pPr algn="l">
              <a:lnSpc>
                <a:spcPct val="105000"/>
              </a:lnSpc>
              <a:spcAft>
                <a:spcPts val="700"/>
              </a:spcAft>
            </a:pPr>
            <a:r>
              <a:rPr sz="1600" b="0" i="0">
                <a:solidFill>
                  <a:srgbClr val="1D2433"/>
                </a:solidFill>
                <a:latin typeface="Calibri"/>
              </a:rPr>
              <a:t>sin C = 0.75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C ≈ 48.8°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APPLICATIONS OF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Everyday Uses of Total Internal Reflection</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Optical fibres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entering a thin glass fibre strikes the inner wall beyond the critical angle again and again, so it travels the whole length by repeated TIR with almost no loss — used in telecommunication and medical endoscopes.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FFFFF.png"/>
          <p:cNvPicPr>
            <a:picLocks noChangeAspect="1"/>
          </p:cNvPicPr>
          <p:nvPr/>
        </p:nvPicPr>
        <p:blipFill>
          <a:blip r:embed="rId2"/>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Sparkle of a diamond</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Diamond has a very high refractive index (2.42) and hence a very small critical angle (about 24.4°). Light entering a cut diamond undergoes TIR repeatedly before emerging, giving it its brilliance.</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un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Mirage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On a hot road, air near the ground is much hotter and rarer than the air above. Light from the sky bends more and more as it grazes the hot layer until it undergoes TIR, reaching the eye as if reflected from a pool of water.</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ye_FFFFFF.png"/>
          <p:cNvPicPr>
            <a:picLocks noChangeAspect="1"/>
          </p:cNvPicPr>
          <p:nvPr/>
        </p:nvPicPr>
        <p:blipFill>
          <a:blip r:embed="rId4"/>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Totally reflecting prisms</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right-angled prism can turn or invert light by TIR at its hypotenuse face, used in periscopes and binoculars instead of ordinary mirrors.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MIRAGE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Mirage: TIR in the Open Air</a:t>
            </a:r>
          </a:p>
        </p:txBody>
      </p:sp>
      <p:pic>
        <p:nvPicPr>
          <p:cNvPr id="6" name="Picture 5" descr="mh10_refr_mirage.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The 'water' that isn't there</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On a very hot day, the layer of air just above a road or a desert surface becomes much hotter — and hence much less dense — than the air above it.</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Light from the sky travelling towards the ground is refracted more and more as it enters progressively rarer layers of hot air, bending it away from the normal at each layer.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Eventually the ray undergoes total internal reflection at the hottest layer and travels back up to an observer's eye.</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observer sees an inverted image of the sky on the road, which looks exactly like a pool of water.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PRISM</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of Light Through a Prism</a:t>
            </a:r>
          </a:p>
        </p:txBody>
      </p:sp>
      <p:pic>
        <p:nvPicPr>
          <p:cNvPr id="6" name="Picture 5" descr="mh10_refr_prism.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Bending towards the base</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A prism is a transparent optical element with two triangular ends and three rectangular side faces; the two faces at which refraction takes place are its refracting surfaces, and the angle between them is the refracting angle (angle of the prism).</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A ray entering a prism refracts at the first surface and again at the second surface, and unlike a glass slab the two surfaces are not parallel, so the emergent ray is NOT parallel to the incident ray.</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ray is bent towards the base of the prism; the angle between the incident ray (produced forward) and the emergent ray (produced backward) is called the angle of deviation.</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angle of deviation depends on the angle of incidence, the refracting angle and the material of the prism.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DISPERSION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Dispersion of Light Through a Prism</a:t>
            </a:r>
          </a:p>
        </p:txBody>
      </p:sp>
      <p:pic>
        <p:nvPicPr>
          <p:cNvPr id="6" name="Picture 5" descr="mh10_refr_disp.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Splitting white light</a:t>
            </a:r>
          </a:p>
        </p:txBody>
      </p:sp>
      <p:sp>
        <p:nvSpPr>
          <p:cNvPr id="9" name="TextBox 8"/>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White light is a mixture of seven colours: violet, indigo, blue, green, yellow, orange and red (VIBGYOR).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Each colour has a different wavelength, and a glass prism has a slightly different refractive index for each wavelength — violet is bent the most and red the least.</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When white light passes through a prism, the different colours are refracted by different amounts and emerge separated as a band of colours called a spectrum.</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This splitting of white light into its component colours is called dispersion.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ATMOSPHERIC 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Advance Sunrise and Delayed Sunset</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3657600"/>
          </a:xfrm>
          <a:prstGeom prst="rect">
            <a:avLst/>
          </a:prstGeom>
          <a:noFill/>
        </p:spPr>
        <p:txBody>
          <a:bodyPr wrap="square" anchor="t" lIns="0" rIns="0" tIns="0" bIns="0">
            <a:spAutoFit/>
          </a:bodyPr>
          <a:lstStyle/>
          <a:p>
            <a:pPr algn="l">
              <a:lnSpc>
                <a:spcPct val="105000"/>
              </a:lnSpc>
              <a:spcAft>
                <a:spcPts val="1100"/>
              </a:spcAft>
            </a:pPr>
            <a:r>
              <a:rPr sz="1600" b="1" i="0">
                <a:solidFill>
                  <a:srgbClr val="0A9396"/>
                </a:solidFill>
                <a:latin typeface="Calibri"/>
              </a:rPr>
              <a:t>•  </a:t>
            </a:r>
            <a:r>
              <a:rPr sz="1600" b="1" i="0">
                <a:solidFill>
                  <a:srgbClr val="1D2433"/>
                </a:solidFill>
                <a:latin typeface="Calibri"/>
              </a:rPr>
              <a:t>Denser air near the ground  </a:t>
            </a:r>
            <a:r>
              <a:rPr sz="1500" b="0" i="0">
                <a:solidFill>
                  <a:srgbClr val="6B7280"/>
                </a:solidFill>
                <a:latin typeface="Calibri"/>
              </a:rPr>
              <a:t>The Earth's atmosphere is denser near the surface and gradually becomes rarer with height, so sunlight bends continuously as it passes down through it.</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Advance sunrise  </a:t>
            </a:r>
            <a:r>
              <a:rPr sz="1500" b="0" i="0">
                <a:solidFill>
                  <a:srgbClr val="6B7280"/>
                </a:solidFill>
                <a:latin typeface="Calibri"/>
              </a:rPr>
              <a:t>Because of this bending, the Sun's light reaches us even when the Sun is still slightly below the horizon, so we see the Sun about two minutes before it actually rises.</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Delayed sunset  </a:t>
            </a:r>
            <a:r>
              <a:rPr sz="1500" b="0" i="0">
                <a:solidFill>
                  <a:srgbClr val="6B7280"/>
                </a:solidFill>
                <a:latin typeface="Calibri"/>
              </a:rPr>
              <a:t>For the same reason, we continue to see the Sun for about two minutes after it has actually set below the horizon — giving roughly four extra minutes of daylight each day.</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Oval-shaped Sun  </a:t>
            </a:r>
            <a:r>
              <a:rPr sz="1500" b="0" i="0">
                <a:solidFill>
                  <a:srgbClr val="6B7280"/>
                </a:solidFill>
                <a:latin typeface="Calibri"/>
              </a:rPr>
              <a:t>Near the horizon, light from the lower edge of the Sun is refracted more than that from the upper edge, so the Sun appears slightly flattened (oval) at sunrise and sunset.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TWINKLING OF STARS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Why Do Stars Twinkle?</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3657600"/>
          </a:xfrm>
          <a:prstGeom prst="rect">
            <a:avLst/>
          </a:prstGeom>
          <a:noFill/>
        </p:spPr>
        <p:txBody>
          <a:bodyPr wrap="square" anchor="t" lIns="0" rIns="0" tIns="0" bIns="0">
            <a:spAutoFit/>
          </a:bodyPr>
          <a:lstStyle/>
          <a:p>
            <a:pPr algn="l">
              <a:lnSpc>
                <a:spcPct val="105000"/>
              </a:lnSpc>
              <a:spcAft>
                <a:spcPts val="1100"/>
              </a:spcAft>
            </a:pPr>
            <a:r>
              <a:rPr sz="1600" b="1" i="0">
                <a:solidFill>
                  <a:srgbClr val="0A9396"/>
                </a:solidFill>
                <a:latin typeface="Calibri"/>
              </a:rPr>
              <a:t>•  </a:t>
            </a:r>
            <a:r>
              <a:rPr sz="1600" b="1" i="0">
                <a:solidFill>
                  <a:srgbClr val="1D2433"/>
                </a:solidFill>
                <a:latin typeface="Calibri"/>
              </a:rPr>
              <a:t>Atmospheric refraction  </a:t>
            </a:r>
            <a:r>
              <a:rPr sz="1500" b="0" i="0">
                <a:solidFill>
                  <a:srgbClr val="6B7280"/>
                </a:solidFill>
                <a:latin typeface="Calibri"/>
              </a:rPr>
              <a:t>Starlight enters the Earth's atmosphere and passes through air layers of continuously changing density and temperature before reaching our eyes.</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Continuous bending  </a:t>
            </a:r>
            <a:r>
              <a:rPr sz="1500" b="0" i="0">
                <a:solidFill>
                  <a:srgbClr val="6B7280"/>
                </a:solidFill>
                <a:latin typeface="Calibri"/>
              </a:rPr>
              <a:t>Because the atmosphere has no sharp boundaries, the light bends gradually and does not travel in a single straight line — it follows a slightly curved path.</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Fluctuating refractive index  </a:t>
            </a:r>
            <a:r>
              <a:rPr sz="1500" b="0" i="0">
                <a:solidFill>
                  <a:srgbClr val="6B7280"/>
                </a:solidFill>
                <a:latin typeface="Calibri"/>
              </a:rPr>
              <a:t>Air currents constantly change the density of the layers, so the amount of bending keeps changing from moment to moment.</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Apparent flickering  </a:t>
            </a:r>
            <a:r>
              <a:rPr sz="1500" b="0" i="0">
                <a:solidFill>
                  <a:srgbClr val="6B7280"/>
                </a:solidFill>
                <a:latin typeface="Calibri"/>
              </a:rPr>
              <a:t>This makes the star's apparent position and brightness fluctuate rapidly, which we see as twinkling.</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Planets do not twinkle noticeably  </a:t>
            </a:r>
            <a:r>
              <a:rPr sz="1500" b="0" i="0">
                <a:solidFill>
                  <a:srgbClr val="6B7280"/>
                </a:solidFill>
                <a:latin typeface="Calibri"/>
              </a:rPr>
              <a:t>Planets are much closer and appear as extended sources (a collection of many points), so the twinkling from different points averages 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Refraction &amp; Snell's law  —  </a:t>
            </a:r>
            <a:r>
              <a:rPr sz="1500" b="0" i="0">
                <a:solidFill>
                  <a:srgbClr val="6B7280"/>
                </a:solidFill>
                <a:latin typeface="Calibri"/>
              </a:rPr>
              <a:t>Light bends at a boundary; sin i / sin r = refractive index; n = c / v.</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Glass slab  —  </a:t>
            </a:r>
            <a:r>
              <a:rPr sz="1500" b="0" i="0">
                <a:solidFill>
                  <a:srgbClr val="6B7280"/>
                </a:solidFill>
                <a:latin typeface="Calibri"/>
              </a:rPr>
              <a:t>Emergent ray is parallel to the incident ray but laterally displaced.</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Partial vs total reflection  —  </a:t>
            </a:r>
            <a:r>
              <a:rPr sz="1500" b="0" i="0">
                <a:solidFill>
                  <a:srgbClr val="6B7280"/>
                </a:solidFill>
                <a:latin typeface="Calibri"/>
              </a:rPr>
              <a:t>Below the critical angle: refraction + partial reflection; beyond it (sin C = 1/n): total internal reflection.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TIR applications  —  </a:t>
            </a:r>
            <a:r>
              <a:rPr sz="1500" b="0" i="0">
                <a:solidFill>
                  <a:srgbClr val="6B7280"/>
                </a:solidFill>
                <a:latin typeface="Calibri"/>
              </a:rPr>
              <a:t>Optical fibres, diamond sparkle, mirage, totally reflecting prisms.</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Prism &amp; dispersion  —  </a:t>
            </a:r>
            <a:r>
              <a:rPr sz="1500" b="0" i="0">
                <a:solidFill>
                  <a:srgbClr val="6B7280"/>
                </a:solidFill>
                <a:latin typeface="Calibri"/>
              </a:rPr>
              <a:t>A prism deviates light towards its base and splits white light into the VIBGYOR spectrum.</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Atmospheric refraction  —  </a:t>
            </a:r>
            <a:r>
              <a:rPr sz="1500" b="0" i="0">
                <a:solidFill>
                  <a:srgbClr val="6B7280"/>
                </a:solidFill>
                <a:latin typeface="Calibri"/>
              </a:rPr>
              <a:t>Advance sunrise, delayed sunset and the twinkling of stars.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TIR, Dispersion &amp; Twinkling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4 questions  •  think before the answer reveals on the next slide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critical angle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critical angle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At the critical angle the refracted ray grazes along the boundary surface, making an angle of refraction of exactly 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through a vacuum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through a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Both conditions are needed together: denser-to-rarer travel, and an angle of incidence greater than the critical angle.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rough, unpolished surface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 rough, unpolished surface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With C ≈ 24.4°, light entering a cut diamond undergoes TIR repeatedly before it can escape, producing its brilliance.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total internal reflection in the star itself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total internal reflection in the star itself</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Air layers of constantly changing density bend starlight by varying amounts, making its apparent position and brightness flicker.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Bending Light, Understanding Nature</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From a straw that looks bent in water to the sparkle of a diamond and the twinkle of a star, refraction explains it all — one law, endless everyday effects.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