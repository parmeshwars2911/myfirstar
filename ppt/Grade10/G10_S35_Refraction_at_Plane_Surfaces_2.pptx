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previewing these objectives so students know what they should be able to do by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the glass block: the surfaces are NOT parallel, so the ray is deviated and emerges in a new direction.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idea of minimum deviation qualitatively; the full formula is not required, but the U-shaped trend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coin-in-a-mug demo. Give the formula n = real depth / apparent depth and note apparent depth is always the smaller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Rearrange the depth formula. Stress the answer is smaller than the real depth.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side-by-side to cement the difference between parallel faces (block) and inclined faces (prism).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 a consequence of atmospheric or water refraction. Ask students which ones they have noticed.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up the critical angle by imagining the angle of incidence growing. Give n = 1/sin C and the values (water ≈ 49°, glass ≈ 42°, diamond ≈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both conditions clearly. Highlight that T.I.R. is a perfect, loss-free reflection — the basis of its many 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notice the inverse trend: the denser the medium, the smaller its critical angle, the more readily it traps light.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each use back to the two conditions. Optical fibres and the reflecting prism are the most examined.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core/cladding refractive-index condition. This is the most important real-world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45° works: it beats glass's 42° critical angle. Contrast with a silvered mirror, which absorbs some light.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n = 1/sin C. Note the result (~42°) is the standard value students should remember for glass.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Rapid recap; cold-call for each result.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8686800" cy="457200"/>
          </a:xfrm>
          <a:prstGeom prst="rect">
            <a:avLst/>
          </a:prstGeom>
          <a:noFill/>
        </p:spPr>
        <p:txBody>
          <a:bodyPr wrap="square" anchor="t" lIns="0" rIns="0" tIns="0" bIns="0">
            <a:spAutoFit/>
          </a:bodyPr>
          <a:lstStyle/>
          <a:p>
            <a:pPr algn="l"/>
            <a:r>
              <a:rPr sz="1600" b="1" i="0">
                <a:solidFill>
                  <a:srgbClr val="FFC300"/>
                </a:solidFill>
                <a:latin typeface="Arial"/>
              </a:rPr>
              <a:t>ICSE • CLASS 10 • OPTICS</a:t>
            </a:r>
          </a:p>
        </p:txBody>
      </p:sp>
      <p:sp>
        <p:nvSpPr>
          <p:cNvPr id="5" name="TextBox 4"/>
          <p:cNvSpPr txBox="1"/>
          <p:nvPr/>
        </p:nvSpPr>
        <p:spPr>
          <a:xfrm>
            <a:off x="731520" y="1828800"/>
            <a:ext cx="8046720" cy="1737360"/>
          </a:xfrm>
          <a:prstGeom prst="rect">
            <a:avLst/>
          </a:prstGeom>
          <a:noFill/>
        </p:spPr>
        <p:txBody>
          <a:bodyPr wrap="square" anchor="b" lIns="0" rIns="0" tIns="0" bIns="0">
            <a:spAutoFit/>
          </a:bodyPr>
          <a:lstStyle/>
          <a:p>
            <a:pPr algn="l"/>
            <a:r>
              <a:rPr sz="4200" b="1" i="0">
                <a:solidFill>
                  <a:srgbClr val="FFFFFF"/>
                </a:solidFill>
                <a:latin typeface="Calibri"/>
              </a:rPr>
              <a:t>Refraction — Prisms &amp; T.I.R.</a:t>
            </a:r>
          </a:p>
        </p:txBody>
      </p:sp>
      <p:sp>
        <p:nvSpPr>
          <p:cNvPr id="6" name="TextBox 5"/>
          <p:cNvSpPr txBox="1"/>
          <p:nvPr/>
        </p:nvSpPr>
        <p:spPr>
          <a:xfrm>
            <a:off x="731520" y="3703320"/>
            <a:ext cx="8046720" cy="1463040"/>
          </a:xfrm>
          <a:prstGeom prst="rect">
            <a:avLst/>
          </a:prstGeom>
          <a:noFill/>
        </p:spPr>
        <p:txBody>
          <a:bodyPr wrap="square" anchor="t" lIns="0" rIns="0" tIns="0" bIns="0">
            <a:spAutoFit/>
          </a:bodyPr>
          <a:lstStyle/>
          <a:p>
            <a:pPr algn="l"/>
            <a:r>
              <a:rPr sz="1900" b="0" i="0">
                <a:solidFill>
                  <a:srgbClr val="CADCFC"/>
                </a:solidFill>
                <a:latin typeface="Calibri"/>
              </a:rPr>
              <a:t>The prism  •  Real and apparent depth  •  Critical angle  •  Total internal reflection</a:t>
            </a:r>
          </a:p>
        </p:txBody>
      </p:sp>
      <p:pic>
        <p:nvPicPr>
          <p:cNvPr id="7" name="Picture 6" descr="g10r2_prism.png"/>
          <p:cNvPicPr>
            <a:picLocks noChangeAspect="1"/>
          </p:cNvPicPr>
          <p:nvPr/>
        </p:nvPicPr>
        <p:blipFill>
          <a:blip r:embed="rId2"/>
          <a:stretch>
            <a:fillRect/>
          </a:stretch>
        </p:blipFill>
        <p:spPr>
          <a:xfrm>
            <a:off x="9052560" y="2103120"/>
            <a:ext cx="265176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INTRODUCTION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Learning Objectives</a:t>
            </a:r>
          </a:p>
        </p:txBody>
      </p:sp>
      <p:sp>
        <p:nvSpPr>
          <p:cNvPr id="6" name="Rounded Rectangle 5"/>
          <p:cNvSpPr/>
          <p:nvPr/>
        </p:nvSpPr>
        <p:spPr>
          <a:xfrm>
            <a:off x="64008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167127"/>
            <a:ext cx="457200" cy="4572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1</a:t>
            </a:r>
          </a:p>
        </p:txBody>
      </p:sp>
      <p:sp>
        <p:nvSpPr>
          <p:cNvPr id="9" name="TextBox 8"/>
          <p:cNvSpPr txBox="1"/>
          <p:nvPr/>
        </p:nvSpPr>
        <p:spPr>
          <a:xfrm>
            <a:off x="155448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Trace a ray of light through a triangular prism</a:t>
            </a:r>
          </a:p>
        </p:txBody>
      </p:sp>
      <p:sp>
        <p:nvSpPr>
          <p:cNvPr id="10" name="Rounded Rectangle 9"/>
          <p:cNvSpPr/>
          <p:nvPr/>
        </p:nvSpPr>
        <p:spPr>
          <a:xfrm>
            <a:off x="617220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167127"/>
            <a:ext cx="457200" cy="45720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2</a:t>
            </a:r>
          </a:p>
        </p:txBody>
      </p:sp>
      <p:sp>
        <p:nvSpPr>
          <p:cNvPr id="13" name="TextBox 12"/>
          <p:cNvSpPr txBox="1"/>
          <p:nvPr/>
        </p:nvSpPr>
        <p:spPr>
          <a:xfrm>
            <a:off x="708660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the angle of deviation produced by a prism</a:t>
            </a:r>
          </a:p>
        </p:txBody>
      </p:sp>
      <p:sp>
        <p:nvSpPr>
          <p:cNvPr id="14" name="Rounded Rectangle 13"/>
          <p:cNvSpPr/>
          <p:nvPr/>
        </p:nvSpPr>
        <p:spPr>
          <a:xfrm>
            <a:off x="64008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474719"/>
            <a:ext cx="457200" cy="45720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3</a:t>
            </a:r>
          </a:p>
        </p:txBody>
      </p:sp>
      <p:sp>
        <p:nvSpPr>
          <p:cNvPr id="17" name="TextBox 16"/>
          <p:cNvSpPr txBox="1"/>
          <p:nvPr/>
        </p:nvSpPr>
        <p:spPr>
          <a:xfrm>
            <a:off x="155448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Distinguish real depth from apparent depth</a:t>
            </a:r>
          </a:p>
        </p:txBody>
      </p:sp>
      <p:sp>
        <p:nvSpPr>
          <p:cNvPr id="18" name="Rounded Rectangle 17"/>
          <p:cNvSpPr/>
          <p:nvPr/>
        </p:nvSpPr>
        <p:spPr>
          <a:xfrm>
            <a:off x="617220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474719"/>
            <a:ext cx="457200" cy="45720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4</a:t>
            </a:r>
          </a:p>
        </p:txBody>
      </p:sp>
      <p:sp>
        <p:nvSpPr>
          <p:cNvPr id="21" name="TextBox 20"/>
          <p:cNvSpPr txBox="1"/>
          <p:nvPr/>
        </p:nvSpPr>
        <p:spPr>
          <a:xfrm>
            <a:off x="708660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everyday effects of refraction</a:t>
            </a:r>
          </a:p>
        </p:txBody>
      </p:sp>
      <p:sp>
        <p:nvSpPr>
          <p:cNvPr id="22" name="Rounded Rectangle 21"/>
          <p:cNvSpPr/>
          <p:nvPr/>
        </p:nvSpPr>
        <p:spPr>
          <a:xfrm>
            <a:off x="64008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4400" y="4782312"/>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5</a:t>
            </a:r>
          </a:p>
        </p:txBody>
      </p:sp>
      <p:sp>
        <p:nvSpPr>
          <p:cNvPr id="25" name="TextBox 24"/>
          <p:cNvSpPr txBox="1"/>
          <p:nvPr/>
        </p:nvSpPr>
        <p:spPr>
          <a:xfrm>
            <a:off x="155448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the critical angle and relate it to refractive index</a:t>
            </a:r>
          </a:p>
        </p:txBody>
      </p:sp>
      <p:sp>
        <p:nvSpPr>
          <p:cNvPr id="26" name="Rounded Rectangle 25"/>
          <p:cNvSpPr/>
          <p:nvPr/>
        </p:nvSpPr>
        <p:spPr>
          <a:xfrm>
            <a:off x="617220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78231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6</a:t>
            </a:r>
          </a:p>
        </p:txBody>
      </p:sp>
      <p:sp>
        <p:nvSpPr>
          <p:cNvPr id="29" name="TextBox 28"/>
          <p:cNvSpPr txBox="1"/>
          <p:nvPr/>
        </p:nvSpPr>
        <p:spPr>
          <a:xfrm>
            <a:off x="708660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State the conditions for total internal reflection and its uses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1</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1</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The Prism &amp; Apparent Depth</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Deviation, and why things look raised in water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THE PRISM</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Refraction Through a Prism</a:t>
            </a:r>
          </a:p>
        </p:txBody>
      </p:sp>
      <p:pic>
        <p:nvPicPr>
          <p:cNvPr id="6" name="Picture 5" descr="g10r2_prism.png"/>
          <p:cNvPicPr>
            <a:picLocks noChangeAspect="1"/>
          </p:cNvPicPr>
          <p:nvPr/>
        </p:nvPicPr>
        <p:blipFill>
          <a:blip r:embed="rId2"/>
          <a:stretch>
            <a:fillRect/>
          </a:stretch>
        </p:blipFill>
        <p:spPr>
          <a:xfrm>
            <a:off x="822960" y="1965960"/>
            <a:ext cx="4937760" cy="3657600"/>
          </a:xfrm>
          <a:prstGeom prst="rect">
            <a:avLst/>
          </a:prstGeom>
        </p:spPr>
      </p:pic>
      <p:sp>
        <p:nvSpPr>
          <p:cNvPr id="7" name="TextBox 6"/>
          <p:cNvSpPr txBox="1"/>
          <p:nvPr/>
        </p:nvSpPr>
        <p:spPr>
          <a:xfrm>
            <a:off x="822960" y="5678424"/>
            <a:ext cx="4937760" cy="274320"/>
          </a:xfrm>
          <a:prstGeom prst="rect">
            <a:avLst/>
          </a:prstGeom>
          <a:noFill/>
        </p:spPr>
        <p:txBody>
          <a:bodyPr wrap="square" anchor="t" lIns="0" rIns="0" tIns="0" bIns="0">
            <a:spAutoFit/>
          </a:bodyPr>
          <a:lstStyle/>
          <a:p>
            <a:pPr algn="ctr"/>
            <a:r>
              <a:rPr sz="1100" b="0" i="1">
                <a:solidFill>
                  <a:srgbClr val="6B7280"/>
                </a:solidFill>
                <a:latin typeface="Calibri"/>
              </a:rPr>
              <a:t>Light bends toward the base; deviation = δ</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Angle of deviation</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 prism has two refracting surfaces inclined at an angle A (the angle of the prism).</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refracts at both surfaces and bends toward the base of the prism.</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 angle between the incident and emergent directions is the angle of deviation, δ.</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Unlike a glass block, the emergent ray is NOT parallel to the incident ray.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DEVIATION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What Affects the Deviation</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411480"/>
          </a:xfrm>
          <a:prstGeom prst="rect">
            <a:avLst/>
          </a:prstGeom>
          <a:noFill/>
        </p:spPr>
        <p:txBody>
          <a:bodyPr wrap="square" anchor="t" lIns="0" rIns="0" tIns="0" bIns="0">
            <a:spAutoFit/>
          </a:bodyPr>
          <a:lstStyle/>
          <a:p>
            <a:pPr algn="l"/>
            <a:r>
              <a:rPr sz="1800" b="1" i="0">
                <a:solidFill>
                  <a:srgbClr val="6A4C93"/>
                </a:solidFill>
                <a:latin typeface="Calibri"/>
              </a:rPr>
              <a:t>Deviation δ depends on three things</a:t>
            </a:r>
          </a:p>
        </p:txBody>
      </p:sp>
      <p:sp>
        <p:nvSpPr>
          <p:cNvPr id="8" name="TextBox 7"/>
          <p:cNvSpPr txBox="1"/>
          <p:nvPr/>
        </p:nvSpPr>
        <p:spPr>
          <a:xfrm>
            <a:off x="1005840" y="2697480"/>
            <a:ext cx="10058400" cy="3063239"/>
          </a:xfrm>
          <a:prstGeom prst="rect">
            <a:avLst/>
          </a:prstGeom>
          <a:noFill/>
        </p:spPr>
        <p:txBody>
          <a:bodyPr wrap="square" anchor="t" lIns="0" rIns="0" tIns="0" bIns="0">
            <a:spAutoFit/>
          </a:bodyPr>
          <a:lstStyle/>
          <a:p>
            <a:pPr algn="l">
              <a:lnSpc>
                <a:spcPct val="105000"/>
              </a:lnSpc>
              <a:spcAft>
                <a:spcPts val="1100"/>
              </a:spcAft>
            </a:pPr>
            <a:r>
              <a:rPr sz="1600" b="1" i="0">
                <a:solidFill>
                  <a:srgbClr val="6A4C93"/>
                </a:solidFill>
                <a:latin typeface="Calibri"/>
              </a:rPr>
              <a:t>•  </a:t>
            </a:r>
            <a:r>
              <a:rPr sz="1600" b="1" i="0">
                <a:solidFill>
                  <a:srgbClr val="1D2433"/>
                </a:solidFill>
                <a:latin typeface="Calibri"/>
              </a:rPr>
              <a:t>Angle of the prism (A)  </a:t>
            </a:r>
            <a:r>
              <a:rPr sz="1500" b="0" i="0">
                <a:solidFill>
                  <a:srgbClr val="6B7280"/>
                </a:solidFill>
                <a:latin typeface="Calibri"/>
              </a:rPr>
              <a:t>A larger refracting angle gives more deviation.</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Refractive index  </a:t>
            </a:r>
            <a:r>
              <a:rPr sz="1500" b="0" i="0">
                <a:solidFill>
                  <a:srgbClr val="6B7280"/>
                </a:solidFill>
                <a:latin typeface="Calibri"/>
              </a:rPr>
              <a:t>A denser prism material deviates light more.</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Angle of incidence  </a:t>
            </a:r>
            <a:r>
              <a:rPr sz="1500" b="0" i="0">
                <a:solidFill>
                  <a:srgbClr val="6B7280"/>
                </a:solidFill>
                <a:latin typeface="Calibri"/>
              </a:rPr>
              <a:t>Deviation first decreases, reaches a minimum, then increases.</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Minimum deviation  </a:t>
            </a:r>
            <a:r>
              <a:rPr sz="1500" b="0" i="0">
                <a:solidFill>
                  <a:srgbClr val="6B7280"/>
                </a:solidFill>
                <a:latin typeface="Calibri"/>
              </a:rPr>
              <a:t>At one special angle of incidence the deviation is least — the angle of minimum deviation.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APPARENT DEPTH</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Real Depth vs Apparent Depth</a:t>
            </a:r>
          </a:p>
        </p:txBody>
      </p:sp>
      <p:pic>
        <p:nvPicPr>
          <p:cNvPr id="6" name="Picture 5" descr="g10r2_depth.png"/>
          <p:cNvPicPr>
            <a:picLocks noChangeAspect="1"/>
          </p:cNvPicPr>
          <p:nvPr/>
        </p:nvPicPr>
        <p:blipFill>
          <a:blip r:embed="rId2"/>
          <a:stretch>
            <a:fillRect/>
          </a:stretch>
        </p:blipFill>
        <p:spPr>
          <a:xfrm>
            <a:off x="6613855" y="1965960"/>
            <a:ext cx="4754880" cy="3657600"/>
          </a:xfrm>
          <a:prstGeom prst="rect">
            <a:avLst/>
          </a:prstGeom>
        </p:spPr>
      </p:pic>
      <p:sp>
        <p:nvSpPr>
          <p:cNvPr id="7" name="TextBox 6"/>
          <p:cNvSpPr txBox="1"/>
          <p:nvPr/>
        </p:nvSpPr>
        <p:spPr>
          <a:xfrm>
            <a:off x="6613855" y="5678424"/>
            <a:ext cx="4754880" cy="274320"/>
          </a:xfrm>
          <a:prstGeom prst="rect">
            <a:avLst/>
          </a:prstGeom>
          <a:noFill/>
        </p:spPr>
        <p:txBody>
          <a:bodyPr wrap="square" anchor="t" lIns="0" rIns="0" tIns="0" bIns="0">
            <a:spAutoFit/>
          </a:bodyPr>
          <a:lstStyle/>
          <a:p>
            <a:pPr algn="ctr"/>
            <a:r>
              <a:rPr sz="1100" b="0" i="1">
                <a:solidFill>
                  <a:srgbClr val="6B7280"/>
                </a:solidFill>
                <a:latin typeface="Calibri"/>
              </a:rPr>
              <a:t>A coin appears nearer the surface than it is</a:t>
            </a:r>
          </a:p>
        </p:txBody>
      </p:sp>
      <p:sp>
        <p:nvSpPr>
          <p:cNvPr id="8" name="Rounded Rectangle 7"/>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Things look raised</a:t>
            </a:r>
          </a:p>
        </p:txBody>
      </p:sp>
      <p:sp>
        <p:nvSpPr>
          <p:cNvPr id="10" name="TextBox 9"/>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from an object under water bends away from the normal as it leaves the water.</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Our eyes trace these rays back in straight lines, so the object looks raised.</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 apparent depth is always less than the real depth.</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Refractive index = real depth / apparent depth.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Apparent Depth</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6A4C93"/>
                </a:solidFill>
                <a:latin typeface="Calibri"/>
              </a:rPr>
              <a:t>Problem.  </a:t>
            </a:r>
            <a:r>
              <a:rPr sz="1600" b="0" i="0">
                <a:solidFill>
                  <a:srgbClr val="1D2433"/>
                </a:solidFill>
                <a:latin typeface="Calibri"/>
              </a:rPr>
              <a:t>A coin lies at the bottom of a tank of water 1.33 m deep. How deep does it appear? (n_water = 1.33)</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real depth / apparent depth</a:t>
            </a:r>
          </a:p>
          <a:p>
            <a:pPr algn="l">
              <a:lnSpc>
                <a:spcPct val="105000"/>
              </a:lnSpc>
              <a:spcAft>
                <a:spcPts val="700"/>
              </a:spcAft>
            </a:pPr>
            <a:r>
              <a:rPr sz="1600" b="0" i="0">
                <a:solidFill>
                  <a:srgbClr val="1D2433"/>
                </a:solidFill>
                <a:latin typeface="Calibri"/>
              </a:rPr>
              <a:t>apparent depth = real depth / n</a:t>
            </a:r>
          </a:p>
          <a:p>
            <a:pPr algn="l">
              <a:lnSpc>
                <a:spcPct val="105000"/>
              </a:lnSpc>
              <a:spcAft>
                <a:spcPts val="700"/>
              </a:spcAft>
            </a:pPr>
            <a:r>
              <a:rPr sz="1600" b="0" i="0">
                <a:solidFill>
                  <a:srgbClr val="1D2433"/>
                </a:solidFill>
                <a:latin typeface="Calibri"/>
              </a:rPr>
              <a:t>apparent depth = 1.33 / 1.33 = 1.0 m</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Apparent depth = 1.0 m  (the tank looks 0.33 m shallower)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PRISM VS BLOCK</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Prism Compared With a Glass Block</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Glass block</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Opposite faces are parallel — the emergent ray is parallel to the incident ray, only shifted sideways.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rism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Prism</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Faces are inclined at angle A — the emergent ray is deviated into a new direction.</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ay_FFFFFF.png"/>
          <p:cNvPicPr>
            <a:picLocks noChangeAspect="1"/>
          </p:cNvPicPr>
          <p:nvPr/>
        </p:nvPicPr>
        <p:blipFill>
          <a:blip r:embed="rId4"/>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Net bending</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block gives zero net deviation; a prism gives a definite angle of deviation δ.</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Toward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block shifts light sideways; a prism bends light toward its base.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CONSEQUENCES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Everyday Effects of Refraction</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un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Early sunrise</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We see the Sun a little before it actually rises, because light bends through the atmosphere.</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un_FFFFFF.png"/>
          <p:cNvPicPr>
            <a:picLocks noChangeAspect="1"/>
          </p:cNvPicPr>
          <p:nvPr/>
        </p:nvPicPr>
        <p:blipFill>
          <a:blip r:embed="rId2"/>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Late sunset</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For the same reason the Sun is seen briefly after it has actually set.</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3"/>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Stars twinkle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from stars refracts through moving air layers, so their brightness flickers.</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3"/>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Bent / raised look</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Objects in water look bent at the surface and raised from the bottom.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1</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Check Your Understanding</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3 questions  •  think before the answer reveals on the next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Prism vs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How does a prism differ from a parallel-sided glass slab in its effect on a ray of light?</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Both leave the ray parallel to the incident ray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prism deviates the ray; a slab only shifts it sideways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 slab deviates the ray; a prism only shifts it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Neither changes the ray's direction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Prism vs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How does a prism differ from a parallel-sided glass slab in its effect on a ray of light?</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Both leave the ray parallel to the incident ray</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prism deviates the ray; a slab only shifts it sideways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 slab deviates the ray; a prism only shifts it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Neither changes the ray's direction</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 slab's faces are parallel, so the emergent ray is parallel to the incident ray (just shifted). A prism's faces are inclined, so the ray emerges in a new direction — deviated toward the base by the angle 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Apparent Depth</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fish is 2.0 m below the surface of a pond (n = 1.33). To a person looking straight down, the fish appears to be about how deep?</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2.66 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2.0 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1.5 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1.33 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Apparent Depth</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fish is 2.0 m below the surface of a pond (n = 1.33). To a person looking straight down, the fish appears to be about how deep?</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2.66 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2.0 m</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1.5 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1.33 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Apparent depth = real depth / n = 2.0 / 1.33 ≈ 1.5 m. Refraction raises the apparent position, so the fish looks shallower than it really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Atmospheric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We can see the Sun for a few minutes before it has actually risen above the horizon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 Sun moves faster at dawn</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Light from the Sun is refracted by the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 Sun is closer at sunrise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Clouds reflect the sunlight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Atmospheric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We can see the Sun for a few minutes before it has actually risen above the horizon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 Sun moves faster at dawn</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Light from the Sun is refracted by the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 Sun is closer at sunrise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Clouds reflect the sunlight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Air is denser nearer the ground, so sunlight bends as it passes through the atmosphere. This lifts the Sun's apparent position, letting us see it slightly before it actually rises (and after it sets).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2</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2</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Critical Angle &amp; T.I.R.</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When light cannot escape a denser medium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CRITICAL ANGLE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Critical Angle</a:t>
            </a:r>
          </a:p>
        </p:txBody>
      </p:sp>
      <p:pic>
        <p:nvPicPr>
          <p:cNvPr id="6" name="Picture 5" descr="g10r2_tir.png"/>
          <p:cNvPicPr>
            <a:picLocks noChangeAspect="1"/>
          </p:cNvPicPr>
          <p:nvPr/>
        </p:nvPicPr>
        <p:blipFill>
          <a:blip r:embed="rId2"/>
          <a:stretch>
            <a:fillRect/>
          </a:stretch>
        </p:blipFill>
        <p:spPr>
          <a:xfrm>
            <a:off x="822960" y="1965960"/>
            <a:ext cx="4937760" cy="3657600"/>
          </a:xfrm>
          <a:prstGeom prst="rect">
            <a:avLst/>
          </a:prstGeom>
        </p:spPr>
      </p:pic>
      <p:sp>
        <p:nvSpPr>
          <p:cNvPr id="7" name="TextBox 6"/>
          <p:cNvSpPr txBox="1"/>
          <p:nvPr/>
        </p:nvSpPr>
        <p:spPr>
          <a:xfrm>
            <a:off x="822960" y="5678424"/>
            <a:ext cx="4937760" cy="274320"/>
          </a:xfrm>
          <a:prstGeom prst="rect">
            <a:avLst/>
          </a:prstGeom>
          <a:noFill/>
        </p:spPr>
        <p:txBody>
          <a:bodyPr wrap="square" anchor="t" lIns="0" rIns="0" tIns="0" bIns="0">
            <a:spAutoFit/>
          </a:bodyPr>
          <a:lstStyle/>
          <a:p>
            <a:pPr algn="ctr"/>
            <a:r>
              <a:rPr sz="1100" b="0" i="1">
                <a:solidFill>
                  <a:srgbClr val="6B7280"/>
                </a:solidFill>
                <a:latin typeface="Calibri"/>
              </a:rPr>
              <a:t>At i = C the refracted ray grazes the surface</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Definition of C</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As light goes denser → rarer, it bends away from the normal.</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Increase the angle of incidence and the refracted ray bends more and more toward the surface.</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At the critical angle (C) the refracted ray grazes along the surface (r = 90°).</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Relation:  n = 1 / sin C, so a larger n gives a smaller critical angle.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Total Internal Reflection</a:t>
            </a:r>
          </a:p>
        </p:txBody>
      </p:sp>
      <p:sp>
        <p:nvSpPr>
          <p:cNvPr id="6" name="Rounded Rectangle 5"/>
          <p:cNvSpPr/>
          <p:nvPr/>
        </p:nvSpPr>
        <p:spPr>
          <a:xfrm>
            <a:off x="640080" y="1828800"/>
            <a:ext cx="10881360" cy="1371600"/>
          </a:xfrm>
          <a:prstGeom prst="roundRect">
            <a:avLst>
              <a:gd name="adj" fmla="val 6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When light travelling in a denser medium hits the surface at an angle greater than the critical angle, it is completely reflected back into the denser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Condition:  denser → rarer   AND   i  &gt;  C</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6A4C93"/>
                </a:solidFill>
                <a:latin typeface="Calibri"/>
              </a:rPr>
              <a:t>•  </a:t>
            </a:r>
            <a:r>
              <a:rPr sz="1500" b="0" i="0">
                <a:solidFill>
                  <a:srgbClr val="1D2433"/>
                </a:solidFill>
                <a:latin typeface="Calibri"/>
              </a:rPr>
              <a:t>No light is refracted out — the surface acts like a perfect mirror.</a:t>
            </a:r>
          </a:p>
          <a:p>
            <a:pPr algn="l">
              <a:spcAft>
                <a:spcPts val="900"/>
              </a:spcAft>
            </a:pPr>
            <a:r>
              <a:rPr sz="1500" b="1" i="0">
                <a:solidFill>
                  <a:srgbClr val="6A4C93"/>
                </a:solidFill>
                <a:latin typeface="Calibri"/>
              </a:rPr>
              <a:t>•  </a:t>
            </a:r>
            <a:r>
              <a:rPr sz="1500" b="0" i="0">
                <a:solidFill>
                  <a:srgbClr val="1D2433"/>
                </a:solidFill>
                <a:latin typeface="Calibri"/>
              </a:rPr>
              <a:t>Both conditions must hold: light must go from denser to rarer, and i must exceed the critical angle.</a:t>
            </a:r>
          </a:p>
          <a:p>
            <a:pPr algn="l">
              <a:spcAft>
                <a:spcPts val="900"/>
              </a:spcAft>
            </a:pPr>
            <a:r>
              <a:rPr sz="1500" b="1" i="0">
                <a:solidFill>
                  <a:srgbClr val="6A4C93"/>
                </a:solidFill>
                <a:latin typeface="Calibri"/>
              </a:rPr>
              <a:t>•  </a:t>
            </a:r>
            <a:r>
              <a:rPr sz="1500" b="0" i="0">
                <a:solidFill>
                  <a:srgbClr val="1D2433"/>
                </a:solidFill>
                <a:latin typeface="Calibri"/>
              </a:rPr>
              <a:t>T.I.R. loses no light, unlike an ordinary mirror.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CRITICAL ANGLE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of Common Media</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411480"/>
          </a:xfrm>
          <a:prstGeom prst="rect">
            <a:avLst/>
          </a:prstGeom>
          <a:noFill/>
        </p:spPr>
        <p:txBody>
          <a:bodyPr wrap="square" anchor="t" lIns="0" rIns="0" tIns="0" bIns="0">
            <a:spAutoFit/>
          </a:bodyPr>
          <a:lstStyle/>
          <a:p>
            <a:pPr algn="l"/>
            <a:r>
              <a:rPr sz="1800" b="1" i="0">
                <a:solidFill>
                  <a:srgbClr val="6A4C93"/>
                </a:solidFill>
                <a:latin typeface="Calibri"/>
              </a:rPr>
              <a:t>n = 1 / sin C</a:t>
            </a:r>
          </a:p>
        </p:txBody>
      </p:sp>
      <p:sp>
        <p:nvSpPr>
          <p:cNvPr id="8" name="TextBox 7"/>
          <p:cNvSpPr txBox="1"/>
          <p:nvPr/>
        </p:nvSpPr>
        <p:spPr>
          <a:xfrm>
            <a:off x="1005840" y="2697480"/>
            <a:ext cx="10058400" cy="3063239"/>
          </a:xfrm>
          <a:prstGeom prst="rect">
            <a:avLst/>
          </a:prstGeom>
          <a:noFill/>
        </p:spPr>
        <p:txBody>
          <a:bodyPr wrap="square" anchor="t" lIns="0" rIns="0" tIns="0" bIns="0">
            <a:spAutoFit/>
          </a:bodyPr>
          <a:lstStyle/>
          <a:p>
            <a:pPr algn="l">
              <a:lnSpc>
                <a:spcPct val="105000"/>
              </a:lnSpc>
              <a:spcAft>
                <a:spcPts val="1100"/>
              </a:spcAft>
            </a:pPr>
            <a:r>
              <a:rPr sz="1600" b="1" i="0">
                <a:solidFill>
                  <a:srgbClr val="6A4C93"/>
                </a:solidFill>
                <a:latin typeface="Calibri"/>
              </a:rPr>
              <a:t>•  </a:t>
            </a:r>
            <a:r>
              <a:rPr sz="1600" b="1" i="0">
                <a:solidFill>
                  <a:srgbClr val="1D2433"/>
                </a:solidFill>
                <a:latin typeface="Calibri"/>
              </a:rPr>
              <a:t>Water  </a:t>
            </a:r>
            <a:r>
              <a:rPr sz="1500" b="0" i="0">
                <a:solidFill>
                  <a:srgbClr val="6B7280"/>
                </a:solidFill>
                <a:latin typeface="Calibri"/>
              </a:rPr>
              <a:t>n ≈ 1.33, so critical angle C ≈ 49°.</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Ordinary glass  </a:t>
            </a:r>
            <a:r>
              <a:rPr sz="1500" b="0" i="0">
                <a:solidFill>
                  <a:srgbClr val="6B7280"/>
                </a:solidFill>
                <a:latin typeface="Calibri"/>
              </a:rPr>
              <a:t>n ≈ 1.5, so critical angle C ≈ 42°.</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Dense flint glass  </a:t>
            </a:r>
            <a:r>
              <a:rPr sz="1500" b="0" i="0">
                <a:solidFill>
                  <a:srgbClr val="6B7280"/>
                </a:solidFill>
                <a:latin typeface="Calibri"/>
              </a:rPr>
              <a:t>n ≈ 1.65, so critical angle C ≈ 37°.</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Diamond  </a:t>
            </a:r>
            <a:r>
              <a:rPr sz="1500" b="0" i="0">
                <a:solidFill>
                  <a:srgbClr val="6B7280"/>
                </a:solidFill>
                <a:latin typeface="Calibri"/>
              </a:rPr>
              <a:t>n ≈ 2.42, so critical angle C ≈ 24° — the smallest, so light is trapped most easily.</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Rule  </a:t>
            </a:r>
            <a:r>
              <a:rPr sz="1500" b="0" i="0">
                <a:solidFill>
                  <a:srgbClr val="6B7280"/>
                </a:solidFill>
                <a:latin typeface="Calibri"/>
              </a:rPr>
              <a:t>Larger refractive index  →  smaller critical angle  →  easier T.I.R.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USES OF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Where Total Internal Reflection Is Used</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Optical fibres</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bounces along the fibre by repeated T.I.R., carrying internet and phone signals.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rism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Totally reflecting prisms</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45°–45°–90° prisms turn light through 90° or 180° in periscopes and binoculars.</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Mirage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Hot air near a road bends light by T.I.R., showing a shimmering 'puddle' that is really sky.</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Sparkle of diamond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Diamond's tiny critical angle (≈ 24°) traps light by repeated T.I.R., making it sparkle.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OPTICAL FIBRES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How an Optical Fibre Works</a:t>
            </a:r>
          </a:p>
        </p:txBody>
      </p:sp>
      <p:pic>
        <p:nvPicPr>
          <p:cNvPr id="6" name="Picture 5" descr="g10r2_fibre.png"/>
          <p:cNvPicPr>
            <a:picLocks noChangeAspect="1"/>
          </p:cNvPicPr>
          <p:nvPr/>
        </p:nvPicPr>
        <p:blipFill>
          <a:blip r:embed="rId2"/>
          <a:stretch>
            <a:fillRect/>
          </a:stretch>
        </p:blipFill>
        <p:spPr>
          <a:xfrm>
            <a:off x="6248095" y="2103120"/>
            <a:ext cx="5120640" cy="3383280"/>
          </a:xfrm>
          <a:prstGeom prst="rect">
            <a:avLst/>
          </a:prstGeom>
        </p:spPr>
      </p:pic>
      <p:sp>
        <p:nvSpPr>
          <p:cNvPr id="7" name="TextBox 6"/>
          <p:cNvSpPr txBox="1"/>
          <p:nvPr/>
        </p:nvSpPr>
        <p:spPr>
          <a:xfrm>
            <a:off x="6248095" y="5541264"/>
            <a:ext cx="5120640" cy="274320"/>
          </a:xfrm>
          <a:prstGeom prst="rect">
            <a:avLst/>
          </a:prstGeom>
          <a:noFill/>
        </p:spPr>
        <p:txBody>
          <a:bodyPr wrap="square" anchor="t" lIns="0" rIns="0" tIns="0" bIns="0">
            <a:spAutoFit/>
          </a:bodyPr>
          <a:lstStyle/>
          <a:p>
            <a:pPr algn="ctr"/>
            <a:r>
              <a:rPr sz="1100" b="0" i="1">
                <a:solidFill>
                  <a:srgbClr val="6B7280"/>
                </a:solidFill>
                <a:latin typeface="Calibri"/>
              </a:rPr>
              <a:t>Repeated T.I.R. guides the light along the core</a:t>
            </a:r>
          </a:p>
        </p:txBody>
      </p:sp>
      <p:sp>
        <p:nvSpPr>
          <p:cNvPr id="8" name="Rounded Rectangle 7"/>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Light trapped by T.I.R.</a:t>
            </a:r>
          </a:p>
        </p:txBody>
      </p:sp>
      <p:sp>
        <p:nvSpPr>
          <p:cNvPr id="10" name="TextBox 9"/>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 fibre has a glass core surrounded by a cladding of lower refractive index.</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enters one end and strikes the core walls beyond the critical angle.</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It undergoes total internal reflection again and again, zig-zagging down the fibre.</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Almost no light escapes, so signals travel long distances with very little loss.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REFLECTING PRISMS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Totally Reflecting Prisms</a:t>
            </a:r>
          </a:p>
        </p:txBody>
      </p:sp>
      <p:pic>
        <p:nvPicPr>
          <p:cNvPr id="6" name="Picture 5" descr="g10r2_rprism.png"/>
          <p:cNvPicPr>
            <a:picLocks noChangeAspect="1"/>
          </p:cNvPicPr>
          <p:nvPr/>
        </p:nvPicPr>
        <p:blipFill>
          <a:blip r:embed="rId2"/>
          <a:stretch>
            <a:fillRect/>
          </a:stretch>
        </p:blipFill>
        <p:spPr>
          <a:xfrm>
            <a:off x="822960" y="1965960"/>
            <a:ext cx="4206240" cy="3657600"/>
          </a:xfrm>
          <a:prstGeom prst="rect">
            <a:avLst/>
          </a:prstGeom>
        </p:spPr>
      </p:pic>
      <p:sp>
        <p:nvSpPr>
          <p:cNvPr id="7" name="TextBox 6"/>
          <p:cNvSpPr txBox="1"/>
          <p:nvPr/>
        </p:nvSpPr>
        <p:spPr>
          <a:xfrm>
            <a:off x="822960" y="5678424"/>
            <a:ext cx="4206240" cy="274320"/>
          </a:xfrm>
          <a:prstGeom prst="rect">
            <a:avLst/>
          </a:prstGeom>
          <a:noFill/>
        </p:spPr>
        <p:txBody>
          <a:bodyPr wrap="square" anchor="t" lIns="0" rIns="0" tIns="0" bIns="0">
            <a:spAutoFit/>
          </a:bodyPr>
          <a:lstStyle/>
          <a:p>
            <a:pPr algn="ctr"/>
            <a:r>
              <a:rPr sz="1100" b="0" i="1">
                <a:solidFill>
                  <a:srgbClr val="6B7280"/>
                </a:solidFill>
                <a:latin typeface="Calibri"/>
              </a:rPr>
              <a:t>45° incidence &gt; critical angle → 90° turn</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A perfect mirror from glass</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 45°–45°–90° glass prism has a critical angle (≈ 42°) smaller than 45°.</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hitting the long face at 45° therefore exceeds the critical angle and is totally reflected.</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One reflection turns light through 90°; two reflections turn it through 180°.</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These prisms replace mirrors in periscopes, binoculars and cameras because they lose no light.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from Refractive Index</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6A4C93"/>
                </a:solidFill>
                <a:latin typeface="Calibri"/>
              </a:rPr>
              <a:t>Problem.  </a:t>
            </a:r>
            <a:r>
              <a:rPr sz="1600" b="0" i="0">
                <a:solidFill>
                  <a:srgbClr val="1D2433"/>
                </a:solidFill>
                <a:latin typeface="Calibri"/>
              </a:rPr>
              <a:t>The refractive index of glass is 1.5. Find its critical angle.</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1 / sin C   →   sin C = 1 / n</a:t>
            </a:r>
          </a:p>
          <a:p>
            <a:pPr algn="l">
              <a:lnSpc>
                <a:spcPct val="105000"/>
              </a:lnSpc>
              <a:spcAft>
                <a:spcPts val="700"/>
              </a:spcAft>
            </a:pPr>
            <a:r>
              <a:rPr sz="1600" b="0" i="0">
                <a:solidFill>
                  <a:srgbClr val="1D2433"/>
                </a:solidFill>
                <a:latin typeface="Calibri"/>
              </a:rPr>
              <a:t>sin C = 1 / 1.5 = 0.667</a:t>
            </a:r>
          </a:p>
          <a:p>
            <a:pPr algn="l">
              <a:lnSpc>
                <a:spcPct val="105000"/>
              </a:lnSpc>
              <a:spcAft>
                <a:spcPts val="700"/>
              </a:spcAft>
            </a:pPr>
            <a:r>
              <a:rPr sz="1600" b="0" i="0">
                <a:solidFill>
                  <a:srgbClr val="1D2433"/>
                </a:solidFill>
                <a:latin typeface="Calibri"/>
              </a:rPr>
              <a:t>C = sin⁻¹(0.667) ≈ 42°</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Critical angle of glass ≈ 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WRAP UP</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Quick Recap</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058400" cy="3657600"/>
          </a:xfrm>
          <a:prstGeom prst="rect">
            <a:avLst/>
          </a:prstGeom>
          <a:noFill/>
        </p:spPr>
        <p:txBody>
          <a:bodyPr wrap="square" anchor="t" lIns="0" rIns="0" tIns="0" bIns="0">
            <a:spAutoFit/>
          </a:bodyPr>
          <a:lstStyle/>
          <a:p>
            <a:pPr algn="l">
              <a:lnSpc>
                <a:spcPct val="105000"/>
              </a:lnSpc>
              <a:spcAft>
                <a:spcPts val="1200"/>
              </a:spcAft>
            </a:pPr>
            <a:r>
              <a:rPr sz="1600" b="1" i="0">
                <a:solidFill>
                  <a:srgbClr val="2A9D8F"/>
                </a:solidFill>
                <a:latin typeface="Calibri"/>
              </a:rPr>
              <a:t>✓  </a:t>
            </a:r>
            <a:r>
              <a:rPr sz="1600" b="1" i="0">
                <a:solidFill>
                  <a:srgbClr val="1D2433"/>
                </a:solidFill>
                <a:latin typeface="Calibri"/>
              </a:rPr>
              <a:t>Prism  —  </a:t>
            </a:r>
            <a:r>
              <a:rPr sz="1500" b="0" i="0">
                <a:solidFill>
                  <a:srgbClr val="6B7280"/>
                </a:solidFill>
                <a:latin typeface="Calibri"/>
              </a:rPr>
              <a:t>two inclined faces; light bends toward the base, deviation δ</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Apparent depth  —  </a:t>
            </a:r>
            <a:r>
              <a:rPr sz="1500" b="0" i="0">
                <a:solidFill>
                  <a:srgbClr val="6B7280"/>
                </a:solidFill>
                <a:latin typeface="Calibri"/>
              </a:rPr>
              <a:t>n = real depth / apparent depth; things look raised</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Consequences  —  </a:t>
            </a:r>
            <a:r>
              <a:rPr sz="1500" b="0" i="0">
                <a:solidFill>
                  <a:srgbClr val="6B7280"/>
                </a:solidFill>
                <a:latin typeface="Calibri"/>
              </a:rPr>
              <a:t>early sunrise, late sunset, twinkling stars</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Critical angle  —  </a:t>
            </a:r>
            <a:r>
              <a:rPr sz="1500" b="0" i="0">
                <a:solidFill>
                  <a:srgbClr val="6B7280"/>
                </a:solidFill>
                <a:latin typeface="Calibri"/>
              </a:rPr>
              <a:t>r = 90° at i = C; n = 1 / sin C</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T.I.R.  —  </a:t>
            </a:r>
            <a:r>
              <a:rPr sz="1500" b="0" i="0">
                <a:solidFill>
                  <a:srgbClr val="6B7280"/>
                </a:solidFill>
                <a:latin typeface="Calibri"/>
              </a:rPr>
              <a:t>denser → rarer and i &gt; C; perfect, loss-free reflection</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Uses  —  </a:t>
            </a:r>
            <a:r>
              <a:rPr sz="1500" b="0" i="0">
                <a:solidFill>
                  <a:srgbClr val="6B7280"/>
                </a:solidFill>
                <a:latin typeface="Calibri"/>
              </a:rPr>
              <a:t>optical fibres, reflecting prisms, mirage, diamond sparkle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2</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Final Check — Critical Angle &amp; T.I.R.</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4 questions  •  think before the answer reveals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Will It Escape?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inside glass (critical angle 42°) strikes the glass–air surface at 40°. What happens?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is totally internally reflected</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refracts and passes out into the air</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travels along the surface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is absorbed by the glass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Will It Escape?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inside glass (critical angle 42°) strikes the glass–air surface at 40°. What happens?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It is totally internally reflected</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It refracts and passes out into the air</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It travels along the surface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It is absorbed by the glass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40° is less than the critical angle of 42°, so the ray is still refracted out of the glass (bending away from the normal). T.I.R. would only happen if the angle exceeded 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Diamond vs Glass</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(critical angle ≈ 24°) sparkles more than a glass crystal (critical angle ≈ 42°)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Diamond reflects all colours equally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Light meets its surfaces beyond the critical angle more often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Diamond is a better conductor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Glass absorbs more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Diamond vs Glass</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(critical angle ≈ 24°) sparkles more than a glass crystal (critical angle ≈ 42°)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Diamond reflects all colours equally</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Light meets its surfaces beyond the critical angle more often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Diamond is a better conductor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Glass absorbs more light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 smaller critical angle means more rays strike the inner surfaces beyond it and undergo total internal reflection. So diamond traps and bounces light around far more than glass, giving its sparkle.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If the critical angle of a medium is 30°, its refractive index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0.5</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1.5</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2.0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If the critical angle of a medium is 30°, its refractive index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0.5</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1.5</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2.0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1.0</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n = 1 / sin C = 1 / sin 30° = 1 / 0.5 =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Application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Optical fibres carry light signals mainly by using:</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Dispersion</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Total internal reflection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Diffraction</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Ordinary reflection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Application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Optical fibres carry light signals mainly by using:</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Dispersion</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Total internal reflection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Diffraction</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Ordinary reflection</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Light entering a fibre strikes the walls beyond the critical angle and undergoes repeated T.I.R., travelling along the fibre with almost no loss.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377440"/>
            <a:ext cx="10515600" cy="1097280"/>
          </a:xfrm>
          <a:prstGeom prst="rect">
            <a:avLst/>
          </a:prstGeom>
          <a:noFill/>
        </p:spPr>
        <p:txBody>
          <a:bodyPr wrap="square" anchor="t" lIns="0" rIns="0" tIns="0" bIns="0">
            <a:spAutoFit/>
          </a:bodyPr>
          <a:lstStyle/>
          <a:p>
            <a:pPr algn="l"/>
            <a:r>
              <a:rPr sz="4600" b="1" i="0">
                <a:solidFill>
                  <a:srgbClr val="FFFFFF"/>
                </a:solidFill>
                <a:latin typeface="Calibri"/>
              </a:rPr>
              <a:t>Trapping Light</a:t>
            </a:r>
          </a:p>
        </p:txBody>
      </p:sp>
      <p:sp>
        <p:nvSpPr>
          <p:cNvPr id="5" name="TextBox 4"/>
          <p:cNvSpPr txBox="1"/>
          <p:nvPr/>
        </p:nvSpPr>
        <p:spPr>
          <a:xfrm>
            <a:off x="731520" y="3566160"/>
            <a:ext cx="10058400" cy="1097280"/>
          </a:xfrm>
          <a:prstGeom prst="rect">
            <a:avLst/>
          </a:prstGeom>
          <a:noFill/>
        </p:spPr>
        <p:txBody>
          <a:bodyPr wrap="square" anchor="t" lIns="0" rIns="0" tIns="0" bIns="0">
            <a:spAutoFit/>
          </a:bodyPr>
          <a:lstStyle/>
          <a:p>
            <a:pPr algn="l"/>
            <a:r>
              <a:rPr sz="1900" b="0" i="0">
                <a:solidFill>
                  <a:srgbClr val="CADCFC"/>
                </a:solidFill>
                <a:latin typeface="Calibri"/>
              </a:rPr>
              <a:t>Beyond the critical angle, light cannot escape — that is how optical fibres carry the world's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