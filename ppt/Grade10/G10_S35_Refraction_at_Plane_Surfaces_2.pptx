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the glass block: the surfaces are NOT parallel, so the ray is deviated and emerges in a new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idea of minimum deviation qualitatively; the full formula is not required, but the U-shaped trend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coin-in-a-mug demo. Give the formula n = real depth / apparent depth and note apparent depth is always the smaller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Rearrange the depth formula. Stress the answer is smaller than the real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side-by-side to cement the difference between parallel faces (block) and inclined faces (prism).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is a consequence of atmospheric or water refraction. Ask students which ones they have noticed.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up the critical angle by imagining the angle of incidence growing. Give n = 1/sin C and the values (water ≈ 49°, glass ≈ 42°, diamond ≈ 24°).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both conditions clearly. Highlight that T.I.R. is a perfect, loss-free reflection — the basis of its many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notice the inverse trend: the denser the medium, the smaller its critical angle, the more readily it traps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each use back to the two conditions. Optical fibres and the reflecting prism are the most examined.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core/cladding refractive-index condition. This is the most important real-world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45° works: it beats glass's 42° critical angle. Contrast with a silvered mirror, which absorbs some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n = 1/sin C. Note the result (~42°) is the standard value students should remember for glass.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for each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OPTICS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Refraction — Prisms &amp; T.I.R.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The prism  •  Real and apparent depth  •  Critical angle  •  Total internal reflection</a:t>
            </a:r>
          </a:p>
        </p:txBody>
      </p:sp>
      <p:pic>
        <p:nvPicPr>
          <p:cNvPr id="7" name="Picture 6" descr="g10r2_pr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Trace a ray of light through a triangular prism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the angle of deviation produced by a prism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real depth from apparent depth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everyday effects of refraction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the critical angle and relate it to refractive index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conditions for total internal reflection and its uses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Prism &amp; Apparent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Deviation, and why things look raised in water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THE PRISM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Refraction Through a Prism</a:t>
            </a:r>
          </a:p>
        </p:txBody>
      </p:sp>
      <p:pic>
        <p:nvPicPr>
          <p:cNvPr id="6" name="Picture 5" descr="g10r2_pr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93776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Light bends toward the base; deviation = 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Angle of deviation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prism has two refracting surfaces inclined at an angle A (the angle of the prism).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refracts at both surfaces and bends toward the base of the prism.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angle between the incident and emergent directions is the angle of deviation, δ.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Unlike a glass block, the emergent ray is NOT parallel to the incident ray.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DEVIATION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Affects the Deviation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Deviation δ depends on three things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Angle of the prism (A)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larger refracting angle gives more deviation.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Refractive index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denser prism material deviates light more.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Angle of incidence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Deviation first decreases, reaches a minimum, then increases.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Minimum deviation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At one special angle of incidence the deviation is least — the angle of minimum deviation.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APPARENT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Real Depth vs Apparent Depth</a:t>
            </a:r>
          </a:p>
        </p:txBody>
      </p:sp>
      <p:pic>
        <p:nvPicPr>
          <p:cNvPr id="6" name="Picture 5" descr="g10r2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coin appears nearer the surface than it 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Things look raised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from an object under water bends away from the normal as it leaves the water.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Our eyes trace these rays back in straight lines, so the object looks raised.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apparent depth is always less than the real depth.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Refractive index = real depth / apparent depth.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Apparent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coin lies at the bottom of a tank of water 1.33 m deep. How deep does it appear? (n_water = 1.33)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n = real depth / apparent depth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apparent depth = real depth / 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apparent depth = 1.33 / 1.33 = 1.0 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Apparent depth = 1.0 m  (the tank looks 0.33 m shallower)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PRISM VS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Prism Compared With a Glass Block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Glass 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Opposite faces are parallel — the emergent ray is parallel to the incident ray, only shifted sideways.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Prism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Faces are inclined at angle A — the emergent ray is deviated into a new direction.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Net bending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block gives zero net deviation; a prism gives a definite angle of deviation δ.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Toward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block shifts light sideways; a prism bends light toward its 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CONSEQUENCES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Everyday Effects of Refraction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Early sunrise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We see the Sun a little before it actually rises, because light bends through the atmosphere.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Late sunset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For the same reason the Sun is seen briefly after it has actually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Stars twinkle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Light from stars refracts through moving air layers, so their brightness flickers.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Bent / raised look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Objects in water look bent at the surface and raised from the bottom.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Prism &amp;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3 questions  •  think before the answer reveals on the next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Prism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Light passing through a triangular prism bends toward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Apex (top)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Normal at exit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Incident ray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Prism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Light passing through a triangular prism bends toward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Apex (top)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Normal at exit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Incident ray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At both surfaces the ray bends in the same rotational sense, so the overall bending is toward the thicker part — the base of the prism.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Apparent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Compared with its real depth, a pond always appears: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Deeper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Shallower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Twice as deep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Apparent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Compared with its real depth, a pond always appears: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Deeper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Shallower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Twice as deep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Light from the bottom bends away from the normal on leaving the water and our eyes project it back along a straight line, so the bottom looks raised — apparent depth &lt; real depth.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Deviation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angle between the incident ray and the emergent ray of a prism is called the angle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Deviation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Prism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Deviation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angle between the incident ray and the emergent ray of a prism is called the angle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Refraction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Deviation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Prism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angle of deviation δ measures how much the prism turns the light from its original direction.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Critical Angle &amp; T.I.R.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When light cannot escape a denser medium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CRITICAL 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Critical Angle</a:t>
            </a:r>
          </a:p>
        </p:txBody>
      </p:sp>
      <p:pic>
        <p:nvPicPr>
          <p:cNvPr id="6" name="Picture 5" descr="g10r2_t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93776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At i = C the refracted ray grazes the surface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Definition of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As light goes denser → rarer, it bends away from the normal.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Increase the angle of incidence and the refracted ray bends more and more toward the surface.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At the critical angle (C) the refracted ray grazes along the surface (r = 90°).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Relation:  n = 1 / sin C, so a larger n gives a smaller critical angle.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T.I.R.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Total Internal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When light travelling in a denser medium hits the surface at an angle greater than the critical angle, it is completely reflected back into the denser medium.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Condition:  denser → rarer   AND   i  &gt; 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No light is refracted out — the surface acts like a perfect mirror.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Both conditions must hold: light must go from denser to rarer, and i must exceed the critical angle.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T.I.R. loses no light, unlike an ordinary mirror.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CRITICAL 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Critical Angle of Common Media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n = 1 / sin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Water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 ≈ 1.33, so critical angle C ≈ 49°.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Ordinary glass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 ≈ 1.5, so critical angle C ≈ 42°.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Dense flint glass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 ≈ 1.65, so critical angle C ≈ 37°.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Diamond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 ≈ 2.42, so critical angle C ≈ 24° — the smallest, so light is trapped most easily.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Rule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Larger refractive index  →  smaller critical angle  →  easier T.I.R.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USES OF T.I.R.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Where Total Internal Reflection Is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Optical fibres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Light bounces along the fibre by repeated T.I.R., carrying internet and phone signals.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Totally reflecting prisms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45°–45°–90° prisms turn light through 90° or 180° in periscopes and binoculars.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Mirage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Hot air near a road bends light by T.I.R., showing a shimmering 'puddle' that is really sky.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Sparkle of diamond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Diamond's tiny critical angle (≈ 24°) traps light by repeated T.I.R., making it sparkle.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OPTICAL FIBRES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an Optical Fibre Works</a:t>
            </a:r>
          </a:p>
        </p:txBody>
      </p:sp>
      <p:pic>
        <p:nvPicPr>
          <p:cNvPr id="6" name="Picture 5" descr="g10r2_fi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2103120"/>
            <a:ext cx="512064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554126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Repeated T.I.R. guides the light along the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Light trapped by T.I.R.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fibre has a glass core surrounded by a cladding of lower refractive index.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enters one end and strikes the core walls beyond the critical angle.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undergoes total internal reflection again and again, zig-zagging down the fibre.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Almost no light escapes, so signals travel long distances with very little loss.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REFLECTING PRISMS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Totally Reflecting Prisms</a:t>
            </a:r>
          </a:p>
        </p:txBody>
      </p:sp>
      <p:pic>
        <p:nvPicPr>
          <p:cNvPr id="6" name="Picture 5" descr="g10r2_rpr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2062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45° incidence &gt; critical angle → 90° turn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A perfect mirror from glass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45°–45°–90° glass prism has a critical angle (≈ 42°) smaller than 45°.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hitting the long face at 45° therefore exceeds the critical angle and is totally reflected.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One reflection turns light through 90°; two reflections turn it through 180°.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These prisms replace mirrors in periscopes, binoculars and cameras because they lose no light.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Critical Angle from Refractive Index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The refractive index of glass is 1.5. Find its critical angle.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n = 1 / sin C   →   sin C = 1 / 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sin C = 1 / 1.5 = 0.667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C = sin⁻¹(0.667) ≈ 42°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Critical angle of glass ≈ 42°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Prism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two inclined faces; light bends toward the base, deviation δ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Apparent depth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 = real depth / apparent depth; things look raised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Consequences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early sunrise, late sunset, twinkling stars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Critical angle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 = 90° at i = C; n = 1 / sin C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T.I.R.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denser → rarer and i &gt; C; perfect, loss-free reflection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optical fibres, reflecting prisms, mirage, diamond sparkle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Critical Angle &amp; T.I.R.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Critical Angle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At the critical angle, the angle of refraction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45°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90°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Equal to 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Critical Angle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At the critical angle, the angle of refraction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45°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90°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Equal to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At the critical angle the refracted ray just grazes along the surface, so the angle of refraction is 90°.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Conditions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Total internal reflection can occur only when light travels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Rarer to denser medium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Denser to rarer medium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 to vacuum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Any medium to any other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Conditions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Total internal reflection can occur only when light travels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Rarer to denser medium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Denser to rarer medium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Air to vacuum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Any medium to any other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T.I.R. needs the ray to go from a denser to a rarer medium AND the angle of incidence to exceed the critical angle. Both conditions are essential.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Refractive Index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the critical angle of a medium is 30°, its refractive index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1.0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Refractive Index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the critical angle of a medium is 30°, its refractive index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n = 1 / sin C = 1 / sin 30° = 1 / 0.5 = 2.0.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Optical fibres carry light signals mainly by using: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Dispersion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Total internal reflection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Diffraction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Ordinary reflection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Optical fibres carry light signals mainly by using: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Dispersion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Total internal reflection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Diffraction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Ordinary reflection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Light entering a fibre strikes the walls beyond the critical angle and undergoes repeated T.I.R., travelling along the fibre with almost no loss.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Trapping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Beyond the critical angle, light cannot escape — that is how optical fibres carry the world's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