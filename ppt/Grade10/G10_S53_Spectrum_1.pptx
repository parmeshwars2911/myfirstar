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by previewing these objectives so students know what they should be able to do by the end of the session.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Recall deviation from the refraction chapter, then set up the idea that deviation depends on colour — leading into dispersion.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dispersion. The cause is that refractive index depends on colour (wavelength). Mention Newton's prism experiment.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Hammer the chain: speed → refractive index → deviation. Note there is NO dispersion in vacuum, where all colours share speed 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Anchor the two ends: violet (short λ, high f) and red (long λ, low f). Everything else lies between.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Newton's three classic experiments. The third (single-colour test) clinches that the prism does not manufacture colour.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Distinguish pure (sharp, focused) from impure (overlapping) spectra; a pure spectrum needs lenses plus the prism, not the prism alone.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Newton's two-prism and spinning-disc demonstrations to prove white light is a mixture, not the prism's creation.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Define monochromatic vs polychromatic. A prism cannot disperse monochromatic light — a useful test and a common exam point.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Stress that visible light is a tiny slice. Learn the order both ways: by increasing frequency and by decreasing wavelength.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Selina wants the wavelength range, a source and a means of detection for each band. Visible sits at 400–700 nm between IR and UV.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These four shared properties are commonly examined. Contrast with sound, which needs a medium.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c = fλ for the numerical that follows. Emphasise the inverse relation between f and 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c = fλ for λ. Note radio waves are metres long, unlike the nanometre wavelengths of light.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Connect dispersion to familiar sights. A rainbow is nature's prism made of raindrops.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Trace the path: refraction → internal reflection → refraction. The geometry puts red outside and violet inside.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Rearrange c = fλ for f, keeping powers of ten tidy. Visible frequencies are around 10¹⁴ 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Rapid recap; cold-call the order of the EM spectrum.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4.png"/><Relationship Id="rId4" Type="http://schemas.openxmlformats.org/officeDocument/2006/relationships/image" Target="../media/image8.png"/><Relationship Id="rId5" Type="http://schemas.openxmlformats.org/officeDocument/2006/relationships/notesSlide" Target="../notesSlides/notesSlide1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ICSE • CLASS 10 • OPTICS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828800"/>
            <a:ext cx="8046720" cy="173736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5000" b="1" i="0">
                <a:solidFill>
                  <a:srgbClr val="FFFFFF"/>
                </a:solidFill>
                <a:latin typeface="Calibri"/>
              </a:rPr>
              <a:t>Spectrum &amp; Dispersion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8046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Deviation by a prism  •  Dispersion of white light  •  The electromagnetic spectrum</a:t>
            </a:r>
          </a:p>
        </p:txBody>
      </p:sp>
      <p:pic>
        <p:nvPicPr>
          <p:cNvPr id="7" name="Picture 6" descr="g10_spectrum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52560" y="2103120"/>
            <a:ext cx="2651760" cy="27432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INTRODUCTION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Learning Objectives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167127"/>
            <a:ext cx="457200" cy="457200"/>
          </a:xfrm>
          <a:prstGeom prst="ellipse">
            <a:avLst/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Describe the deviation produced by a triangular prism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874519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46520" y="2167127"/>
            <a:ext cx="457200" cy="45720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167127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2039112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the dispersion of white light into a spectrum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3474719"/>
            <a:ext cx="457200" cy="45720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Recall the seven colours and their wavelength/frequency order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3182111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46520" y="3474719"/>
            <a:ext cx="457200" cy="457200"/>
          </a:xfrm>
          <a:prstGeom prst="ellipse">
            <a:avLst/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3474719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86600" y="3346703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Explain why violet deviates more than red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14400" y="478231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List the members of the electromagnetic spectrum in order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72200" y="4489704"/>
            <a:ext cx="53492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46520" y="4782312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4782312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4654296"/>
            <a:ext cx="4251959" cy="77723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Use the wave relation c = f λ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Dispersion of White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How a prism splits white light into colours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DEVIATION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Deviation by a Prism</a:t>
            </a:r>
          </a:p>
        </p:txBody>
      </p:sp>
      <p:pic>
        <p:nvPicPr>
          <p:cNvPr id="6" name="Picture 5" descr="g10sp_pris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965960"/>
            <a:ext cx="493776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67842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Light bends toward the base of the prism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Angle of deviation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prism has two refracting surfaces inclined at the angle of the prism, 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Light refracts at both faces and bends toward the base.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angle between the incident and emergent directions is the angle of deviation, δ.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Different colours are deviated by different amounts — the key to dispersion.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DISPERSION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Dispersion of White Light</a:t>
            </a:r>
          </a:p>
        </p:txBody>
      </p:sp>
      <p:pic>
        <p:nvPicPr>
          <p:cNvPr id="6" name="Picture 5" descr="g10sp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5215" y="1965960"/>
            <a:ext cx="5303520" cy="3657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65215" y="5678424"/>
            <a:ext cx="5303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The seven colours: VIBGYOR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White light → a spectrum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White light is a mixture of seven colours.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Each colour travels at a slightly different speed in glass, so each has a different refractive index.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prism therefore deviates each colour by a different amount, spreading them out.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splitting of white light into its colours is called dispersion; the band of colours is the spectrum.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WHY IT SPLITS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Why the Colours Separate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speeds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In glass, violet light travels slowest and red fastest.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index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So glass has the highest refractive index for violet and the lowest for red.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rism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Different deviation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Higher index → more bending, so violet is deviated most and red least.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 a vacuum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All colours travel at the same speed c, so there is no dispersion in vacuum.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THE COLOURS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VIBGYOR — Wavelength &amp; Frequency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From violet to 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Violet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shortest wavelength (~400 nm), highest frequency, deviated most.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Through to Red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wavelength increases and frequency decreases across the spectrum.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Red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longest visible wavelength (~700 nm), lowest frequency, deviated least.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Order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Violet, Indigo, Blue, Green, Yellow, Orange, Red — remember VIBGYOR.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NEWTON'S PROOF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Showing White Light Is Composite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Experiment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single prism spreads white light into the seven colours — dispersion.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Experiment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 second, inverted prism recombines those colours back into white light.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Experiment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Passing just one colour of the spectrum through another prism gives no new colours.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Conclusion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 colours are already present in white light; the prism only separates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PURE VS IMPURE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Pure and Impure Spectrum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In an impure spectrum the colours overlap; in a pure spectrum each colour is sharply separated.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simple prism alone gives an impure spectrum — neighbouring colours overlap.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Adding lenses to focus each colour to a sharp band gives a pure spectrum.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pure spectrum needs the colours to be parallel and separately focused.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RECOMBINATION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White Light Can Be Re-made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A second, inverted prism can recombine the spectrum back into white light — proving the colours were always in the white light.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single prism disperses; a matched inverted prism recombines.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This shows the prism does not 'create' colour — it only separates what is already there.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 disc painted with the seven colours (Newton's disc) looks white when spun fast.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ONE COLOUR VS MANY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Monochromatic and Polychromatic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Light of a single wavelength is monochromatic; light made of many wavelengths is polychromatic.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474720"/>
            <a:ext cx="10058400" cy="2423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Monochromatic light (e.g. from a sodium lamp) is not split by a prism — it has only one colour.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White light is polychromatic — a mixture of all seven colours, so a prism disperses it.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The visible spectrum is continuous: the colours merge smoothly from violet to red.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Most Deviated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white light passes through a glass prism, which colour emerges closest to the base of the prism (deviated most)?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Yellow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Most Deviated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When white light passes through a glass prism, which colour emerges closest to the base of the prism (deviated most)?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Yellow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Green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Violet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Glass has the highest refractive index for violet (it travels slowest), so violet bends the most and emerges nearest the base. Red, with the lowest index, deviates least.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White light passes through a thick glass slab with parallel sides instead of a prism. The emergent light is white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Glass cannot disperse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colours recombine as they leave the parallel 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 light has only one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slab is too thick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No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White light passes through a thick glass slab with parallel sides instead of a prism. The emergent light is white because: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Glass cannot disperse light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 colours recombine as they leave the parallel face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White light has only one colour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slab is too thick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 slab does disperse light inside, but because its faces are parallel the colours bend back and recombine on emerging, so the output is white (just slightly shifted). A prism's inclined faces keep them separated.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Spinning Disc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Newton's disc, painted with the seven spectrum colours, appears white when spun rapidly. This shows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colours disappear when moving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White light is a combination of the seven colours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disc reflects only white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Fast motion removes colour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Spinning Disc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Newton's disc, painted with the seven spectrum colours, appears white when spun rapidly. This shows that: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colours disappear when moving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White light is a combination of the seven colours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disc reflects only white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Fast motion removes colour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The eye blends the rapidly changing colours together. Their recombination producing white proves white light is a mixture of all seven colours.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Monochromatic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beam of pure yellow sodium light is passed through a glass prism. What happens?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splits into seven 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is deviated but not dispersed (stays one colour)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disappears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It turns white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Monochromatic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 beam of pure yellow sodium light is passed through a glass prism. What happens?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splits into seven colours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It is deviated but not dispersed (stays one colour)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disappears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It turns white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Sodium light is monochromatic — a single wavelength. The prism bends (deviates) it, but with only one colour present there is nothing to split, so no spectrum forms.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Cause of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Dispersion occurs in glass but not in vacuum because, in glass, different colours have different: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Frequencies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Speeds (and so refractive indices)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Amplitudes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Energies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Cause of Dispersion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Dispersion occurs in glass but not in vacuum because, in glass, different colours have different: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Frequencies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Speeds (and so refractive indices)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Amplitudes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Energies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In glass each colour travels at a slightly different speed, so the refractive index differs by colour and each is deviated differently. In vacuum all colours share speed c, so there is no dispersion.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595360" y="-1463040"/>
            <a:ext cx="4937760" cy="493776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503920" y="3108960"/>
            <a:ext cx="3383280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20000" b="1" i="0">
                <a:solidFill>
                  <a:srgbClr val="263149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14884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697480"/>
            <a:ext cx="749807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Calibri"/>
              </a:rPr>
              <a:t>The Electromagnetic Spectrum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4114800"/>
            <a:ext cx="7315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Visible light is one small part of a much larger family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EM SPECTRUM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The Electromagnetic Spectrum</a:t>
            </a:r>
          </a:p>
        </p:txBody>
      </p:sp>
      <p:pic>
        <p:nvPicPr>
          <p:cNvPr id="6" name="Picture 5" descr="g10sp_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240280"/>
            <a:ext cx="54864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5404103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6B7280"/>
                </a:solidFill>
                <a:latin typeface="Calibri"/>
              </a:rPr>
              <a:t>Radio (long λ) → Gamma (short λ)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99455" y="1828800"/>
            <a:ext cx="5669280" cy="39319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19495" y="2057400"/>
            <a:ext cx="50292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One family, many wavelengths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19495" y="2606040"/>
            <a:ext cx="507492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Visible light is just one small band of a huge family of electromagnetic waves.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In order of increasing frequency: radio, microwave, infrared, visible, ultraviolet, X-rays, gamma rays.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Wavelength decreases and frequency (and energy) increases from radio to gamma.</a:t>
            </a:r>
          </a:p>
          <a:p>
            <a:pPr algn="l">
              <a:lnSpc>
                <a:spcPct val="105000"/>
              </a:lnSpc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All of them are electromagnetic waves — only their wavelength differs.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WAVELENGTH RANGES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Each Band by Wavelength and Source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av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Radio (&gt; 0.1 m)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Made by oscillating circuits/aerials; received by aerials and tuned circuits.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ve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Microwave (mm–cm)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From klystrons/magnetrons and masers; detected by aerials and crystal detectors.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Infrared (700 nm–1 mm)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Emitted by all warm bodies; detected by thermopiles, blackened thermometers, IR cameras.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ray_FFFFF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UV → X-ray → Gamma (&lt; 400 nm)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From the Sun/sparks, X-ray tubes and radioactive nuclei; detected by photographic plates and fluorescence/Geiger tubes.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SHARED PROPERTIES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What All EM Waves Have in Common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Same speed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All travel at 3 × 10⁸ m/s in vacuum — the speed of light, c.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No medium needed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They are transverse waves that can travel through a vacuum.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bolt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Carry energy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Higher frequency means higher energy per wave.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 = f λ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For every member, speed = frequency × wavelength.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WAVE RELATION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Speed, Frequency &amp;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3716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Calibri"/>
              </a:rPr>
              <a:t>For any electromagnetic wave, the speed equals the frequency multiplied by the wavelength.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429000"/>
            <a:ext cx="10881360" cy="914400"/>
          </a:xfrm>
          <a:prstGeom prst="roundRect">
            <a:avLst>
              <a:gd name="adj" fmla="val 8000"/>
            </a:avLst>
          </a:prstGeom>
          <a:solidFill>
            <a:srgbClr val="FFF6E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429000"/>
            <a:ext cx="1014984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 i="0">
                <a:solidFill>
                  <a:srgbClr val="F4801A"/>
                </a:solidFill>
                <a:latin typeface="Calibri"/>
              </a:rPr>
              <a:t>c  =  f × λ        (c = 3 × 10⁸ m/s)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72000"/>
            <a:ext cx="10058400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If frequency goes up, wavelength goes down (c is fixed).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Gamma rays: very high f, very short λ.</a:t>
            </a:r>
          </a:p>
          <a:p>
            <a:pPr algn="l">
              <a:spcAft>
                <a:spcPts val="900"/>
              </a:spcAft>
            </a:pPr>
            <a:r>
              <a:rPr sz="15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500" b="0" i="0">
                <a:solidFill>
                  <a:srgbClr val="1D2433"/>
                </a:solidFill>
                <a:latin typeface="Calibri"/>
              </a:rPr>
              <a:t>Radio waves: low f, very long λ.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Using c = f 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A radio station broadcasts at a frequency of 100 MHz (1 × 10⁸ Hz). Find the wavelength of the waves. (c = 3 × 10⁸ m/s)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 = f × λ   →   λ = c / f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λ = (3 × 10⁸) / (1 × 10⁸)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λ = 3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λ = 3 m — typical of FM radio waves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IN NATURE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Dispersion Around Us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60119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0A93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2323490"/>
            <a:ext cx="281635" cy="28163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4592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Rainbow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Raindrops act like tiny prisms, dispersing sunlight into an arc of colours.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20240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537960" y="22128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8602" y="2323490"/>
            <a:ext cx="281635" cy="281635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21762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CD / DVD surface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6700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Fine grooves split white light into a shifting spectrum of colours.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60119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spark_FFFF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762" y="4152290"/>
            <a:ext cx="281635" cy="281635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64592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Oil film &amp; bubbles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Thin films break white light into colours by interference and dispersion.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3749039"/>
            <a:ext cx="5212080" cy="1600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537960" y="4041648"/>
            <a:ext cx="502920" cy="502920"/>
          </a:xfrm>
          <a:prstGeom prst="roundRect">
            <a:avLst>
              <a:gd name="adj" fmla="val 30000"/>
            </a:avLst>
          </a:prstGeom>
          <a:solidFill>
            <a:srgbClr val="E63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fire_FFFF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8602" y="4152290"/>
            <a:ext cx="281635" cy="28163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223760" y="4005072"/>
            <a:ext cx="3931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D2433"/>
                </a:solidFill>
                <a:latin typeface="Calibri"/>
              </a:rPr>
              <a:t>Diamond fire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4498848"/>
            <a:ext cx="39319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6B7280"/>
                </a:solidFill>
                <a:latin typeface="Calibri"/>
              </a:rPr>
              <a:t>Strong dispersion inside diamond spreads light into flashes of colour.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RAINBOW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How a Rainbow Forms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6A4C93"/>
                </a:solidFill>
                <a:latin typeface="Calibri"/>
              </a:rPr>
              <a:t>Each drop is a tiny prism + mirror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697480"/>
            <a:ext cx="10058400" cy="30632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Sunlight enters a raindrop and refracts, dispersing into colours.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The light reflects once off the back of the drop.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It refracts again on leaving, spreading the colours further.</a:t>
            </a:r>
          </a:p>
          <a:p>
            <a:pPr algn="l">
              <a:lnSpc>
                <a:spcPct val="105000"/>
              </a:lnSpc>
              <a:spcAft>
                <a:spcPts val="1100"/>
              </a:spcAft>
            </a:pPr>
            <a:r>
              <a:rPr sz="1600" b="1" i="0">
                <a:solidFill>
                  <a:srgbClr val="6A4C93"/>
                </a:solidFill>
                <a:latin typeface="Calibri"/>
              </a:rPr>
              <a:t>•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Red appears on the outer edge of the bow and violet on the inner.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Frequency of Light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1097280"/>
          </a:xfrm>
          <a:prstGeom prst="roundRect">
            <a:avLst>
              <a:gd name="adj" fmla="val 6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28800"/>
            <a:ext cx="1014984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6A4C93"/>
                </a:solidFill>
                <a:latin typeface="Calibri"/>
              </a:rPr>
              <a:t>Problem.  </a:t>
            </a:r>
            <a:r>
              <a:rPr sz="1600" b="0" i="0">
                <a:solidFill>
                  <a:srgbClr val="1D2433"/>
                </a:solidFill>
                <a:latin typeface="Calibri"/>
              </a:rPr>
              <a:t>Yellow light has a wavelength of 600 nm (6 × 10⁻⁷ m) in vacuum. Find its frequency. (c = 3 × 10⁸ m/s)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108960"/>
            <a:ext cx="10881360" cy="265176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337560"/>
            <a:ext cx="101498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c = f × λ   →   f = c / λ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(3 × 10⁸) / (6 × 10⁻⁷)</a:t>
            </a:r>
          </a:p>
          <a:p>
            <a:pPr algn="l">
              <a:lnSpc>
                <a:spcPct val="105000"/>
              </a:lnSpc>
              <a:spcAft>
                <a:spcPts val="700"/>
              </a:spcAft>
            </a:pPr>
            <a:r>
              <a:rPr sz="1600" b="0" i="0">
                <a:solidFill>
                  <a:srgbClr val="1D2433"/>
                </a:solidFill>
                <a:latin typeface="Calibri"/>
              </a:rPr>
              <a:t>f = 5 × 10¹⁴ 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074920"/>
            <a:ext cx="10881360" cy="59436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5074920"/>
            <a:ext cx="1014984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A9D8F"/>
                </a:solidFill>
                <a:latin typeface="Calibri"/>
              </a:rPr>
              <a:t>Answer: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f = 5 × 10¹⁴ Hz — visible light has frequencies near 10¹⁴ Hz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WRAP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Quick Recap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10881360" cy="4114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148840"/>
            <a:ext cx="10058400" cy="3657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Deviation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 prism bends light toward its base by angle δ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Dispersion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white light splits because index depends on colour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VIBGYOR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violet shortest λ / most deviated; red longest / least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Recombination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an inverted prism re-makes white light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EM spectrum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radio → micro → IR → visible → UV → X-ray → gamma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600" b="1" i="0">
                <a:solidFill>
                  <a:srgbClr val="2A9D8F"/>
                </a:solidFill>
                <a:latin typeface="Calibri"/>
              </a:rPr>
              <a:t>✓  </a:t>
            </a:r>
            <a:r>
              <a:rPr sz="1600" b="1" i="0">
                <a:solidFill>
                  <a:srgbClr val="1D2433"/>
                </a:solidFill>
                <a:latin typeface="Calibri"/>
              </a:rPr>
              <a:t>c = f λ  —  </a:t>
            </a:r>
            <a:r>
              <a:rPr sz="1500" b="0" i="0">
                <a:solidFill>
                  <a:srgbClr val="6B7280"/>
                </a:solidFill>
                <a:latin typeface="Calibri"/>
              </a:rPr>
              <a:t>all EM waves travel at c = 3 × 10⁸ m/s in vacuum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778240" y="-137160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01168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C300"/>
                </a:solidFill>
                <a:latin typeface="Arial"/>
              </a:rPr>
              <a:t>QUIZ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" y="2560320"/>
            <a:ext cx="9601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400" b="1" i="0">
                <a:solidFill>
                  <a:srgbClr val="FFFFFF"/>
                </a:solidFill>
                <a:latin typeface="Calibri"/>
              </a:rPr>
              <a:t>Final Check — Spectra &amp; Waves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3749039"/>
            <a:ext cx="9601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0" i="0">
                <a:solidFill>
                  <a:srgbClr val="CADCFC"/>
                </a:solidFill>
                <a:latin typeface="Calibri"/>
              </a:rPr>
              <a:t>5 questions  •  think before the answer reveals on the next slide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list is in order of INCREASING frequency?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Gamma, X-ray, UV,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Radio, infrared, visible, ultraviolet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Visible, infrared, microwave, radio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X-ray, UV, visible, infrared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Q1 — Order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list is in order of INCREASING frequency?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Gamma, X-ray, UV, visible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Radio, infrared, visible, ultraviolet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Visible, infrared, microwave, radio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X-ray, UV, visible, infrared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Frequency increases from radio waves (lowest) up through infrared and visible to ultraviolet and beyond. Wavelength does the opposite — it decreases.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the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X-ray has a frequency of 3 × 10¹⁸ Hz. Its wavelength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× 10⁻¹⁰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× 10¹⁰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9 × 10²⁶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1 × 10⁻²⁶ 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Q2 — Find the Wavelength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An X-ray has a frequency of 3 × 10¹⁸ Hz. Its wavelength is (c = 3 × 10⁸ m/s):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1 × 10⁻¹⁰ 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× 10¹⁰ 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9 × 10²⁶ 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1 × 10⁻²⁶ 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λ = c / f = (3 × 10⁸) / (3 × 10¹⁸) = 1 × 10⁻¹⁰ m. Such tiny wavelengths are why X-rays can pass between atoms in the body.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Travels Fastest?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vacuum, which travels fastest — a radio wave, green light, or a gamma ray?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radio wave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Green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 gamma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They all travel at the same speed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Q3 — Which Travels Fastest?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In a vacuum, which travels fastest — a radio wave, green light, or a gamma ray?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radio wave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Green light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The gamma ray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They all travel at the same speed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All electromagnetic waves travel at c = 3 × 10⁸ m/s in a vacuum, regardless of frequency. They differ in wavelength and energy, not speed.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Highest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electromagnetic radiations carries the most energy per wave?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Radio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Infrared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Visible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Gamma rays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Q4 — Highest Energy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Which of these electromagnetic radiations carries the most energy per wave?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Radio waves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Infrared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Visible light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Gamma rays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Energy increases with frequency. Gamma rays have the highest frequency (shortest wavelength) of all, so they carry the most energy — which is why they are so penetrating and dangerous.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6A4C93"/>
                </a:solidFill>
                <a:latin typeface="Arial"/>
              </a:rPr>
              <a:t>QUIZ QUESTION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Speed?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Radio waves have a much longer wavelength than visible light. In vacuum, the radio waves therefore have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Lower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D2433"/>
                </a:solidFill>
                <a:latin typeface="Calibri"/>
              </a:rPr>
              <a:t>Higher frequency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0927080" y="365760"/>
            <a:ext cx="868680" cy="868680"/>
          </a:xfrm>
          <a:prstGeom prst="ellipse">
            <a:avLst/>
          </a:prstGeom>
          <a:noFill/>
          <a:ln w="15875">
            <a:solidFill>
              <a:srgbClr val="DDE2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256032" cy="256032"/>
          </a:xfrm>
          <a:prstGeom prst="rect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457200"/>
            <a:ext cx="9509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ANSWER REVEALED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777240"/>
            <a:ext cx="9966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D2433"/>
                </a:solidFill>
                <a:latin typeface="Calibri"/>
              </a:rPr>
              <a:t>Q5 — Same Speed?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83080"/>
            <a:ext cx="1088136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83080"/>
            <a:ext cx="10149840" cy="13258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D2433"/>
                </a:solidFill>
                <a:latin typeface="Calibri"/>
              </a:rPr>
              <a:t>Radio waves have a much longer wavelength than visible light. In vacuum, the radio waves therefore have a: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1440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Lower speed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337560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446520" y="3566160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3566160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3337560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Higher speed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9F5F0"/>
          </a:solidFill>
          <a:ln w="2540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4400" y="4599431"/>
            <a:ext cx="411480" cy="41148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0876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1D2433"/>
                </a:solidFill>
                <a:latin typeface="Calibri"/>
              </a:rPr>
              <a:t>Lower frequency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72200" y="4370831"/>
            <a:ext cx="5349240" cy="868680"/>
          </a:xfrm>
          <a:prstGeom prst="roundRect">
            <a:avLst>
              <a:gd name="adj" fmla="val 12000"/>
            </a:avLst>
          </a:prstGeom>
          <a:solidFill>
            <a:srgbClr val="EAF1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46520" y="4599431"/>
            <a:ext cx="411480" cy="411480"/>
          </a:xfrm>
          <a:prstGeom prst="ellipse">
            <a:avLst/>
          </a:prstGeom>
          <a:solidFill>
            <a:srgbClr val="B7C2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4599431"/>
            <a:ext cx="411480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4370831"/>
            <a:ext cx="429768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6B7280"/>
                </a:solidFill>
                <a:latin typeface="Calibri"/>
              </a:rPr>
              <a:t>Higher frequency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440680"/>
            <a:ext cx="1088136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88900" dist="38100" dir="5400000" rotWithShape="0" algn="bl">
              <a:srgbClr val="000000">
                <a:alpha val="1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559612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2A9D8F"/>
                </a:solidFill>
                <a:latin typeface="Arial"/>
              </a:rPr>
              <a:t>WHY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5943600"/>
            <a:ext cx="10149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1D2433"/>
                </a:solidFill>
                <a:latin typeface="Calibri"/>
              </a:rPr>
              <a:t>All EM waves share the same speed c in vacuum, so from c = fλ a longer wavelength must mean a lower frequency. Speed is unchanged — only f and λ trade off.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D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1463040" y="3108960"/>
            <a:ext cx="4754880" cy="4754880"/>
          </a:xfrm>
          <a:prstGeom prst="ellipse">
            <a:avLst/>
          </a:prstGeom>
          <a:solidFill>
            <a:srgbClr val="6A4C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058400" y="-1645920"/>
            <a:ext cx="4206240" cy="4206240"/>
          </a:xfrm>
          <a:prstGeom prst="ellipse">
            <a:avLst/>
          </a:prstGeom>
          <a:solidFill>
            <a:srgbClr val="F48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37744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Calibri"/>
              </a:rPr>
              <a:t>From Rainbows to Gamma Rays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5661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CADCFC"/>
                </a:solidFill>
                <a:latin typeface="Calibri"/>
              </a:rPr>
              <a:t>A prism reveals the colours hidden in white light — and visible light is just one note in a vast electromagnetic symphony.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