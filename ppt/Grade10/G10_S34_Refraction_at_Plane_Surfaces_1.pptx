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refraction, then ask students why a straw in a glass of water looks bent. Emphasise the change in speed is the cause, and bending only happens at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toward/away rule — it is the single most tested idea. Use the swimmer-in-mud analogy: the part of the line that enters the denser medium first slows, swinging the ray toward the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directly with the previous slide. Stress that the path is reversible — same diagram, arrows flipped.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absolute refractive index. Make the link: bigger n → slower light → more bending. Mention n is a pure ratio, hence no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as a story: as we move to denser media the speed falls and n rises. Diamond's huge n is why it sparkles.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both laws precisely. Snell's law is the workhorse for numericals — make sure angles are taken from the normal, never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diagram: identify the normal first, then i, then r. Common error: measuring from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Snell's law, substitute, solve for sin r, then take the inverse sine. Sanity check: r &lt; i because air → glass.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with the diagram by flipping the arrowheads. Introduce the reciprocal relation ₁n₂ = 1 / ₂n₁.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ray surface by surface. The headline result: emergent ray parallel to incident ray, displaced sideways by the lateral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three factors that increase lateral shift, then the special case of normal incidence giving zero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standard ICSE practical. Emphasise the four-pins-in-a-line condition and that n is found from sin i / sin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 thick mirror shows a faint extra image. The brightest is from the silvered back; partial reflections make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physics to everyday sights. Invite students to add their own examples of bent or raised objects in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Rearrange n = c/v for v. Reinforce that light is slower in the denser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recap. Cold-call students to give each result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Refraction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Bending of light at plane surfaces  •  Laws of refraction  •  Refractive index  •  The glass block</a:t>
            </a:r>
          </a:p>
        </p:txBody>
      </p:sp>
      <p:pic>
        <p:nvPicPr>
          <p:cNvPr id="7" name="Picture 6" descr="g10r1_bend_den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refraction is and why it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and apply the two laws of refraction (Snell's law)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refractive index and relate it to the speed of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n = c / v for the speed of light in a 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Trace a ray through a rectangular glass block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lateral displacement and multiple images in thick glass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What Refraction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Bending of light when it changes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Refraction?</a:t>
            </a:r>
          </a:p>
        </p:txBody>
      </p:sp>
      <p:pic>
        <p:nvPicPr>
          <p:cNvPr id="6" name="Picture 5" descr="g10r1_bend_den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Air → glass: ray bends toward the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Refraction is the bending of light as it passes from one transparent medium into another.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happens because the speed of light is different in different media.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bending takes place only at the boundary (surface) separating the two media.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ray entering along the normal does not bend.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WHICH WAY DOES IT BEND?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Two Rules of Bending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Rarer → Denser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Going into a denser medium (air → glass), light slows down and bends TOWARD the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Denser → Rarer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Going into a rarer medium (glass → air), light speeds up and bends AWAY from the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Along the 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that strikes the surface at 90° (along the normal) passes straight through, un-bent.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 the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Bending happens only at the surface; inside a uniform medium the ray travels in a straight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DENSER → RARER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Bending Away From the Normal</a:t>
            </a:r>
          </a:p>
        </p:txBody>
      </p:sp>
      <p:pic>
        <p:nvPicPr>
          <p:cNvPr id="6" name="Picture 5" descr="g10r1_bend_ra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Glass → air: ray bends away from the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Glass → 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light leaves a denser medium for a rarer one it speeds up.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refracted ray bends away from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angle of refraction is larger than the angle of incidence.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exactly the reverse of the air → glass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REFRACTIVE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Refractive Index 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refractive index of a medium measures how much it bends light — how much it slows light down compared with vacuum.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n  =  speed of light in vacuum (c)  /  speed of light in medium (v)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Refractive index has no unit (it is a ratio).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higher n means light travels slower and bends more.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air n ≈ 1.0; the denser the medium, the larger 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also equals sin i / sin r (from Snell's law).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SPEED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Light in Different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Light slows down in a denser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Vacuum / air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 = 3 × 10⁸ m/s — the fastest light can travel.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≈ 2.25 × 10⁸ m/s, so n ≈ 1.33.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Glass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≈ 2.0 × 10⁸ m/s, so n ≈ 1.5.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Diamond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≈ 1.24 × 10⁸ m/s, so n ≈ 2.42 — bends light the most.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Key relation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= c / v  →  the smaller the speed v, the larger 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LAWS OF REFRACTION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Two Laws of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Snell's law: the ratio of sin i to sin r is constant for a given pair of media.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sin i  /  sin r  =  n   (a constant)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1: The incident ray, the refracted ray and the normal at the point of incidence all lie in one plane.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2 (Snell's law): sin i / sin r = constant = the refractive index of the second medium w.r.t. the first.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 = angle of incidence, r = angle of refraction, both measured from the normal.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SNELL'S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Reading the Angles</a:t>
            </a:r>
          </a:p>
        </p:txBody>
      </p:sp>
      <p:pic>
        <p:nvPicPr>
          <p:cNvPr id="6" name="Picture 5" descr="g10r1_bend_den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Angles of incidence (i) and refraction (r)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i and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Always measure i and r from the normal, not the surface.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Air → glass: i &gt; r (ray bends toward the normal).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constant sin i / sin r is the refractive index 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you know any three of i, r and n you can find the fourth.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Applying Snell's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ray strikes a glass surface at i = 45°. If the refractive index of glass is 1.5, find sin r (and hence 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Snell's law:  sin i / sin r =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sin 45° / sin r = 1.5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sin r = sin 45° / 1.5 = 0.707 / 1.5 = 0.471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sin⁻¹(0.471) ≈ 28°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 ≈ 28°  (the ray bends toward the normal, as expected)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REVERSIBILITY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Principle of Reversibility</a:t>
            </a:r>
          </a:p>
        </p:txBody>
      </p:sp>
      <p:pic>
        <p:nvPicPr>
          <p:cNvPr id="6" name="Picture 5" descr="g10r1_bend_ra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Reverse the arrows — the path is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Light's path is reversible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a ray of light retraces its path, it travels back along exactly the same route.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Reverse the refracted ray and it comes out along the original incident ray.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gives the useful relation:  ₁n₂ × ₂n₁ = 1.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refractive index of glass w.r.t. air is the reciprocal of air w.r.t. glass.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Crossing a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passes from water (n = 1.33) into glass (n = 1.5). On entering the glass the ray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 toward the normal and slow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 away from the normal and speed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 straight through without bending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 toward the normal and speed 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Crossing a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passes from water (n = 1.33) into glass (n = 1.5). On entering the glass the ray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Bend toward the normal and slow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Bend away from the normal and speed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Go straight through without bending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Bend toward the normal and speed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Glass is optically denser than water (higher n), so light slows down on entering it and bends toward the normal — even though neither medium is air. Density, not 'air vs glass', decides the direction of bending.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What Changes?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light passes from air into a glass block, which of these does NOT change?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What Changes?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light passes from air into a glass block, which of these does NOT change?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Its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Inside the glass the light slows down and its wavelength shortens, and at the surface its direction changes. Only the frequency (set by the source) stays the same — a common exam trap.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Comparing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travels fastest in the medium with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Highest refractive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Lowest refractive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Largest angle of refraction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Greatest density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Comparing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travels fastest in the medium with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Highest refractive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Lowest refractive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Largest angle of refraction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Greatest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Since n = c/v, a smaller n means a larger speed v. So light is fastest in the optically rarest medium (lowest n) — for example it travels faster in water than in diamond.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Through a Glass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Lateral shift, experiments and thick-glass images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GLASS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Through a Rectangular Glass Block</a:t>
            </a:r>
          </a:p>
        </p:txBody>
      </p:sp>
      <p:pic>
        <p:nvPicPr>
          <p:cNvPr id="6" name="Picture 5" descr="g10r1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Emergent ray is parallel but shifted sideways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Two refractions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ray refracts twice — once entering and once leaving the block.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entry (air → glass) it bends toward the normal; at exit (glass → air) it bends away.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two surfaces are parallel, so the emergent ray is parallel to the incident ray.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But the emergent ray is shifted sideways — this is the lateral displacement.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LATERAL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the Lateral Shift Depends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Thickness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thicker glass block gives a larger lateral displacement.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Angle of incidence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larger angle of incidence increases the lateral shift.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Refractive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higher refractive index (denser glass) increases the shift.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Zero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normal incidence (i = 0) there is no bending and no lateral displacement.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Refractive Index of Glass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Pin-and-tracing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Place the glass block on paper and trace its outline.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Draw a normal and an incident ray; fix two pins on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Looking from the other side, fix two more pins so all four appear in a straight line.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Remove the block and join the pin marks to draw the emergent ray and the refracted ray inside the block.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Measure the angles i and r, then compute n = sin i / sin 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THICK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Multiple Images in a Thick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Several images from one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it happens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thick glass mirror reflects light at both the front glass surface and the silvered back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Faint first image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weak image forms by reflection at the front surface of the glass.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Brightest image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brightest image is formed by the silvered back surface — this is the one we use.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More faint images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Repeated internal reflections create several fainter images behind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Refraction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Bent straw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straw in water looks bent at the surface because light from it refracts on leaving the 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Shallow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pool looks shallower than it is — refraction raises the apparent position of the bottom.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Twinkling stars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Starlight refracts through moving air layers, so stars appear to twinkle.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Lenses &amp; prisms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Spectacles, cameras and prisms all work by refracting light in a controlled 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Light in a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refractive index of water is 1.33. Find the speed of light in water. (c = 3 × 10⁸ m/s)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n = c / v   →   v = c /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(3 × 10⁸) / 1.33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2.256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 ≈ 2.26 × 10⁸ m/s  (slower than in air, as expected)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Refraction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bending of light when its speed changes between media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Toward / away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 the normal entering denser; away entering rarer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Refractive index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= c / v = sin i / sin r, no unit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Snell's law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sin i / sin r = constant, angles from the normal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Glass block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emergent ray parallel to incident, shifted sideways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Reversibility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retraces its path; ₁n₂ × ₂n₁ =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Applying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Glass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enters a rectangular glass slab at an angle of incidence of 50°. What is the angle of emergence as it leaves the opposite, parallel face?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50°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50°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than 50°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depends on the glass thickness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Glass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enters a rectangular glass slab at an angle of incidence of 50°. What is the angle of emergence as it leaves the opposite, parallel face?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than 50°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50°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than 50°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depends on the glass thickness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the two faces are parallel, the bending on entering is exactly undone on leaving. The angle of emergence equals the angle of incidence (50°); the ray is only shifted sideways, not rotated. Thickness changes the shift, not the angle.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Refractive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travels at 2 × 10⁸ m/s in a medium. Its refractive index is (c = 3 × 10⁸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 × 10¹⁶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Refractive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travels at 2 × 10⁸ m/s in a medium. Its refractive index is (c = 3 × 10⁸ m/s):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 × 10¹⁶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n = c / v = (3 × 10⁸) / (2 × 10⁸) = 1.5. The refractive index is a ratio of speeds, so it has no unit.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Lateral Shift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lateral displacement produced by a glass block is zero when the angle of incidence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 (normal incidence)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Lateral Shift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lateral displacement produced by a glass block is zero when the angle of incidence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0° (normal incidence)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60°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ray along the normal does not bend, so there is no sideways displacement. Lateral shift increases as the angle of incidence increases.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refractive index of glass with respect to air is 1.5, the refractive index of air with respect to glass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0.67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refractive index of glass with respect to air is 1.5, the refractive index of air with respect to glass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0.67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the principle of reversibility, ₁n₂ × ₂n₁ = 1. So air w.r.t. glass = 1 / 1.5 = 0.67.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 Bends — With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Remember: speed change causes bending, measure angles from the normal, and n = c / v = sin i / sin 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