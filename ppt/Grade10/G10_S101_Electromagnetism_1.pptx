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by previewing these objectives so students know what they should be able to do by the end of the session.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Oersted's chance discovery: current creates magnetism. The needle deflection and its reversal are the key observations.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Field = concentric circles. Demonstrate the right-hand rule with your own hand; reversal flips the circles.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loop concentrates the field through its centre, behaving like a small magnet — the stepping stone to the solenoid.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Solenoid = many loops = bar-magnet field. Strong uniform field inside; poles reverse with the current.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Electromagnet = solenoid + soft-iron core. Strength depends on turns, current and the 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three controllable factors: current, number of turns and the core. These are common one-mark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four advantages of an electromagnet: switchable, adjustable, reversible, and can be very strong.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use exploits the switchable, controllable magnetism. The lifting magnet and electric bell are the classic examples.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make-and-break action is the heart of the bell: the magnet switches itself off as the hammer moves, then on again.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Rapid recap; the right-hand rule and the electromagnet advantages are the key recall items.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notesSlide" Target="../notesSlides/notesSlide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8686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ICSE • CLASS 10 • MAGNETISM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1737360"/>
          </a:xfrm>
          <a:prstGeom prst="rect">
            <a:avLst/>
          </a:prstGeom>
          <a:noFill/>
        </p:spPr>
        <p:txBody>
          <a:bodyPr wrap="square" anchor="b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Magnetic Effect of Current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03320"/>
            <a:ext cx="804672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Oersted's experiment  •  Field of a wire, loop &amp; solenoid  •  The electromagnet</a:t>
            </a:r>
          </a:p>
        </p:txBody>
      </p:sp>
      <p:pic>
        <p:nvPicPr>
          <p:cNvPr id="7" name="Picture 6" descr="g10_em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560" y="2103120"/>
            <a:ext cx="265176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Learning Objectives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914400" y="2167127"/>
            <a:ext cx="457200" cy="45720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Oersted's experiment linking current and magnetism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1874519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46520" y="2167127"/>
            <a:ext cx="457200" cy="45720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2167127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600" y="2039112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Draw the magnetic field around a straight current-carrying wire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914400" y="3474719"/>
            <a:ext cx="457200" cy="457200"/>
          </a:xfrm>
          <a:prstGeom prst="ellipse">
            <a:avLst/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 the right-hand thumb rule for field direction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3182111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3474719"/>
            <a:ext cx="457200" cy="457200"/>
          </a:xfrm>
          <a:prstGeom prst="ellipse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46520" y="3474719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86600" y="3346703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Describe the field of a current loop and a solenoid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4782312"/>
            <a:ext cx="457200" cy="45720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Explain how an electromagnet is made and strengthened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72200" y="4489704"/>
            <a:ext cx="5349240" cy="10515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446520" y="4782312"/>
            <a:ext cx="457200" cy="45720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20" y="47823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86600" y="4654296"/>
            <a:ext cx="4251959" cy="7772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Compare an electromagnet with a permanent magnet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Current Makes Magnetism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Oersted's discovery and the field of a wire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OERSTED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Oersted's Experiment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Electricity and magnetism are linked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The discovery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compass needle near a wire deflects when a current flows through the wire.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What it shows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An electric current produces a magnetic field around it.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Reverse the current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needle deflects the other way — the field direction reverses too.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No current, no effect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Switch the current off and the needle returns to north.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STRAIGHT WIRE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Field Around a Straight Wire</a:t>
            </a:r>
          </a:p>
        </p:txBody>
      </p:sp>
      <p:pic>
        <p:nvPicPr>
          <p:cNvPr id="6" name="Picture 5" descr="g10em_wi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615" y="2057400"/>
            <a:ext cx="4389120" cy="34747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79615" y="5586983"/>
            <a:ext cx="4389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Right-hand thumb rule gives the direction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Circular field lines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magnetic field lines form concentric circles around the wire.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field is stronger close to the wire and weakens with distance.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Right-hand thumb rule: thumb points along the current, curled fingers show the field direction.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Reversing the current reverses the direction of the field lines.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CURRENT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Field Due to a Circular Loop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Bending the wire concentrates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Each part adds up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Every bit of the loop circles a field; inside the loop they all add together.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Straight through the centre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The field at the centre is perpendicular to the plane of the loop.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Like a tiny magnet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One face of the loop acts as a north pole, the other as a south pole.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More turns, stronger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Many turns side by side make the field much stronger.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SOLENOID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The Solenoid</a:t>
            </a:r>
          </a:p>
        </p:txBody>
      </p:sp>
      <p:pic>
        <p:nvPicPr>
          <p:cNvPr id="6" name="Picture 5" descr="g10em_s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148839"/>
            <a:ext cx="5486400" cy="32918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5495543"/>
            <a:ext cx="5486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1">
                <a:solidFill>
                  <a:srgbClr val="6B7280"/>
                </a:solidFill>
                <a:latin typeface="Calibri"/>
              </a:rPr>
              <a:t>Reverse the current to swap the poles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99455" y="1828800"/>
            <a:ext cx="5669280" cy="39319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19495" y="2057400"/>
            <a:ext cx="5029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coil that acts like a bar magnet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19495" y="2606040"/>
            <a:ext cx="5074920" cy="3063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A solenoid is a long coil of many turns of insulated wire.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When current flows, its field is just like that of a bar magnet, with a N and a S pole.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field inside is strong and nearly uniform.</a:t>
            </a:r>
          </a:p>
          <a:p>
            <a:pPr algn="l">
              <a:lnSpc>
                <a:spcPct val="105000"/>
              </a:lnSpc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Reversing the current swaps the north and south poles.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ELECTROMAGNET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Making an Electromagnet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1371600"/>
          </a:xfrm>
          <a:prstGeom prst="roundRect">
            <a:avLst>
              <a:gd name="adj" fmla="val 6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28800"/>
            <a:ext cx="10149840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900" b="1" i="0">
                <a:solidFill>
                  <a:srgbClr val="FFFFFF"/>
                </a:solidFill>
                <a:latin typeface="Calibri"/>
              </a:rPr>
              <a:t>Put a soft-iron core inside a solenoid and it becomes a powerful, switchable magnet — an electromagnet.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474720"/>
            <a:ext cx="10058400" cy="2423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The soft-iron core greatly increases the strength of the field.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Stronger with more turns, more current, and a soft-iron core.</a:t>
            </a:r>
          </a:p>
          <a:p>
            <a:pPr algn="l">
              <a:spcAft>
                <a:spcPts val="900"/>
              </a:spcAft>
            </a:pPr>
            <a:r>
              <a:rPr sz="15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500" b="0" i="0">
                <a:solidFill>
                  <a:srgbClr val="1D2433"/>
                </a:solidFill>
                <a:latin typeface="Calibri"/>
              </a:rPr>
              <a:t>It is a magnet only while the current flows.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STRENGTH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What Makes an Electromagnet Stronger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Current, turns and core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More current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larger current through the coil gives a stronger magnetic field.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More turns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Packing in more turns of wire increases the field.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Soft-iron core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soft-iron core multiplies the strength many times over.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Shorter / closer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Bringing the turns closer together concentrates the field.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ELECTRO VS PERMANENT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Electromagnet vs Permanent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lug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Switchable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can be turned on and off; a permanent magnet is always magnetic.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Adjustable strength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strength can be changed by varying the current; a permanent magnet's cannot.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magnet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Reversible poles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Its poles can be reversed by reversing the current.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Very strong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It can be made far stronger than an ordinary permanent magnet.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4 questions  •  think before the answer reveals on the next slide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Oersted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placed under a straight wire deflects only when: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wire is made of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 current flows through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wire is very long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 compass is heated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Oersted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compass placed under a straight wire deflects only when: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wire is made of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A current flows through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wire is very long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 compass is heated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Oersted showed that a current produces a magnetic field. With no current there is no field, so the needle stays pointing north; switch the current on and it deflects.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Reverse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in a solenoid is reversed, its magnetic poles: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Swap over (N becomes 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Become stronger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Reverse It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If the current in a solenoid is reversed, its magnetic poles: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 the same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Swap over (N becomes 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Become stronger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direction of the field follows the current. Reversing the current reverses the field, so the north and south ends of the solenoid interchange.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Stronger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NOT make an electromagnet stronger?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Increasing the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Adding more turns of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Using a wooden core instead of iron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Stronger Magnet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Which change would NOT make an electromagnet stronger?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Increasing the current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Adding more turns of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Using a soft-iron core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Using a wooden core instead of iron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Wood is non-magnetic, so it adds nothing — far weaker than soft iron. Strength is increased by more current, more turns and a soft-iron core.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Why Soft Iron?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uses a soft-iron core rather than steel because soft iron: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magnetised permanently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Loses its magnetism as soon as the current stops, so the magnet can be switched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 good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lighter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Why Soft Iron?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electromagnet uses a soft-iron core rather than steel because soft iron: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magnetised permanently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Loses its magnetism as soon as the current stops, so the magnet can be switched off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 good conductor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lighter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Soft iron magnetises and demagnetises easily, so the electromagnet works only while current flows. Steel would keep its magnetism and could not be switched off.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-1463040"/>
            <a:ext cx="4937760" cy="493776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0" y="3108960"/>
            <a:ext cx="338328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20000" b="1" i="0">
                <a:solidFill>
                  <a:srgbClr val="263149"/>
                </a:solidFill>
                <a:latin typeface="Calibri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4884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697480"/>
            <a:ext cx="749807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Using Electromagnets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4114800"/>
            <a:ext cx="7315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From scrapyards to doorbells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USES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Uses of Electromagnets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60119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magnet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762" y="2323490"/>
            <a:ext cx="281635" cy="2816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64592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Lifting magnets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Cranes in scrapyards lift and drop heavy iron by switching the magnet on and off.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920240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537960" y="22128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bolt_FFFF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8602" y="2323490"/>
            <a:ext cx="281635" cy="28163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223760" y="21762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Electric bell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23760" y="26700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An electromagnet repeatedly pulls a clapper to strike the gong.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60119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6A4C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762" y="4152290"/>
            <a:ext cx="281635" cy="281635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164592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Relays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small current's electromagnet switches on a much larger circuit.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3749039"/>
            <a:ext cx="5212080" cy="16002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537960" y="4041648"/>
            <a:ext cx="502920" cy="502920"/>
          </a:xfrm>
          <a:prstGeom prst="roundRect">
            <a:avLst>
              <a:gd name="adj" fmla="val 30000"/>
            </a:avLst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park_FFFFF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8602" y="4152290"/>
            <a:ext cx="281635" cy="28163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223760" y="400507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 i="0">
                <a:solidFill>
                  <a:srgbClr val="1D2433"/>
                </a:solidFill>
                <a:latin typeface="Calibri"/>
              </a:rPr>
              <a:t>Loudspeakers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23760" y="4498848"/>
            <a:ext cx="393192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 i="0">
                <a:solidFill>
                  <a:srgbClr val="6B7280"/>
                </a:solidFill>
                <a:latin typeface="Calibri"/>
              </a:rPr>
              <a:t>A changing current in a coil moves a cone to make sound.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ELECTRIC BELL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How an Electric Bell Works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031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0A9396"/>
                </a:solidFill>
                <a:latin typeface="Calibri"/>
              </a:rPr>
              <a:t>A make-and-break circuit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697480"/>
            <a:ext cx="10058400" cy="30632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Pressing the switch completes the circuit and the electromagnet is energised.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It attracts the soft-iron armature, so the hammer strikes the gong.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This movement breaks the circuit at a contact, switching the magnet off.</a:t>
            </a:r>
          </a:p>
          <a:p>
            <a:pPr algn="l">
              <a:lnSpc>
                <a:spcPct val="105000"/>
              </a:lnSpc>
              <a:spcAft>
                <a:spcPts val="1100"/>
              </a:spcAft>
            </a:pPr>
            <a:r>
              <a:rPr sz="1600" b="1" i="0">
                <a:solidFill>
                  <a:srgbClr val="0A9396"/>
                </a:solidFill>
                <a:latin typeface="Calibri"/>
              </a:rPr>
              <a:t>•  </a:t>
            </a:r>
            <a:r>
              <a:rPr sz="1600" b="0" i="0">
                <a:solidFill>
                  <a:srgbClr val="1D2433"/>
                </a:solidFill>
                <a:latin typeface="Calibri"/>
              </a:rPr>
              <a:t>A spring pulls the armature back, the contact remakes, and the cycle repeats rapidly.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WRAP 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Quick Recap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881360" cy="41148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148840"/>
            <a:ext cx="100584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Oersted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a current produces a magnetic field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Straight wire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circular field lines; right-hand thumb rule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Loop &amp; solenoid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concentrate the field; solenoid acts like a bar magnet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Electromagnet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solenoid + soft-iron core; switchable and strong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Advantages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switchable, adjustable, reversible, very strong</a:t>
            </a:r>
          </a:p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1600" b="1" i="0">
                <a:solidFill>
                  <a:srgbClr val="2A9D8F"/>
                </a:solidFill>
                <a:latin typeface="Calibri"/>
              </a:rPr>
              <a:t>✓  </a:t>
            </a:r>
            <a:r>
              <a:rPr sz="1600" b="1" i="0">
                <a:solidFill>
                  <a:srgbClr val="1D2433"/>
                </a:solidFill>
                <a:latin typeface="Calibri"/>
              </a:rPr>
              <a:t>Uses  —  </a:t>
            </a:r>
            <a:r>
              <a:rPr sz="1500" b="0" i="0">
                <a:solidFill>
                  <a:srgbClr val="6B7280"/>
                </a:solidFill>
                <a:latin typeface="Calibri"/>
              </a:rPr>
              <a:t>lifting magnets, electric bell, relays, loudspeakers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37160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201168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 i="0">
                <a:solidFill>
                  <a:srgbClr val="FFC300"/>
                </a:solidFill>
                <a:latin typeface="Arial"/>
              </a:rPr>
              <a:t>QUIZ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560320"/>
            <a:ext cx="960120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Final Check — Fields &amp; Electromagnets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749039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 i="0">
                <a:solidFill>
                  <a:srgbClr val="CADCFC"/>
                </a:solidFill>
                <a:latin typeface="Calibri"/>
              </a:rPr>
              <a:t>5 questions  •  think before the answer reveals on the next slide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Field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lines around a long straight current-carrying wire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Straight lines along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Concentric circles around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Radial lines pointing outward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There is no field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Q1 — Field Shape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The magnetic field lines around a long straight current-carrying wire are: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Straight lines along the wire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Concentric circles around the wire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Radial lines pointing outward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There is no field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field circles the wire. Closer to the wire the circles are tighter (stronger field); the right-hand thumb rule gives their direction.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Scrapyard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scrapyard uses an electromagnet rather than a permanent magnet to move cars mainly because it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Never lose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 switched off to drop the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Work without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Lift wood and plastic too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Q2 — Scrapyard Crane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scrapyard uses an electromagnet rather than a permanent magnet to move cars mainly because it can: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Never lose strength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 switched off to drop the 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Work without electricity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Lift wood and plastic too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The whole point is control: turn the current on to grab the scrap and off to release it. A permanent magnet could never let go.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Doorbell Buzz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bell rings continuously while the button is pressed because the circuit: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Stays permanently 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Repeatedly makes and breaks itself as the hammer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Has no electromagnet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Uses a permanent magnet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Q3 — Doorbell Buzz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An electric bell rings continuously while the button is pressed because the circuit: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Stays permanently closed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Repeatedly makes and breaks itself as the hammer moves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Has no electromagnet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Uses a permanent magnet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As the armature is attracted, it breaks the contact and the magnet switches off; a spring returns it, remaking the contact. This rapid make-and-break keeps the hammer striking.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More 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Doubling the number of turns on a solenoid (same current) makes its magnetic field: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Weaker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Stronger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Reverse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Disappear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Q4 — More Turns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Doubling the number of turns on a solenoid (same current) makes its magnetic field: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Weaker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Stronger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Reverse direction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Disappear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More turns means more current loops adding their fields together, so the solenoid's magnetic field becomes stronger.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0A9396"/>
                </a:solidFill>
                <a:latin typeface="Arial"/>
              </a:rPr>
              <a:t>QUIZ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Compass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solenoid hangs freely and comes to rest pointing north–south. This proves the solenoid: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made of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Behaves like a bar magnet with N and S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Carries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1D2433"/>
                </a:solidFill>
                <a:latin typeface="Calibri"/>
              </a:rPr>
              <a:t>Is an insulator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0927080" y="365760"/>
            <a:ext cx="868680" cy="868680"/>
          </a:xfrm>
          <a:prstGeom prst="ellipse">
            <a:avLst/>
          </a:prstGeom>
          <a:noFill/>
          <a:ln w="15875">
            <a:solidFill>
              <a:srgbClr val="DDE2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502920"/>
            <a:ext cx="256032" cy="256032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5097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ANSWER REVEALED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77240"/>
            <a:ext cx="99669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 i="0">
                <a:solidFill>
                  <a:srgbClr val="1D2433"/>
                </a:solidFill>
                <a:latin typeface="Calibri"/>
              </a:rPr>
              <a:t>Q5 — Compass Test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783080"/>
            <a:ext cx="10881360" cy="132588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783080"/>
            <a:ext cx="1014984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 i="0">
                <a:solidFill>
                  <a:srgbClr val="1D2433"/>
                </a:solidFill>
                <a:latin typeface="Calibri"/>
              </a:rPr>
              <a:t>A solenoid hangs freely and comes to rest pointing north–south. This proves the solenoid: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14400" y="3566160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made of iron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337560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9F5F0"/>
          </a:solidFill>
          <a:ln w="25400">
            <a:solidFill>
              <a:srgbClr val="2A9D8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3566160"/>
            <a:ext cx="411480" cy="411480"/>
          </a:xfrm>
          <a:prstGeom prst="ellipse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3566160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337560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1" i="0">
                <a:solidFill>
                  <a:srgbClr val="1D2433"/>
                </a:solidFill>
                <a:latin typeface="Calibri"/>
              </a:rPr>
              <a:t>Behaves like a bar magnet with N and S poles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91440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Carries no current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4370831"/>
            <a:ext cx="5349240" cy="868680"/>
          </a:xfrm>
          <a:prstGeom prst="roundRect">
            <a:avLst>
              <a:gd name="adj" fmla="val 12000"/>
            </a:avLst>
          </a:prstGeom>
          <a:solidFill>
            <a:srgbClr val="EAF1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46520" y="4599431"/>
            <a:ext cx="411480" cy="411480"/>
          </a:xfrm>
          <a:prstGeom prst="ellipse">
            <a:avLst/>
          </a:prstGeom>
          <a:solidFill>
            <a:srgbClr val="B7C2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20" y="4599431"/>
            <a:ext cx="411480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0" y="4370831"/>
            <a:ext cx="42976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50" b="0" i="0">
                <a:solidFill>
                  <a:srgbClr val="6B7280"/>
                </a:solidFill>
                <a:latin typeface="Calibri"/>
              </a:rPr>
              <a:t>Is an insulator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40080" y="544068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88900" dist="38100" dir="5400000" rotWithShape="0" algn="bl">
              <a:srgbClr val="000000">
                <a:alpha val="1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596128"/>
            <a:ext cx="4572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2A9D8F"/>
                </a:solidFill>
                <a:latin typeface="Arial"/>
              </a:rPr>
              <a:t>WHY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5943600"/>
            <a:ext cx="101498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450" b="0" i="0">
                <a:solidFill>
                  <a:srgbClr val="1D2433"/>
                </a:solidFill>
                <a:latin typeface="Calibri"/>
              </a:rPr>
              <a:t>Only a magnet aligns itself north–south in the Earth's field. Since the current-carrying solenoid does so, it must have north and south poles like a bar magnet.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24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463040" y="3108960"/>
            <a:ext cx="4754880" cy="4754880"/>
          </a:xfrm>
          <a:prstGeom prst="ellipse">
            <a:avLst/>
          </a:prstGeom>
          <a:solidFill>
            <a:srgbClr val="0A93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-1645920"/>
            <a:ext cx="4206240" cy="4206240"/>
          </a:xfrm>
          <a:prstGeom prst="ellipse">
            <a:avLst/>
          </a:prstGeom>
          <a:solidFill>
            <a:srgbClr val="F480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4600" b="1" i="0">
                <a:solidFill>
                  <a:srgbClr val="FFFFFF"/>
                </a:solidFill>
                <a:latin typeface="Calibri"/>
              </a:rPr>
              <a:t>Electricity That Magnetises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CADCFC"/>
                </a:solidFill>
                <a:latin typeface="Calibri"/>
              </a:rPr>
              <a:t>A simple coil and a current give us magnets we can switch, tune and reverse at will.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