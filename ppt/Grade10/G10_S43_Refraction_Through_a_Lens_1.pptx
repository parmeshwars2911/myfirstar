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up a real convex and concave lens if available. The single rule behind both: light bends toward the thicker part of the glass.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all six shapes. The one rule: judge by the middle — thicker converges, thinner diverges, regardless of the exact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a parallel beam through each lens type. Convex → real focus behind; concave → virtual focus in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prism analogy to make convergence intuitive. For a concave lens the prisms point the other way, so light diverges.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these terms with the diagram. Stress a lens has TWO foci, equally spaced on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centre/radius of curvature and aperture. Tie aperture to brightness — sets up the half-covered-lens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f via parallel rays. Mention shorter f = more powerful lens (links to power later).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rules build every ray diagram. Students only need two rays to find an image; the third confirms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real vs virtual precisely — the screen test is the clearest way for students to tell them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ICSE subtlety: 'convex = converging' only holds when the lens is optically denser than its surroundings. The air-bubble-in-water example is the classic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two rays on the diagram. Tie the result to a camera making a small real image on the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heavily examined. Have students memorise the trend: as the object comes closer than 2F the image grows and moves away, until within F it becomes virtual and erect.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the camera case: moving the object closer (within 2F) flips the image from diminished to magnified. This is the projector.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with a real magnifying glass over text. Emphasise the object must be within the focal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clean comparison table — a common 'state the differences' exam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ways to identify a lens without instruments — useful for the lab and for application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device is just one row of the image table. Ask students to match each use to an object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Cold-call the six image cases as a rapid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Refraction Through a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Convex &amp; concave lenses  •  Principal rays  •  Image formation in a convex lens</a:t>
            </a:r>
          </a:p>
        </p:txBody>
      </p:sp>
      <p:pic>
        <p:nvPicPr>
          <p:cNvPr id="7" name="Picture 6" descr="g10_lens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convex (converging) and concave (diverging) lenses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a lens as a set of prisms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the technical terms: optical centre, focus, focal length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three rules for drawing ray diagrams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Locate images formed by a convex lens for any object 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a convex lens used as a magnifying glass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Lenses &amp; How They Bend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Types of lens, key terms and the ray-diagram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Two Types of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n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 (converging)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Thicker in the middle. It brings parallel rays together to a real focus.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en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 (diverging)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Thinner in the middle. It spreads parallel rays out as if from a virtual focus.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Made of two surfaces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Each lens is bounded by two spherical (or one flat) refracting surfaces.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a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Refraction twice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Light refracts on entering and on leaving the lens, bending toward the thicker part.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LENS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Six Common Lens Shapes</a:t>
            </a:r>
          </a:p>
        </p:txBody>
      </p:sp>
      <p:pic>
        <p:nvPicPr>
          <p:cNvPr id="6" name="Picture 5" descr="g10l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Six standard lens cross-sections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Converging vs diverging shapes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Converging lenses are thicker in the middle: bi-convex, plano-convex and the converging meniscus.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Diverging lenses are thinner in the middle: bi-concave, plano-concave and the diverging meniscus.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meniscus lens has one convex and one concave face.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Whatever the shape, thicker-in-the-middle converges and thinner-in-the-middle diverges.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REFRACTION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Refraction Through Equi-Convex &amp; Equi-Concave Lenses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Parallel light through the two lens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Equi-convex lens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Both surfaces bulge outward; a parallel beam converges to a real focus on the far side.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Equi-concave lens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Both surfaces curve inward; a parallel beam spreads out as if from a virtual focus in front.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Two refractions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bends once at each surface — toward the normal entering the glass, away from it on leaving.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Net effect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Convex shapes converge light; concave shapes diverge it, no matter the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Lens Is Like a Set of Prisms</a:t>
            </a:r>
          </a:p>
        </p:txBody>
      </p:sp>
      <p:pic>
        <p:nvPicPr>
          <p:cNvPr id="6" name="Picture 5" descr="g10l_pri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Each half bends light toward the axis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Prism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top and bottom of a convex lens act like prisms with their bases toward the middle.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Each prism bends light toward its base — i.e. toward the principal axis.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central part acts like a glass slab and lets light pass straight through.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a convex lens converges parallel rays to a single focus.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KEY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Terms You Must Know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vocabulary of lenses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Optical centre (O)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central point of the lens; a ray through it goes straight on.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Principal axis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line through the centres of curvature of the two surfaces.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Principal focus (F)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point where parallel rays meet (convex) or appear to come from (concave).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Focal length (f)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distance from the optical centre to the principal focus.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 lens has two foci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one on each side, at equal distances, because light can enter from either side.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MORE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Curvature, Aperture &amp; the Two Centres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Centres of curvature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centres of the two spheres whose surfaces form the lens (C₁ and C₂).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Radii of curvature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radii of those two spheres (R₁ and R₂); a smaller radius is more sharply curved.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Aperture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effective diameter of the lens through which light passes.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Brightness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larger aperture gathers more light, giving a brighter (not bigger) image.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FOCAL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Principal Focus &amp; Focal 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Parallel rays close to the principal axis converge at the principal focus of a convex lens after refraction.</a:t>
            </a:r>
          </a:p>
        </p:txBody>
      </p:sp>
      <p:pic>
        <p:nvPicPr>
          <p:cNvPr id="8" name="Picture 7" descr="g10l_con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429000"/>
            <a:ext cx="41148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RAY-DIAGRAM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Three Rules for a Convex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Rule 1 — parallel ray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ray parallel to the axis refracts to pass through the far focus 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Rule 2 — central 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ray through the optical centre O goes straight on, undeviated.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Rule 3 — focal 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ray through the near focus F refracts to emerge parallel to the axis.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Where they meet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Any two of these rays locate the image; the third is a useful check.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Real vs Virtual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Real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Formed where refracted rays actually meet; can be caught on a screen; always inverted.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Virtual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Formed where rays only appear to meet; cannot be caught on a screen; always erect.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Convex lens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Gives a real image for objects beyond F, a virtual image for objects within 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Concave lens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Gives only a virtual, erect, diminished image.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DEPENDS ON THE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 Lens Depends on the Surrounding Medium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Whether a lens converges or diverges depends on how its refractive index compares with that of the medium around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In air, a convex glass lens is converging because glass is denser than air.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Placed in a still denser medium, a convex lens can act as a diverging lens.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An air bubble in water is thicker in the middle yet diverges light — it behaves like a concave lens.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Predict the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is placed 25 cm from a convex lens of focal length 10 cm. Without calculating, what is the image like?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inverted and diminished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Real, inverted and magnified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erect and magnified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image is formed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Predict the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object is placed 25 cm from a convex lens of focal length 10 cm. Without calculating, what is the image like?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Real, inverted and diminished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Real, inverted and magnified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Virtual, erect and magnified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image is formed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 = 10 cm, so 2F = 20 cm. The object (25 cm) lies beyond 2F, so the image is real, inverted and diminished — the camera case. Knowing the 2F landmark lets you predict this without any arithmetic.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Half-Covered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lower half of a convex lens is covered with black paper. The image of an object will be: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the top half of the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complete image, but fainter (less bright)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Only the bottom half of the object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Turned the right way 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Half-Covered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lower half of a convex lens is covered with black paper. The image of an object will be: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the top half of the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complete image, but fainter (less bright)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Only the bottom half of the object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Turned the right way 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Every part of the lens collects light from the whole object, so the uncovered half still forms a complete image. With fewer rays reaching it, the image is simply dimmer — a classic conceptual trap.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Which Lens Bends More?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convex lenses are identical in size, but lens X is fatter (more sharply curved) than lens Y. Compared with Y, lens X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Longer focal 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Shorter focal 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Larger optical centre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Weaker converging power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Which Lens Bends More?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convex lenses are identical in size, but lens X is fatter (more sharply curved) than lens Y. Compared with Y, lens X has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Longer focal 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Shorter focal length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Larger optical centre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Weaker converging power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more sharply curved lens bends light more strongly, bringing parallel rays to a focus closer to the lens. So the fatter lens X has a shorter focal length and greater power.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Place the Object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Where should an object be placed before a convex lens to get a real image larger than the object (as in a projector)?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Beyond 2F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2F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Between F and 2F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Within 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Place the Object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Where should an object be placed before a convex lens to get a real image larger than the object (as in a projector)?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Beyond 2F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2F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Between F and 2F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Within 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the object between F and 2F, the image forms beyond 2F and is real, inverted and magnified — exactly how a projector throws an enlarged picture on the screen.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Air Bubble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spherical air bubble inside water is thicker in the middle, yet it makes a parallel beam of light spread out. It behaves like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Converging (convex)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Diverging (concave)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Plane glass slab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Prism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Air Bubble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spherical air bubble inside water is thicker in the middle, yet it makes a parallel beam of light spread out. It behaves like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Converging (convex)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Diverging (concave) lens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Plane glass slab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Prism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bubble is optically rarer than the surrounding water, so light bends the opposite way to a glass-in-air lens. Despite its convex shape it diverges light — whether a lens converges depends on its index relative to the medium around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Images in a Convex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the image changes as the object moves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IMAGE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Object Beyond 2F</a:t>
            </a:r>
          </a:p>
        </p:txBody>
      </p:sp>
      <p:pic>
        <p:nvPicPr>
          <p:cNvPr id="6" name="Picture 5" descr="g10l_con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Object beyond 2F → image between F and 2F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Real, inverted, diminished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Draw the parallel ray (through F) and the central ray (straight).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They meet between F and 2F on the other side.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is real, inverted and diminished.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how a camera forms a small picture of a distant scene.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IMAGE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As the Object Moves In…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six standard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At infinity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Image at F — real, inverted, point-sized.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Beyond 2F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Image between F and 2F — real, inverted, diminished.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At 2F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Image at 2F — real, inverted, same size as the object.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Between F and 2F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Image beyond 2F — real, inverted, magnified (the projector case).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At F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Image at infinity — rays emerge parallel, no image formed.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Within F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Image on the same side — virtual, erect, magnified (the magnifying glass).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IMAGE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Object Between F and 2F — the Projector</a:t>
            </a:r>
          </a:p>
        </p:txBody>
      </p:sp>
      <p:pic>
        <p:nvPicPr>
          <p:cNvPr id="6" name="Picture 5" descr="g10l_conv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965960"/>
            <a:ext cx="51206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Object between F and 2F → image beyond 2F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Real, inverted, magnified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Place the object between F and 2F.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forms beyond 2F on the other side.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real, inverted and magnified.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slide projector uses exactly this to throw a large image on the screen.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MAGNIFIER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Convex Lens as a Magnifying Glass</a:t>
            </a:r>
          </a:p>
        </p:txBody>
      </p:sp>
      <p:pic>
        <p:nvPicPr>
          <p:cNvPr id="6" name="Picture 5" descr="g10l_magnif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965960"/>
            <a:ext cx="512064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Within F → virtual, erect, magnified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Object within 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Place the object closer than the focal length (within F).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refracted rays diverge, so no real image forms.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Tracing them back gives a virtual, erect, magnified image.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the simple microscope or magnifying glass.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CONVEX VS CONCAVE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Convex and Concave Lens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Convex is thicker in the middle; concave is thinner in the middle.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Action on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Convex converges a parallel beam; concave diverges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Convex has a real focus; concave has a virtual focus.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Typical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Convex can give real or virtual images; concave gives only virtual, erect, diminished images.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IDENTIFY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Telling a Convex Lens From a Concave Lens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Simple lab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By touch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convex lens feels thicker at the centre; a concave lens feels thinner at the centre.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Look through it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Convex magnifies nearby print; concave always makes it look smaller.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Move it over print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With a convex lens the letters move opposite to the lens; with a concave lens they move the same way.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Focus the Sun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Only a convex lens can focus sunlight to a tiny bright spot.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Convex Lenses Are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Forms a small real image of the scene on the film/sensor.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Projector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Object just beyond F gives a large real image on the screen.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en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Magnifying glass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Object within F gives an enlarged virtual image.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ey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Human eye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eye lens focuses a real, inverted image on the retina.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Convex / concave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thicker-middle converges; thinner-middle diverges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Lens = prisms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each half bends light toward the thicker centre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Key terms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optical centre, principal focus, focal length, 2F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Three rules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parallel→F, through O straight, through F→parallel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Convex images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real &amp; inverted beyond F; virtual &amp; erect within F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Magnifier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object within F → virtual, erect, magnified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Convex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form a small, real, inverted image (as in a camera), the object should be: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Within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Between F and 2F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Beyond 2F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 form a small, real, inverted image (as in a camera), the object should be: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Within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Between F and 2F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Beyond 2F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When the object is beyond 2F, the image is real, inverted and diminished, formed between F and 2F — exactly what a camera needs.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Same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lens forms an image the same size as the object when the object is placed: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2F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Within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infinity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Same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lens forms an image the same size as the object when the object is placed: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At 2F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Within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infinity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the object at 2F, the image is also at 2F on the other side — real, inverted and the same size as the object.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Magnifier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used as a magnifying glass, a convex lens forms an image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inverted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Virtual, erect and magnified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Real and diminished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Virtual and diminished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Magnifier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When used as a magnifying glass, a convex lens forms an image that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inverted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Virtual, erect and magnified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Real and diminished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Virtual and diminished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the object within the focal length, the rays diverge and the eye sees a virtual, erect, magnified image on the same side as the object.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lens forms no image (rays emerge parallel) when the object is placed: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Beyond 2F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2F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the focus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Within F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No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convex lens forms no image (rays emerge parallel) when the object is placed: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Beyond 2F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2F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At the focus 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Within 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the object exactly at F, the refracted rays emerge parallel and meet only at infinity — so no image is formed on a screen.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Distant Object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of a very distant object (the Sun) formed by a convex lens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2F, the same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F, a tiny real inverted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Within F, virtual and erect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infinity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Distant Object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image of a very distant object (the Sun) formed by a convex lens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2F, the same size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At F, a tiny real inverted image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Within F, virtual and erect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infinity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Rays from a far object reach the lens almost parallel, so they converge at the focus. The image is real, inverted and very small — the basis of the distant-object method for finding f.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Convex Lenses Shape Our World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your eye to a camera — placement decides whether the image is big or small, real or virtual.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