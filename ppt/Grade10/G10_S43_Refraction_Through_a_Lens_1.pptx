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a real convex and concave lens if available. The single rule behind both: light bends toward the thicker part of the glass.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a parallel beam through each lens type. Convex → real focus behind; concave → virtual focus in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prism analogy to make convergence intuitive. For a concave lens the prisms point the other way, so light diverges.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Drill these terms with the diagram. Stress a lens has TWO foci, equally spaced on both sides.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f via parallel rays. Mention shorter f = more powerful lens (links to power later).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three rules build every ray diagram. Students only need two rays to find an image; the third confirms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real vs virtual precisely — the screen test is the clearest way for students to tell them apart.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two rays on the diagram. Tie the result to a camera making a small real image on the sensor.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table is heavily examined. Have students memorise the trend: as the object comes closer than 2F the image grows and moves away, until within F it becomes virtual and erect.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with the camera case: moving the object closer (within 2F) flips the image from diminished to magnified. This is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with a real magnifying glass over text. Emphasise the object must be within the focal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device is just one row of the image table. Ask students to match each use to an object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Cold-call the six image cases as a rapid 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Refraction Through a Lens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Convex &amp; concave lenses  •  Principal rays  •  Image formation in a convex lens</a:t>
            </a:r>
          </a:p>
        </p:txBody>
      </p:sp>
      <p:pic>
        <p:nvPicPr>
          <p:cNvPr id="7" name="Picture 6" descr="g10_lens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Identify convex (converging) and concave (diverging) lenses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a lens as a set of prisms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the technical terms: optical centre, focus, focal length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three rules for drawing ray diagrams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Locate images formed by a convex lens for any object position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a convex lens used as a magnifying glass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Lenses &amp; How They Bend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Types of lens, key terms and the ray-diagram rules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LENSES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Two Types of Lens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n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Convex (converging)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Thicker in the middle. It brings parallel rays together to a real focus.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en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Concave (diverging)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Thinner in the middle. It spreads parallel rays out as if from a virtual focus.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Made of two surfaces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Each lens is bounded by two spherical (or one flat) refracting surfaces.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a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Refraction twice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Light refracts on entering and on leaving the lens, bending toward the thicker part.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REFRACTION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Refraction Through Equi-Convex &amp; Equi-Concave Lenses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Parallel light through the two lens types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Equi-convex lens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Both surfaces bulge outward; a parallel beam converges to a real focus on the far side.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Equi-concave lens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Both surfaces curve inward; a parallel beam spreads out as if from a virtual focus in front.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Two refractions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Light bends once at each surface — toward the normal entering the glass, away from it on leaving.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Net effect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Convex shapes converge light; concave shapes diverge it, no matter the object.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 Lens Is Like a Set of Prisms</a:t>
            </a:r>
          </a:p>
        </p:txBody>
      </p:sp>
      <p:pic>
        <p:nvPicPr>
          <p:cNvPr id="6" name="Picture 5" descr="g10l_pris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Each half bends light toward the axis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Prism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top and bottom of a convex lens act like prisms with their bases toward the middle.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Each prism bends light toward its base — i.e. toward the principal axis.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central part acts like a glass slab and lets light pass straight through.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a convex lens converges parallel rays to a single focus.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KEY TERMS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Terms You Must Know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The vocabulary of lenses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Optical centre (O)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central point of the lens; a ray through it goes straight on.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Principal axis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line through the centres of curvature of the two surfaces.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Principal focus (F)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point where parallel rays meet (convex) or appear to come from (concave).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Focal length (f)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distance from the optical centre to the principal focus.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 lens has two foci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one on each side, at equal distances, because light can enter from either side.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FOCAL LENGTH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Principal Focus &amp; Focal Length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Parallel rays close to the principal axis converge at the principal focus of a convex lens after refraction.</a:t>
            </a:r>
          </a:p>
        </p:txBody>
      </p:sp>
      <p:pic>
        <p:nvPicPr>
          <p:cNvPr id="8" name="Picture 7" descr="g10l_conv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3429000"/>
            <a:ext cx="411480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RAY-DIAGRAM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Three Rules for a Convex Lens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ay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Rule 1 — parallel ray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ray parallel to the axis refracts to pass through the far focus 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ay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Rule 2 — central ray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ray through the optical centre O goes straight on, undeviated.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ay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Rule 3 — focal ray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ray through the near focus F refracts to emerge parallel to the axis.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Where they meet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Any two of these rays locate the image; the third is a useful check.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Real vs Virtual Images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ay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Real image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Formed where refracted rays actually meet; can be caught on a screen; always inverted.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ay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Virtual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Formed where rays only appear to meet; cannot be caught on a screen; always erect.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en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Convex lens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Gives a real image for objects beyond F, a virtual image for objects within F.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en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Concave lens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Gives only a virtual, erect, diminished image.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Predict the 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object is placed 25 cm from a convex lens of focal length 10 cm. Without calculating, what is the image like?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Real, inverted and diminished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Real, inverted and magnified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Virtual, erect and magnified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image is formed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Predict the 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object is placed 25 cm from a convex lens of focal length 10 cm. Without calculating, what is the image like?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Real, inverted and diminished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Real, inverted and magnified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Virtual, erect and magnified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 image is formed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 = 10 cm, so 2F = 20 cm. The object (25 cm) lies beyond 2F, so the image is real, inverted and diminished — the camera case. Knowing the 2F landmark lets you predict this without any arithmetic.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Half-Covered Lens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lower half of a convex lens is covered with black paper. The image of an object will be: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the top half of the object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complete image, but fainter (less bright)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the bottom half of the object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Turned the right way up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Half-Covered Lens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lower half of a convex lens is covered with black paper. The image of an object will be: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Only the top half of the object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complete image, but fainter (less bright)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Only the bottom half of the object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Turned the right way up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Every part of the lens collects light from the whole object, so the uncovered half still forms a complete image. With fewer rays reaching it, the image is simply dimmer — a classic conceptual trap.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Which Lens Bends More?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convex lenses are identical in size, but lens X is fatter (more sharply curved) than lens Y. Compared with Y, lens X has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Longer focal length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Shorter focal length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Larger optical centre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Weaker converging power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Which Lens Bends More?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convex lenses are identical in size, but lens X is fatter (more sharply curved) than lens Y. Compared with Y, lens X has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Longer focal length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Shorter focal length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Larger optical centre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Weaker converging power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more sharply curved lens bends light more strongly, bringing parallel rays to a focus closer to the lens. So the fatter lens X has a shorter focal length and greater power.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Place the Object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Where should an object be placed before a convex lens to get a real image larger than the object (as in a projector)?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Beyond 2F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2F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Between F and 2F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Within F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Place the Object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Where should an object be placed before a convex lens to get a real image larger than the object (as in a projector)?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Beyond 2F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2F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Between F and 2F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Within 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 the object between F and 2F, the image forms beyond 2F and is real, inverted and magnified — exactly how a projector throws an enlarged picture on the screen.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Images in a Convex Lens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the image changes as the object moves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IMAGE 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Object Beyond 2F</a:t>
            </a:r>
          </a:p>
        </p:txBody>
      </p:sp>
      <p:pic>
        <p:nvPicPr>
          <p:cNvPr id="6" name="Picture 5" descr="g10l_conv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512064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Object beyond 2F → image between F and 2F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Real, inverted, diminished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Draw the parallel ray (through F) and the central ray (straight).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They meet between F and 2F on the other side.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image is real, inverted and diminished.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how a camera forms a small picture of a distant scene.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IMAGE 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As the Object Moves In…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The six standard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At infinity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Image at F — real, inverted, point-sized.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Beyond 2F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Image between F and 2F — real, inverted, diminished.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At 2F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Image at 2F — real, inverted, same size as the object.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Between F and 2F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Image beyond 2F — real, inverted, magnified (the projector case).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At F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Image at infinity — rays emerge parallel, no image formed.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Within F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Image on the same side — virtual, erect, magnified (the magnifying glass).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IMAGE 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Object Between F and 2F — the Projector</a:t>
            </a:r>
          </a:p>
        </p:txBody>
      </p:sp>
      <p:pic>
        <p:nvPicPr>
          <p:cNvPr id="6" name="Picture 5" descr="g10l_conv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5" y="1965960"/>
            <a:ext cx="512064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48095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Object between F and 2F → image beyond 2F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Real, inverted, magnified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Place the object between F and 2F.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image forms beyond 2F on the other side.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real, inverted and magnified.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slide projector uses exactly this to throw a large image on the screen.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MAGNIFIER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Convex Lens as a Magnifying Glass</a:t>
            </a:r>
          </a:p>
        </p:txBody>
      </p:sp>
      <p:pic>
        <p:nvPicPr>
          <p:cNvPr id="6" name="Picture 5" descr="g10l_magnif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5" y="1965960"/>
            <a:ext cx="512064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48095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Within F → virtual, erect, magnified image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Object within 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Place the object closer than the focal length (within F).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refracted rays diverge, so no real image forms.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Tracing them back gives a virtual, erect, magnified image.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the simple microscope or magnifying glass.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Where Convex Lenses Are Used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Camera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Forms a small real image of the scene on the film/sensor.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Projector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Object just beyond F gives a large real image on the screen.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en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Magnifying glass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Object within F gives an enlarged virtual image.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y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Human eye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eye lens focuses a real, inverted image on the retina.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Convex / concave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thicker-middle converges; thinner-middle diverges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Lens = prisms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each half bends light toward the thicker centre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Key terms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optical centre, principal focus, focal length, 2F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Three rules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parallel→F, through O straight, through F→parallel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Convex images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real &amp; inverted beyond F; virtual &amp; erect within F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Magnifier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object within F → virtual, erect, magnified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Convex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form a small, real, inverted image (as in a camera), the object should be: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Within 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Between F and 2F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Beyond 2F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form a small, real, inverted image (as in a camera), the object should be: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Within 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Between F and 2F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Beyond 2F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When the object is beyond 2F, the image is real, inverted and diminished, formed between F and 2F — exactly what a camera needs.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Same Size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lens forms an image the same size as the object when the object is placed: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2F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Within 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infinity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Same Size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lens forms an image the same size as the object when the object is placed: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At 2F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Within 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infinity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 the object at 2F, the image is also at 2F on the other side — real, inverted and the same size as the object.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Magnifier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used as a magnifying glass, a convex lens forms an image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inverted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Virtual, erect and magnified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diminished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diminished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Magnifier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used as a magnifying glass, a convex lens forms an image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Real and inverted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Virtual, erect and magnified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Real and diminished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Virtual and diminished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 the object within the focal length, the rays diverge and the eye sees a virtual, erect, magnified image on the same side as the object.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No 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lens forms no image (rays emerge parallel) when the object is placed: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Beyond 2F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2F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the focus 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Within F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No 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lens forms no image (rays emerge parallel) when the object is placed: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Beyond 2F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2F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At the focus 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Within 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 the object exactly at F, the refracted rays emerge parallel and meet only at infinity — so no image is formed on a screen.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Convex Lenses Shape Our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your eye to a camera — placement decides whether the image is big or small, real or virtual.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