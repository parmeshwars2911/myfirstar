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previewing these objectives so students know what they should be able to do by the end of the session.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Temperature = degree of hotness and decides heat-flow direction. SI unit kelvin; relate to average molecular kinetic energy.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Kelvin scale starts at absolute zero (−273 °C). Same degree size as Celsius, so temperature DIFFERENCES are equal in both.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the two conversion relations from the text. Most numericals just need K = °C + 273.</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Straight application of K = °C + 273. Remind students kelvin values are never negative for real bodies.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Thermal equilibrium = equal temperatures, no net heat flow. Build it from the hot-and-cold-block picture.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Thermal energy (heat) flows due to a temperature difference; SI unit joule; the transfer is 'heating'.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features from the text. 'Heat gained = heat lost' is the basis of calorimetry problems.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Joule (SI), calorie (1 g water, 1 °C) and kilocalorie (1 kg water, 1 °C). 1 kcal = 1000 cal.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effects of heat: temperature rise, change of state, expansion. This chapter focuses on expansion.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Molecular cause of expansion. Order: gases &gt; liquids &gt; solids for the same temperature rise.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kinds of solid expansion. Each has a coefficient (per kelvin) that differs by material.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Linear expansion ΔL/L₀ = αʟΔT. Define each term; αʟ is a material property measured per kelvin.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form for area and volume. All three coefficients are in K⁻¹.</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Representative values from Table 3.1. Liquids (water, mercury) have much larger coefficients than solids.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Apply ΔL = αʟL₀ΔT. A small but important expansion — why rails and bridges are given gaps.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Liquids expand more than solids; gases most. Heating a liquid also expands its container — leading to real vs apparent expansion.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vs apparent expansion: container expands first (dip to L₂), then liquid rises to L₃. Real = L₃−L₂ &gt; apparent = L₃−L₁.</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Worked Example 1 from the chapter. The dip (L₂) is the container expanding first; real expansion uses L₂, not L₁.</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Rapid recap; the conversions and the real-vs-apparent result are the key exam points.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notesSlide" Target="../notesSlides/notesSlide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notesSlide" Target="../notesSlides/notesSlide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D2433"/>
        </a:solidFill>
        <a:effectLst/>
      </p:bgPr>
    </p:bg>
    <p:spTree>
      <p:nvGrpSpPr>
        <p:cNvPr id="1" name=""/>
        <p:cNvGrpSpPr/>
        <p:nvPr/>
      </p:nvGrpSpPr>
      <p:grpSpPr/>
      <p:sp>
        <p:nvSpPr>
          <p:cNvPr id="2" name="Oval 1"/>
          <p:cNvSpPr/>
          <p:nvPr/>
        </p:nvSpPr>
        <p:spPr>
          <a:xfrm>
            <a:off x="-1463040" y="3108960"/>
            <a:ext cx="4754880" cy="47548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058400" y="-1645920"/>
            <a:ext cx="4206240" cy="420624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8686800" cy="457200"/>
          </a:xfrm>
          <a:prstGeom prst="rect">
            <a:avLst/>
          </a:prstGeom>
          <a:noFill/>
        </p:spPr>
        <p:txBody>
          <a:bodyPr wrap="square" anchor="t" lIns="0" rIns="0" tIns="0" bIns="0">
            <a:spAutoFit/>
          </a:bodyPr>
          <a:lstStyle/>
          <a:p>
            <a:pPr algn="l"/>
            <a:r>
              <a:rPr sz="1600" b="1" i="0">
                <a:solidFill>
                  <a:srgbClr val="FFC300"/>
                </a:solidFill>
                <a:latin typeface="Arial"/>
              </a:rPr>
              <a:t>CLASS 10 • THERMAL PHYSICS</a:t>
            </a:r>
          </a:p>
        </p:txBody>
      </p:sp>
      <p:sp>
        <p:nvSpPr>
          <p:cNvPr id="5" name="TextBox 4"/>
          <p:cNvSpPr txBox="1"/>
          <p:nvPr/>
        </p:nvSpPr>
        <p:spPr>
          <a:xfrm>
            <a:off x="731520" y="1828800"/>
            <a:ext cx="8046720" cy="1737360"/>
          </a:xfrm>
          <a:prstGeom prst="rect">
            <a:avLst/>
          </a:prstGeom>
          <a:noFill/>
        </p:spPr>
        <p:txBody>
          <a:bodyPr wrap="square" anchor="b" lIns="0" rIns="0" tIns="0" bIns="0">
            <a:spAutoFit/>
          </a:bodyPr>
          <a:lstStyle/>
          <a:p>
            <a:pPr algn="l"/>
            <a:r>
              <a:rPr sz="5000" b="1" i="0">
                <a:solidFill>
                  <a:srgbClr val="FFFFFF"/>
                </a:solidFill>
                <a:latin typeface="Calibri"/>
              </a:rPr>
              <a:t>Heat &amp; Expansion</a:t>
            </a:r>
          </a:p>
        </p:txBody>
      </p:sp>
      <p:sp>
        <p:nvSpPr>
          <p:cNvPr id="6" name="TextBox 5"/>
          <p:cNvSpPr txBox="1"/>
          <p:nvPr/>
        </p:nvSpPr>
        <p:spPr>
          <a:xfrm>
            <a:off x="731520" y="3703320"/>
            <a:ext cx="8046720" cy="1463040"/>
          </a:xfrm>
          <a:prstGeom prst="rect">
            <a:avLst/>
          </a:prstGeom>
          <a:noFill/>
        </p:spPr>
        <p:txBody>
          <a:bodyPr wrap="square" anchor="t" lIns="0" rIns="0" tIns="0" bIns="0">
            <a:spAutoFit/>
          </a:bodyPr>
          <a:lstStyle/>
          <a:p>
            <a:pPr algn="l"/>
            <a:r>
              <a:rPr sz="1900" b="0" i="0">
                <a:solidFill>
                  <a:srgbClr val="CADCFC"/>
                </a:solidFill>
                <a:latin typeface="Calibri"/>
              </a:rPr>
              <a:t>Temperature &amp; the kelvin scale  •  Thermal equilibrium  •  Thermal energy  •  Expansion of substances</a:t>
            </a:r>
          </a:p>
        </p:txBody>
      </p:sp>
      <p:pic>
        <p:nvPicPr>
          <p:cNvPr id="7" name="Picture 6" descr="g10tp_expansion.png"/>
          <p:cNvPicPr>
            <a:picLocks noChangeAspect="1"/>
          </p:cNvPicPr>
          <p:nvPr/>
        </p:nvPicPr>
        <p:blipFill>
          <a:blip r:embed="rId2"/>
          <a:stretch>
            <a:fillRect/>
          </a:stretch>
        </p:blipFill>
        <p:spPr>
          <a:xfrm>
            <a:off x="9052560" y="2103120"/>
            <a:ext cx="2651760" cy="27432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F4801A"/>
                </a:solidFill>
                <a:latin typeface="Arial"/>
              </a:rPr>
              <a:t>INTRODUCTION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Learning Objectives</a:t>
            </a:r>
          </a:p>
        </p:txBody>
      </p:sp>
      <p:sp>
        <p:nvSpPr>
          <p:cNvPr id="6" name="Rounded Rectangle 5"/>
          <p:cNvSpPr/>
          <p:nvPr/>
        </p:nvSpPr>
        <p:spPr>
          <a:xfrm>
            <a:off x="640080" y="1874519"/>
            <a:ext cx="5349240" cy="1051560"/>
          </a:xfrm>
          <a:prstGeom prst="roundRect">
            <a:avLst>
              <a:gd name="adj" fmla="val 6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2167127"/>
            <a:ext cx="457200" cy="45720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167127"/>
            <a:ext cx="457200" cy="457200"/>
          </a:xfrm>
          <a:prstGeom prst="rect">
            <a:avLst/>
          </a:prstGeom>
          <a:noFill/>
        </p:spPr>
        <p:txBody>
          <a:bodyPr wrap="square" anchor="ctr" lIns="0" rIns="0" tIns="0" bIns="0">
            <a:spAutoFit/>
          </a:bodyPr>
          <a:lstStyle/>
          <a:p>
            <a:pPr algn="ctr"/>
            <a:r>
              <a:rPr sz="1600" b="1" i="0">
                <a:solidFill>
                  <a:srgbClr val="FFFFFF"/>
                </a:solidFill>
                <a:latin typeface="Calibri"/>
              </a:rPr>
              <a:t>1</a:t>
            </a:r>
          </a:p>
        </p:txBody>
      </p:sp>
      <p:sp>
        <p:nvSpPr>
          <p:cNvPr id="9" name="TextBox 8"/>
          <p:cNvSpPr txBox="1"/>
          <p:nvPr/>
        </p:nvSpPr>
        <p:spPr>
          <a:xfrm>
            <a:off x="1554480" y="2039112"/>
            <a:ext cx="4251959" cy="777239"/>
          </a:xfrm>
          <a:prstGeom prst="rect">
            <a:avLst/>
          </a:prstGeom>
          <a:noFill/>
        </p:spPr>
        <p:txBody>
          <a:bodyPr wrap="square" anchor="ctr" lIns="0" rIns="0" tIns="0" bIns="0">
            <a:spAutoFit/>
          </a:bodyPr>
          <a:lstStyle/>
          <a:p>
            <a:pPr algn="l"/>
            <a:r>
              <a:rPr sz="1450" b="0" i="0">
                <a:solidFill>
                  <a:srgbClr val="1D2433"/>
                </a:solidFill>
                <a:latin typeface="Calibri"/>
              </a:rPr>
              <a:t>Define temperature and the absolute (kelvin) scale</a:t>
            </a:r>
          </a:p>
        </p:txBody>
      </p:sp>
      <p:sp>
        <p:nvSpPr>
          <p:cNvPr id="10" name="Rounded Rectangle 9"/>
          <p:cNvSpPr/>
          <p:nvPr/>
        </p:nvSpPr>
        <p:spPr>
          <a:xfrm>
            <a:off x="6172200" y="1874519"/>
            <a:ext cx="5349240" cy="1051560"/>
          </a:xfrm>
          <a:prstGeom prst="roundRect">
            <a:avLst>
              <a:gd name="adj" fmla="val 6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46520" y="2167127"/>
            <a:ext cx="457200" cy="45720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2167127"/>
            <a:ext cx="457200" cy="457200"/>
          </a:xfrm>
          <a:prstGeom prst="rect">
            <a:avLst/>
          </a:prstGeom>
          <a:noFill/>
        </p:spPr>
        <p:txBody>
          <a:bodyPr wrap="square" anchor="ctr" lIns="0" rIns="0" tIns="0" bIns="0">
            <a:spAutoFit/>
          </a:bodyPr>
          <a:lstStyle/>
          <a:p>
            <a:pPr algn="ctr"/>
            <a:r>
              <a:rPr sz="1600" b="1" i="0">
                <a:solidFill>
                  <a:srgbClr val="FFFFFF"/>
                </a:solidFill>
                <a:latin typeface="Calibri"/>
              </a:rPr>
              <a:t>2</a:t>
            </a:r>
          </a:p>
        </p:txBody>
      </p:sp>
      <p:sp>
        <p:nvSpPr>
          <p:cNvPr id="13" name="TextBox 12"/>
          <p:cNvSpPr txBox="1"/>
          <p:nvPr/>
        </p:nvSpPr>
        <p:spPr>
          <a:xfrm>
            <a:off x="7086600" y="2039112"/>
            <a:ext cx="4251959" cy="777239"/>
          </a:xfrm>
          <a:prstGeom prst="rect">
            <a:avLst/>
          </a:prstGeom>
          <a:noFill/>
        </p:spPr>
        <p:txBody>
          <a:bodyPr wrap="square" anchor="ctr" lIns="0" rIns="0" tIns="0" bIns="0">
            <a:spAutoFit/>
          </a:bodyPr>
          <a:lstStyle/>
          <a:p>
            <a:pPr algn="l"/>
            <a:r>
              <a:rPr sz="1450" b="0" i="0">
                <a:solidFill>
                  <a:srgbClr val="1D2433"/>
                </a:solidFill>
                <a:latin typeface="Calibri"/>
              </a:rPr>
              <a:t>Convert between Celsius, Kelvin and Fahrenheit</a:t>
            </a:r>
          </a:p>
        </p:txBody>
      </p:sp>
      <p:sp>
        <p:nvSpPr>
          <p:cNvPr id="14" name="Rounded Rectangle 13"/>
          <p:cNvSpPr/>
          <p:nvPr/>
        </p:nvSpPr>
        <p:spPr>
          <a:xfrm>
            <a:off x="640080" y="3182111"/>
            <a:ext cx="5349240" cy="1051560"/>
          </a:xfrm>
          <a:prstGeom prst="roundRect">
            <a:avLst>
              <a:gd name="adj" fmla="val 6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14400" y="3474719"/>
            <a:ext cx="457200" cy="45720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474719"/>
            <a:ext cx="457200" cy="457200"/>
          </a:xfrm>
          <a:prstGeom prst="rect">
            <a:avLst/>
          </a:prstGeom>
          <a:noFill/>
        </p:spPr>
        <p:txBody>
          <a:bodyPr wrap="square" anchor="ctr" lIns="0" rIns="0" tIns="0" bIns="0">
            <a:spAutoFit/>
          </a:bodyPr>
          <a:lstStyle/>
          <a:p>
            <a:pPr algn="ctr"/>
            <a:r>
              <a:rPr sz="1600" b="1" i="0">
                <a:solidFill>
                  <a:srgbClr val="FFFFFF"/>
                </a:solidFill>
                <a:latin typeface="Calibri"/>
              </a:rPr>
              <a:t>3</a:t>
            </a:r>
          </a:p>
        </p:txBody>
      </p:sp>
      <p:sp>
        <p:nvSpPr>
          <p:cNvPr id="17" name="TextBox 16"/>
          <p:cNvSpPr txBox="1"/>
          <p:nvPr/>
        </p:nvSpPr>
        <p:spPr>
          <a:xfrm>
            <a:off x="1554480" y="3346703"/>
            <a:ext cx="4251959" cy="777239"/>
          </a:xfrm>
          <a:prstGeom prst="rect">
            <a:avLst/>
          </a:prstGeom>
          <a:noFill/>
        </p:spPr>
        <p:txBody>
          <a:bodyPr wrap="square" anchor="ctr" lIns="0" rIns="0" tIns="0" bIns="0">
            <a:spAutoFit/>
          </a:bodyPr>
          <a:lstStyle/>
          <a:p>
            <a:pPr algn="l"/>
            <a:r>
              <a:rPr sz="1450" b="0" i="0">
                <a:solidFill>
                  <a:srgbClr val="1D2433"/>
                </a:solidFill>
                <a:latin typeface="Calibri"/>
              </a:rPr>
              <a:t>Explain thermal equilibrium and thermal energy</a:t>
            </a:r>
          </a:p>
        </p:txBody>
      </p:sp>
      <p:sp>
        <p:nvSpPr>
          <p:cNvPr id="18" name="Rounded Rectangle 17"/>
          <p:cNvSpPr/>
          <p:nvPr/>
        </p:nvSpPr>
        <p:spPr>
          <a:xfrm>
            <a:off x="6172200" y="3182111"/>
            <a:ext cx="5349240" cy="1051560"/>
          </a:xfrm>
          <a:prstGeom prst="roundRect">
            <a:avLst>
              <a:gd name="adj" fmla="val 6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446520" y="3474719"/>
            <a:ext cx="457200" cy="457200"/>
          </a:xfrm>
          <a:prstGeom prst="ellipse">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6520" y="3474719"/>
            <a:ext cx="457200" cy="457200"/>
          </a:xfrm>
          <a:prstGeom prst="rect">
            <a:avLst/>
          </a:prstGeom>
          <a:noFill/>
        </p:spPr>
        <p:txBody>
          <a:bodyPr wrap="square" anchor="ctr" lIns="0" rIns="0" tIns="0" bIns="0">
            <a:spAutoFit/>
          </a:bodyPr>
          <a:lstStyle/>
          <a:p>
            <a:pPr algn="ctr"/>
            <a:r>
              <a:rPr sz="1600" b="1" i="0">
                <a:solidFill>
                  <a:srgbClr val="FFFFFF"/>
                </a:solidFill>
                <a:latin typeface="Calibri"/>
              </a:rPr>
              <a:t>4</a:t>
            </a:r>
          </a:p>
        </p:txBody>
      </p:sp>
      <p:sp>
        <p:nvSpPr>
          <p:cNvPr id="21" name="TextBox 20"/>
          <p:cNvSpPr txBox="1"/>
          <p:nvPr/>
        </p:nvSpPr>
        <p:spPr>
          <a:xfrm>
            <a:off x="7086600" y="3346703"/>
            <a:ext cx="4251959" cy="777239"/>
          </a:xfrm>
          <a:prstGeom prst="rect">
            <a:avLst/>
          </a:prstGeom>
          <a:noFill/>
        </p:spPr>
        <p:txBody>
          <a:bodyPr wrap="square" anchor="ctr" lIns="0" rIns="0" tIns="0" bIns="0">
            <a:spAutoFit/>
          </a:bodyPr>
          <a:lstStyle/>
          <a:p>
            <a:pPr algn="l"/>
            <a:r>
              <a:rPr sz="1450" b="0" i="0">
                <a:solidFill>
                  <a:srgbClr val="1D2433"/>
                </a:solidFill>
                <a:latin typeface="Calibri"/>
              </a:rPr>
              <a:t>State the characteristic features of heat transfer</a:t>
            </a:r>
          </a:p>
        </p:txBody>
      </p:sp>
      <p:sp>
        <p:nvSpPr>
          <p:cNvPr id="22" name="Rounded Rectangle 21"/>
          <p:cNvSpPr/>
          <p:nvPr/>
        </p:nvSpPr>
        <p:spPr>
          <a:xfrm>
            <a:off x="640080" y="4489704"/>
            <a:ext cx="5349240" cy="1051560"/>
          </a:xfrm>
          <a:prstGeom prst="roundRect">
            <a:avLst>
              <a:gd name="adj" fmla="val 6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14400" y="4782312"/>
            <a:ext cx="457200" cy="45720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4782312"/>
            <a:ext cx="457200" cy="457200"/>
          </a:xfrm>
          <a:prstGeom prst="rect">
            <a:avLst/>
          </a:prstGeom>
          <a:noFill/>
        </p:spPr>
        <p:txBody>
          <a:bodyPr wrap="square" anchor="ctr" lIns="0" rIns="0" tIns="0" bIns="0">
            <a:spAutoFit/>
          </a:bodyPr>
          <a:lstStyle/>
          <a:p>
            <a:pPr algn="ctr"/>
            <a:r>
              <a:rPr sz="1600" b="1" i="0">
                <a:solidFill>
                  <a:srgbClr val="FFFFFF"/>
                </a:solidFill>
                <a:latin typeface="Calibri"/>
              </a:rPr>
              <a:t>5</a:t>
            </a:r>
          </a:p>
        </p:txBody>
      </p:sp>
      <p:sp>
        <p:nvSpPr>
          <p:cNvPr id="25" name="TextBox 24"/>
          <p:cNvSpPr txBox="1"/>
          <p:nvPr/>
        </p:nvSpPr>
        <p:spPr>
          <a:xfrm>
            <a:off x="1554480" y="4654296"/>
            <a:ext cx="4251959" cy="777239"/>
          </a:xfrm>
          <a:prstGeom prst="rect">
            <a:avLst/>
          </a:prstGeom>
          <a:noFill/>
        </p:spPr>
        <p:txBody>
          <a:bodyPr wrap="square" anchor="ctr" lIns="0" rIns="0" tIns="0" bIns="0">
            <a:spAutoFit/>
          </a:bodyPr>
          <a:lstStyle/>
          <a:p>
            <a:pPr algn="l"/>
            <a:r>
              <a:rPr sz="1450" b="0" i="0">
                <a:solidFill>
                  <a:srgbClr val="1D2433"/>
                </a:solidFill>
                <a:latin typeface="Calibri"/>
              </a:rPr>
              <a:t>Classify the thermal expansion of solids, liquids and gases</a:t>
            </a:r>
          </a:p>
        </p:txBody>
      </p:sp>
      <p:sp>
        <p:nvSpPr>
          <p:cNvPr id="26" name="Rounded Rectangle 25"/>
          <p:cNvSpPr/>
          <p:nvPr/>
        </p:nvSpPr>
        <p:spPr>
          <a:xfrm>
            <a:off x="6172200" y="4489704"/>
            <a:ext cx="5349240" cy="1051560"/>
          </a:xfrm>
          <a:prstGeom prst="roundRect">
            <a:avLst>
              <a:gd name="adj" fmla="val 6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46520" y="4782312"/>
            <a:ext cx="457200" cy="45720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46520" y="4782312"/>
            <a:ext cx="457200" cy="457200"/>
          </a:xfrm>
          <a:prstGeom prst="rect">
            <a:avLst/>
          </a:prstGeom>
          <a:noFill/>
        </p:spPr>
        <p:txBody>
          <a:bodyPr wrap="square" anchor="ctr" lIns="0" rIns="0" tIns="0" bIns="0">
            <a:spAutoFit/>
          </a:bodyPr>
          <a:lstStyle/>
          <a:p>
            <a:pPr algn="ctr"/>
            <a:r>
              <a:rPr sz="1600" b="1" i="0">
                <a:solidFill>
                  <a:srgbClr val="FFFFFF"/>
                </a:solidFill>
                <a:latin typeface="Calibri"/>
              </a:rPr>
              <a:t>6</a:t>
            </a:r>
          </a:p>
        </p:txBody>
      </p:sp>
      <p:sp>
        <p:nvSpPr>
          <p:cNvPr id="29" name="TextBox 28"/>
          <p:cNvSpPr txBox="1"/>
          <p:nvPr/>
        </p:nvSpPr>
        <p:spPr>
          <a:xfrm>
            <a:off x="7086600" y="4654296"/>
            <a:ext cx="4251959" cy="777239"/>
          </a:xfrm>
          <a:prstGeom prst="rect">
            <a:avLst/>
          </a:prstGeom>
          <a:noFill/>
        </p:spPr>
        <p:txBody>
          <a:bodyPr wrap="square" anchor="ctr" lIns="0" rIns="0" tIns="0" bIns="0">
            <a:spAutoFit/>
          </a:bodyPr>
          <a:lstStyle/>
          <a:p>
            <a:pPr algn="l"/>
            <a:r>
              <a:rPr sz="1450" b="0" i="0">
                <a:solidFill>
                  <a:srgbClr val="1D2433"/>
                </a:solidFill>
                <a:latin typeface="Calibri"/>
              </a:rPr>
              <a:t>Distinguish real expansion from apparent expansion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D2433"/>
        </a:solidFill>
        <a:effectLst/>
      </p:bgPr>
    </p:bg>
    <p:spTree>
      <p:nvGrpSpPr>
        <p:cNvPr id="1" name=""/>
        <p:cNvGrpSpPr/>
        <p:nvPr/>
      </p:nvGrpSpPr>
      <p:grpSpPr/>
      <p:sp>
        <p:nvSpPr>
          <p:cNvPr id="2" name="Oval 1"/>
          <p:cNvSpPr/>
          <p:nvPr/>
        </p:nvSpPr>
        <p:spPr>
          <a:xfrm>
            <a:off x="8595360" y="-1463040"/>
            <a:ext cx="4937760" cy="493776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03920" y="3108960"/>
            <a:ext cx="3383280" cy="2743200"/>
          </a:xfrm>
          <a:prstGeom prst="rect">
            <a:avLst/>
          </a:prstGeom>
          <a:noFill/>
        </p:spPr>
        <p:txBody>
          <a:bodyPr wrap="square" anchor="t" lIns="0" rIns="0" tIns="0" bIns="0">
            <a:spAutoFit/>
          </a:bodyPr>
          <a:lstStyle/>
          <a:p>
            <a:pPr algn="r"/>
            <a:r>
              <a:rPr sz="20000" b="1" i="0">
                <a:solidFill>
                  <a:srgbClr val="263149"/>
                </a:solidFill>
                <a:latin typeface="Calibri"/>
              </a:rPr>
              <a:t>1</a:t>
            </a:r>
          </a:p>
        </p:txBody>
      </p:sp>
      <p:sp>
        <p:nvSpPr>
          <p:cNvPr id="4" name="TextBox 3"/>
          <p:cNvSpPr txBox="1"/>
          <p:nvPr/>
        </p:nvSpPr>
        <p:spPr>
          <a:xfrm>
            <a:off x="777240" y="2148840"/>
            <a:ext cx="6949440" cy="457200"/>
          </a:xfrm>
          <a:prstGeom prst="rect">
            <a:avLst/>
          </a:prstGeom>
          <a:noFill/>
        </p:spPr>
        <p:txBody>
          <a:bodyPr wrap="square" anchor="t" lIns="0" rIns="0" tIns="0" bIns="0">
            <a:spAutoFit/>
          </a:bodyPr>
          <a:lstStyle/>
          <a:p>
            <a:pPr algn="l"/>
            <a:r>
              <a:rPr sz="1600" b="1" i="0">
                <a:solidFill>
                  <a:srgbClr val="FFC300"/>
                </a:solidFill>
                <a:latin typeface="Arial"/>
              </a:rPr>
              <a:t>PART 1</a:t>
            </a:r>
          </a:p>
        </p:txBody>
      </p:sp>
      <p:sp>
        <p:nvSpPr>
          <p:cNvPr id="5" name="TextBox 4"/>
          <p:cNvSpPr txBox="1"/>
          <p:nvPr/>
        </p:nvSpPr>
        <p:spPr>
          <a:xfrm>
            <a:off x="777240" y="2697480"/>
            <a:ext cx="7498079" cy="1097280"/>
          </a:xfrm>
          <a:prstGeom prst="rect">
            <a:avLst/>
          </a:prstGeom>
          <a:noFill/>
        </p:spPr>
        <p:txBody>
          <a:bodyPr wrap="square" anchor="t" lIns="0" rIns="0" tIns="0" bIns="0">
            <a:spAutoFit/>
          </a:bodyPr>
          <a:lstStyle/>
          <a:p>
            <a:pPr algn="l"/>
            <a:r>
              <a:rPr sz="4200" b="1" i="0">
                <a:solidFill>
                  <a:srgbClr val="FFFFFF"/>
                </a:solidFill>
                <a:latin typeface="Calibri"/>
              </a:rPr>
              <a:t>Temperature &amp; Thermal Energy</a:t>
            </a:r>
          </a:p>
        </p:txBody>
      </p:sp>
      <p:sp>
        <p:nvSpPr>
          <p:cNvPr id="6" name="TextBox 5"/>
          <p:cNvSpPr txBox="1"/>
          <p:nvPr/>
        </p:nvSpPr>
        <p:spPr>
          <a:xfrm>
            <a:off x="777240" y="4114800"/>
            <a:ext cx="7315200" cy="822960"/>
          </a:xfrm>
          <a:prstGeom prst="rect">
            <a:avLst/>
          </a:prstGeom>
          <a:noFill/>
        </p:spPr>
        <p:txBody>
          <a:bodyPr wrap="square" anchor="t" lIns="0" rIns="0" tIns="0" bIns="0">
            <a:spAutoFit/>
          </a:bodyPr>
          <a:lstStyle/>
          <a:p>
            <a:pPr algn="l"/>
            <a:r>
              <a:rPr sz="1800" b="0" i="0">
                <a:solidFill>
                  <a:srgbClr val="CADCFC"/>
                </a:solidFill>
                <a:latin typeface="Calibri"/>
              </a:rPr>
              <a:t>Hotness, the kelvin scale and the flow of heat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F4801A"/>
                </a:solidFill>
                <a:latin typeface="Arial"/>
              </a:rPr>
              <a:t>TEMPERATURE</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What Is Temperature?</a:t>
            </a:r>
          </a:p>
        </p:txBody>
      </p:sp>
      <p:sp>
        <p:nvSpPr>
          <p:cNvPr id="6" name="Rounded Rectangle 5"/>
          <p:cNvSpPr/>
          <p:nvPr/>
        </p:nvSpPr>
        <p:spPr>
          <a:xfrm>
            <a:off x="640080" y="1828800"/>
            <a:ext cx="10881360" cy="1371600"/>
          </a:xfrm>
          <a:prstGeom prst="roundRect">
            <a:avLst>
              <a:gd name="adj" fmla="val 6000"/>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49840" cy="1371600"/>
          </a:xfrm>
          <a:prstGeom prst="rect">
            <a:avLst/>
          </a:prstGeom>
          <a:noFill/>
        </p:spPr>
        <p:txBody>
          <a:bodyPr wrap="square" anchor="ctr" lIns="0" rIns="0" tIns="0" bIns="0">
            <a:spAutoFit/>
          </a:bodyPr>
          <a:lstStyle/>
          <a:p>
            <a:pPr algn="l"/>
            <a:r>
              <a:rPr sz="1900" b="1" i="0">
                <a:solidFill>
                  <a:srgbClr val="FFFFFF"/>
                </a:solidFill>
                <a:latin typeface="Calibri"/>
              </a:rPr>
              <a:t>Temperature is the degree of hotness of a body — the property that decides the direction in which heat flows.</a:t>
            </a:r>
          </a:p>
        </p:txBody>
      </p:sp>
      <p:sp>
        <p:nvSpPr>
          <p:cNvPr id="8" name="TextBox 7"/>
          <p:cNvSpPr txBox="1"/>
          <p:nvPr/>
        </p:nvSpPr>
        <p:spPr>
          <a:xfrm>
            <a:off x="1005840" y="3474720"/>
            <a:ext cx="10058400" cy="2423160"/>
          </a:xfrm>
          <a:prstGeom prst="rect">
            <a:avLst/>
          </a:prstGeom>
          <a:noFill/>
        </p:spPr>
        <p:txBody>
          <a:bodyPr wrap="square" anchor="t" lIns="0" rIns="0" tIns="0" bIns="0">
            <a:spAutoFit/>
          </a:bodyPr>
          <a:lstStyle/>
          <a:p>
            <a:pPr algn="l">
              <a:spcAft>
                <a:spcPts val="900"/>
              </a:spcAft>
            </a:pPr>
            <a:r>
              <a:rPr sz="1500" b="1" i="0">
                <a:solidFill>
                  <a:srgbClr val="F4801A"/>
                </a:solidFill>
                <a:latin typeface="Calibri"/>
              </a:rPr>
              <a:t>•  </a:t>
            </a:r>
            <a:r>
              <a:rPr sz="1500" b="0" i="0">
                <a:solidFill>
                  <a:srgbClr val="1D2433"/>
                </a:solidFill>
                <a:latin typeface="Calibri"/>
              </a:rPr>
              <a:t>It tells us whether a body is in thermal equilibrium with its surroundings.</a:t>
            </a:r>
          </a:p>
          <a:p>
            <a:pPr algn="l">
              <a:spcAft>
                <a:spcPts val="900"/>
              </a:spcAft>
            </a:pPr>
            <a:r>
              <a:rPr sz="1500" b="1" i="0">
                <a:solidFill>
                  <a:srgbClr val="F4801A"/>
                </a:solidFill>
                <a:latin typeface="Calibri"/>
              </a:rPr>
              <a:t>•  </a:t>
            </a:r>
            <a:r>
              <a:rPr sz="1500" b="0" i="0">
                <a:solidFill>
                  <a:srgbClr val="1D2433"/>
                </a:solidFill>
                <a:latin typeface="Calibri"/>
              </a:rPr>
              <a:t>It is a scalar quantity related to the average kinetic energy of the molecules.</a:t>
            </a:r>
          </a:p>
          <a:p>
            <a:pPr algn="l">
              <a:spcAft>
                <a:spcPts val="900"/>
              </a:spcAft>
            </a:pPr>
            <a:r>
              <a:rPr sz="1500" b="1" i="0">
                <a:solidFill>
                  <a:srgbClr val="F4801A"/>
                </a:solidFill>
                <a:latin typeface="Calibri"/>
              </a:rPr>
              <a:t>•  </a:t>
            </a:r>
            <a:r>
              <a:rPr sz="1500" b="0" i="0">
                <a:solidFill>
                  <a:srgbClr val="1D2433"/>
                </a:solidFill>
                <a:latin typeface="Calibri"/>
              </a:rPr>
              <a:t>SI unit: the kelvin (K); other units are °C and °F.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F4801A"/>
                </a:solidFill>
                <a:latin typeface="Arial"/>
              </a:rPr>
              <a:t>ABSOLUTE SCALE</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The Absolute (Kelvin) Scale</a:t>
            </a:r>
          </a:p>
        </p:txBody>
      </p:sp>
      <p:sp>
        <p:nvSpPr>
          <p:cNvPr id="6" name="Rounded Rectangle 5"/>
          <p:cNvSpPr/>
          <p:nvPr/>
        </p:nvSpPr>
        <p:spPr>
          <a:xfrm>
            <a:off x="640080" y="1828800"/>
            <a:ext cx="10881360" cy="1371600"/>
          </a:xfrm>
          <a:prstGeom prst="roundRect">
            <a:avLst>
              <a:gd name="adj" fmla="val 6000"/>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49840" cy="1371600"/>
          </a:xfrm>
          <a:prstGeom prst="rect">
            <a:avLst/>
          </a:prstGeom>
          <a:noFill/>
        </p:spPr>
        <p:txBody>
          <a:bodyPr wrap="square" anchor="ctr" lIns="0" rIns="0" tIns="0" bIns="0">
            <a:spAutoFit/>
          </a:bodyPr>
          <a:lstStyle/>
          <a:p>
            <a:pPr algn="l"/>
            <a:r>
              <a:rPr sz="1900" b="1" i="0">
                <a:solidFill>
                  <a:srgbClr val="FFFFFF"/>
                </a:solidFill>
                <a:latin typeface="Calibri"/>
              </a:rPr>
              <a:t>Temperature measured from absolute zero on the kelvin scale is the absolute or thermodynamic temperature.</a:t>
            </a:r>
          </a:p>
        </p:txBody>
      </p:sp>
      <p:sp>
        <p:nvSpPr>
          <p:cNvPr id="8" name="Rounded Rectangle 7"/>
          <p:cNvSpPr/>
          <p:nvPr/>
        </p:nvSpPr>
        <p:spPr>
          <a:xfrm>
            <a:off x="640080" y="3429000"/>
            <a:ext cx="10881360" cy="914400"/>
          </a:xfrm>
          <a:prstGeom prst="roundRect">
            <a:avLst>
              <a:gd name="adj" fmla="val 8000"/>
            </a:avLst>
          </a:prstGeom>
          <a:solidFill>
            <a:srgbClr val="FFF6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3429000"/>
            <a:ext cx="10149840" cy="914400"/>
          </a:xfrm>
          <a:prstGeom prst="rect">
            <a:avLst/>
          </a:prstGeom>
          <a:noFill/>
        </p:spPr>
        <p:txBody>
          <a:bodyPr wrap="square" anchor="ctr" lIns="0" rIns="0" tIns="0" bIns="0">
            <a:spAutoFit/>
          </a:bodyPr>
          <a:lstStyle/>
          <a:p>
            <a:pPr algn="ctr"/>
            <a:r>
              <a:rPr sz="2400" b="1" i="0">
                <a:solidFill>
                  <a:srgbClr val="F4801A"/>
                </a:solidFill>
                <a:latin typeface="Calibri"/>
              </a:rPr>
              <a:t>0 K = −273 °C (absolute zero)   •   a change of 1 °C = a change of 1 K</a:t>
            </a:r>
          </a:p>
        </p:txBody>
      </p:sp>
      <p:sp>
        <p:nvSpPr>
          <p:cNvPr id="10" name="TextBox 9"/>
          <p:cNvSpPr txBox="1"/>
          <p:nvPr/>
        </p:nvSpPr>
        <p:spPr>
          <a:xfrm>
            <a:off x="1005840" y="4572000"/>
            <a:ext cx="10058400" cy="1325880"/>
          </a:xfrm>
          <a:prstGeom prst="rect">
            <a:avLst/>
          </a:prstGeom>
          <a:noFill/>
        </p:spPr>
        <p:txBody>
          <a:bodyPr wrap="square" anchor="t" lIns="0" rIns="0" tIns="0" bIns="0">
            <a:spAutoFit/>
          </a:bodyPr>
          <a:lstStyle/>
          <a:p>
            <a:pPr algn="l">
              <a:spcAft>
                <a:spcPts val="900"/>
              </a:spcAft>
            </a:pPr>
            <a:r>
              <a:rPr sz="1500" b="1" i="0">
                <a:solidFill>
                  <a:srgbClr val="F4801A"/>
                </a:solidFill>
                <a:latin typeface="Calibri"/>
              </a:rPr>
              <a:t>•  </a:t>
            </a:r>
            <a:r>
              <a:rPr sz="1500" b="0" i="0">
                <a:solidFill>
                  <a:srgbClr val="1D2433"/>
                </a:solidFill>
                <a:latin typeface="Calibri"/>
              </a:rPr>
              <a:t>Each kelvin is 1/273.16 of the thermodynamic temperature of the triple point of water.</a:t>
            </a:r>
          </a:p>
          <a:p>
            <a:pPr algn="l">
              <a:spcAft>
                <a:spcPts val="900"/>
              </a:spcAft>
            </a:pPr>
            <a:r>
              <a:rPr sz="1500" b="1" i="0">
                <a:solidFill>
                  <a:srgbClr val="F4801A"/>
                </a:solidFill>
                <a:latin typeface="Calibri"/>
              </a:rPr>
              <a:t>•  </a:t>
            </a:r>
            <a:r>
              <a:rPr sz="1500" b="0" i="0">
                <a:solidFill>
                  <a:srgbClr val="1D2433"/>
                </a:solidFill>
                <a:latin typeface="Calibri"/>
              </a:rPr>
              <a:t>Absolute zero (0 K) is the lowest possible temperature.</a:t>
            </a:r>
          </a:p>
          <a:p>
            <a:pPr algn="l">
              <a:spcAft>
                <a:spcPts val="900"/>
              </a:spcAft>
            </a:pPr>
            <a:r>
              <a:rPr sz="1500" b="1" i="0">
                <a:solidFill>
                  <a:srgbClr val="F4801A"/>
                </a:solidFill>
                <a:latin typeface="Calibri"/>
              </a:rPr>
              <a:t>•  </a:t>
            </a:r>
            <a:r>
              <a:rPr sz="1500" b="0" i="0">
                <a:solidFill>
                  <a:srgbClr val="1D2433"/>
                </a:solidFill>
                <a:latin typeface="Calibri"/>
              </a:rPr>
              <a:t>Because the degree size is the same, ΔT is identical in °C and 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F4801A"/>
                </a:solidFill>
                <a:latin typeface="Arial"/>
              </a:rPr>
              <a:t>CONVERTING</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Relating the Temperature Scales</a:t>
            </a:r>
          </a:p>
        </p:txBody>
      </p:sp>
      <p:sp>
        <p:nvSpPr>
          <p:cNvPr id="6" name="Rounded Rectangle 5"/>
          <p:cNvSpPr/>
          <p:nvPr/>
        </p:nvSpPr>
        <p:spPr>
          <a:xfrm>
            <a:off x="640080" y="1828800"/>
            <a:ext cx="10881360" cy="1371600"/>
          </a:xfrm>
          <a:prstGeom prst="roundRect">
            <a:avLst>
              <a:gd name="adj" fmla="val 6000"/>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49840" cy="1371600"/>
          </a:xfrm>
          <a:prstGeom prst="rect">
            <a:avLst/>
          </a:prstGeom>
          <a:noFill/>
        </p:spPr>
        <p:txBody>
          <a:bodyPr wrap="square" anchor="ctr" lIns="0" rIns="0" tIns="0" bIns="0">
            <a:spAutoFit/>
          </a:bodyPr>
          <a:lstStyle/>
          <a:p>
            <a:pPr algn="l"/>
            <a:r>
              <a:rPr sz="1900" b="1" i="0">
                <a:solidFill>
                  <a:srgbClr val="FFFFFF"/>
                </a:solidFill>
                <a:latin typeface="Calibri"/>
              </a:rPr>
              <a:t>The three scales are connected by simple relations.</a:t>
            </a:r>
          </a:p>
        </p:txBody>
      </p:sp>
      <p:sp>
        <p:nvSpPr>
          <p:cNvPr id="8" name="Rounded Rectangle 7"/>
          <p:cNvSpPr/>
          <p:nvPr/>
        </p:nvSpPr>
        <p:spPr>
          <a:xfrm>
            <a:off x="640080" y="3429000"/>
            <a:ext cx="10881360" cy="914400"/>
          </a:xfrm>
          <a:prstGeom prst="roundRect">
            <a:avLst>
              <a:gd name="adj" fmla="val 8000"/>
            </a:avLst>
          </a:prstGeom>
          <a:solidFill>
            <a:srgbClr val="FFF6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3429000"/>
            <a:ext cx="10149840" cy="914400"/>
          </a:xfrm>
          <a:prstGeom prst="rect">
            <a:avLst/>
          </a:prstGeom>
          <a:noFill/>
        </p:spPr>
        <p:txBody>
          <a:bodyPr wrap="square" anchor="ctr" lIns="0" rIns="0" tIns="0" bIns="0">
            <a:spAutoFit/>
          </a:bodyPr>
          <a:lstStyle/>
          <a:p>
            <a:pPr algn="ctr"/>
            <a:r>
              <a:rPr sz="2400" b="1" i="0">
                <a:solidFill>
                  <a:srgbClr val="F4801A"/>
                </a:solidFill>
                <a:latin typeface="Calibri"/>
              </a:rPr>
              <a:t>K = °C + 273      •      K = (°F + 460) × 5/9</a:t>
            </a:r>
          </a:p>
        </p:txBody>
      </p:sp>
      <p:sp>
        <p:nvSpPr>
          <p:cNvPr id="10" name="TextBox 9"/>
          <p:cNvSpPr txBox="1"/>
          <p:nvPr/>
        </p:nvSpPr>
        <p:spPr>
          <a:xfrm>
            <a:off x="1005840" y="4572000"/>
            <a:ext cx="10058400" cy="1325880"/>
          </a:xfrm>
          <a:prstGeom prst="rect">
            <a:avLst/>
          </a:prstGeom>
          <a:noFill/>
        </p:spPr>
        <p:txBody>
          <a:bodyPr wrap="square" anchor="t" lIns="0" rIns="0" tIns="0" bIns="0">
            <a:spAutoFit/>
          </a:bodyPr>
          <a:lstStyle/>
          <a:p>
            <a:pPr algn="l">
              <a:spcAft>
                <a:spcPts val="900"/>
              </a:spcAft>
            </a:pPr>
            <a:r>
              <a:rPr sz="1500" b="1" i="0">
                <a:solidFill>
                  <a:srgbClr val="F4801A"/>
                </a:solidFill>
                <a:latin typeface="Calibri"/>
              </a:rPr>
              <a:t>•  </a:t>
            </a:r>
            <a:r>
              <a:rPr sz="1500" b="0" i="0">
                <a:solidFill>
                  <a:srgbClr val="1D2433"/>
                </a:solidFill>
                <a:latin typeface="Calibri"/>
              </a:rPr>
              <a:t>Celsius → Kelvin: add 273.</a:t>
            </a:r>
          </a:p>
          <a:p>
            <a:pPr algn="l">
              <a:spcAft>
                <a:spcPts val="900"/>
              </a:spcAft>
            </a:pPr>
            <a:r>
              <a:rPr sz="1500" b="1" i="0">
                <a:solidFill>
                  <a:srgbClr val="F4801A"/>
                </a:solidFill>
                <a:latin typeface="Calibri"/>
              </a:rPr>
              <a:t>•  </a:t>
            </a:r>
            <a:r>
              <a:rPr sz="1500" b="0" i="0">
                <a:solidFill>
                  <a:srgbClr val="1D2433"/>
                </a:solidFill>
                <a:latin typeface="Calibri"/>
              </a:rPr>
              <a:t>Fahrenheit → Kelvin: add 460, then multiply by 5/9.</a:t>
            </a:r>
          </a:p>
          <a:p>
            <a:pPr algn="l">
              <a:spcAft>
                <a:spcPts val="900"/>
              </a:spcAft>
            </a:pPr>
            <a:r>
              <a:rPr sz="1500" b="1" i="0">
                <a:solidFill>
                  <a:srgbClr val="F4801A"/>
                </a:solidFill>
                <a:latin typeface="Calibri"/>
              </a:rPr>
              <a:t>•  </a:t>
            </a:r>
            <a:r>
              <a:rPr sz="1500" b="0" i="0">
                <a:solidFill>
                  <a:srgbClr val="1D2433"/>
                </a:solidFill>
                <a:latin typeface="Calibri"/>
              </a:rPr>
              <a:t>0 K corresponds to −273 °C.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F4801A"/>
                </a:solidFill>
                <a:latin typeface="Arial"/>
              </a:rPr>
              <a:t>WORKED EXAMPLE</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Celsius to Kelvin</a:t>
            </a:r>
          </a:p>
        </p:txBody>
      </p:sp>
      <p:sp>
        <p:nvSpPr>
          <p:cNvPr id="6" name="Rounded Rectangle 5"/>
          <p:cNvSpPr/>
          <p:nvPr/>
        </p:nvSpPr>
        <p:spPr>
          <a:xfrm>
            <a:off x="640080" y="1828800"/>
            <a:ext cx="10881360" cy="1097280"/>
          </a:xfrm>
          <a:prstGeom prst="roundRect">
            <a:avLst>
              <a:gd name="adj" fmla="val 6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49840" cy="1097280"/>
          </a:xfrm>
          <a:prstGeom prst="rect">
            <a:avLst/>
          </a:prstGeom>
          <a:noFill/>
        </p:spPr>
        <p:txBody>
          <a:bodyPr wrap="square" anchor="ctr" lIns="0" rIns="0" tIns="0" bIns="0">
            <a:spAutoFit/>
          </a:bodyPr>
          <a:lstStyle/>
          <a:p>
            <a:pPr algn="l"/>
            <a:r>
              <a:rPr sz="1600" b="1" i="0">
                <a:solidFill>
                  <a:srgbClr val="F4801A"/>
                </a:solidFill>
                <a:latin typeface="Calibri"/>
              </a:rPr>
              <a:t>Problem.  </a:t>
            </a:r>
            <a:r>
              <a:rPr sz="1600" b="0" i="0">
                <a:solidFill>
                  <a:srgbClr val="1D2433"/>
                </a:solidFill>
                <a:latin typeface="Calibri"/>
              </a:rPr>
              <a:t>Normal human body temperature is about 37 °C. Express it on the kelvin scale.</a:t>
            </a:r>
          </a:p>
        </p:txBody>
      </p:sp>
      <p:sp>
        <p:nvSpPr>
          <p:cNvPr id="8" name="Rounded Rectangle 7"/>
          <p:cNvSpPr/>
          <p:nvPr/>
        </p:nvSpPr>
        <p:spPr>
          <a:xfrm>
            <a:off x="640080" y="3108960"/>
            <a:ext cx="10881360" cy="2651760"/>
          </a:xfrm>
          <a:prstGeom prst="roundRect">
            <a:avLst>
              <a:gd name="adj" fmla="val 3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3337560"/>
            <a:ext cx="10149840" cy="1828800"/>
          </a:xfrm>
          <a:prstGeom prst="rect">
            <a:avLst/>
          </a:prstGeom>
          <a:noFill/>
        </p:spPr>
        <p:txBody>
          <a:bodyPr wrap="square" anchor="t" lIns="0" rIns="0" tIns="0" bIns="0">
            <a:spAutoFit/>
          </a:bodyPr>
          <a:lstStyle/>
          <a:p>
            <a:pPr algn="l">
              <a:lnSpc>
                <a:spcPct val="105000"/>
              </a:lnSpc>
              <a:spcAft>
                <a:spcPts val="700"/>
              </a:spcAft>
            </a:pPr>
            <a:r>
              <a:rPr sz="1600" b="0" i="0">
                <a:solidFill>
                  <a:srgbClr val="1D2433"/>
                </a:solidFill>
                <a:latin typeface="Calibri"/>
              </a:rPr>
              <a:t>K = °C + 273</a:t>
            </a:r>
          </a:p>
          <a:p>
            <a:pPr algn="l">
              <a:lnSpc>
                <a:spcPct val="105000"/>
              </a:lnSpc>
              <a:spcAft>
                <a:spcPts val="700"/>
              </a:spcAft>
            </a:pPr>
            <a:r>
              <a:rPr sz="1600" b="0" i="0">
                <a:solidFill>
                  <a:srgbClr val="1D2433"/>
                </a:solidFill>
                <a:latin typeface="Calibri"/>
              </a:rPr>
              <a:t>K = 37 + 273</a:t>
            </a:r>
          </a:p>
          <a:p>
            <a:pPr algn="l">
              <a:lnSpc>
                <a:spcPct val="105000"/>
              </a:lnSpc>
              <a:spcAft>
                <a:spcPts val="700"/>
              </a:spcAft>
            </a:pPr>
            <a:r>
              <a:rPr sz="1600" b="0" i="0">
                <a:solidFill>
                  <a:srgbClr val="1D2433"/>
                </a:solidFill>
                <a:latin typeface="Calibri"/>
              </a:rPr>
              <a:t>K = 310 K</a:t>
            </a:r>
          </a:p>
        </p:txBody>
      </p:sp>
      <p:sp>
        <p:nvSpPr>
          <p:cNvPr id="10" name="Rounded Rectangle 9"/>
          <p:cNvSpPr/>
          <p:nvPr/>
        </p:nvSpPr>
        <p:spPr>
          <a:xfrm>
            <a:off x="640080" y="5074920"/>
            <a:ext cx="10881360" cy="594360"/>
          </a:xfrm>
          <a:prstGeom prst="roundRect">
            <a:avLst>
              <a:gd name="adj" fmla="val 12000"/>
            </a:avLst>
          </a:prstGeom>
          <a:solidFill>
            <a:srgbClr val="E9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074920"/>
            <a:ext cx="10149840" cy="594360"/>
          </a:xfrm>
          <a:prstGeom prst="rect">
            <a:avLst/>
          </a:prstGeom>
          <a:noFill/>
        </p:spPr>
        <p:txBody>
          <a:bodyPr wrap="square" anchor="ctr" lIns="0" rIns="0" tIns="0" bIns="0">
            <a:spAutoFit/>
          </a:bodyPr>
          <a:lstStyle/>
          <a:p>
            <a:pPr algn="l"/>
            <a:r>
              <a:rPr sz="1600" b="1" i="0">
                <a:solidFill>
                  <a:srgbClr val="2A9D8F"/>
                </a:solidFill>
                <a:latin typeface="Calibri"/>
              </a:rPr>
              <a:t>Answer:  </a:t>
            </a:r>
            <a:r>
              <a:rPr sz="1600" b="1" i="0">
                <a:solidFill>
                  <a:srgbClr val="1D2433"/>
                </a:solidFill>
                <a:latin typeface="Calibri"/>
              </a:rPr>
              <a:t>Body temperature ≈ 310 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F4801A"/>
                </a:solidFill>
                <a:latin typeface="Arial"/>
              </a:rPr>
              <a:t>THERMAL EQUILIBRIUM</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Thermal Equilibrium</a:t>
            </a:r>
          </a:p>
        </p:txBody>
      </p:sp>
      <p:pic>
        <p:nvPicPr>
          <p:cNvPr id="6" name="Picture 5" descr="g10tp_equil.png"/>
          <p:cNvPicPr>
            <a:picLocks noChangeAspect="1"/>
          </p:cNvPicPr>
          <p:nvPr/>
        </p:nvPicPr>
        <p:blipFill>
          <a:blip r:embed="rId2"/>
          <a:stretch>
            <a:fillRect/>
          </a:stretch>
        </p:blipFill>
        <p:spPr>
          <a:xfrm>
            <a:off x="5882335" y="2331720"/>
            <a:ext cx="5486400" cy="2926080"/>
          </a:xfrm>
          <a:prstGeom prst="rect">
            <a:avLst/>
          </a:prstGeom>
        </p:spPr>
      </p:pic>
      <p:sp>
        <p:nvSpPr>
          <p:cNvPr id="7" name="TextBox 6"/>
          <p:cNvSpPr txBox="1"/>
          <p:nvPr/>
        </p:nvSpPr>
        <p:spPr>
          <a:xfrm>
            <a:off x="5882335" y="5312664"/>
            <a:ext cx="5486400" cy="274320"/>
          </a:xfrm>
          <a:prstGeom prst="rect">
            <a:avLst/>
          </a:prstGeom>
          <a:noFill/>
        </p:spPr>
        <p:txBody>
          <a:bodyPr wrap="square" anchor="t" lIns="0" rIns="0" tIns="0" bIns="0">
            <a:spAutoFit/>
          </a:bodyPr>
          <a:lstStyle/>
          <a:p>
            <a:pPr algn="ctr"/>
            <a:r>
              <a:rPr sz="1100" b="0" i="1">
                <a:solidFill>
                  <a:srgbClr val="6B7280"/>
                </a:solidFill>
                <a:latin typeface="Calibri"/>
              </a:rPr>
              <a:t>Heat flows hot → cold until temperatures are equal</a:t>
            </a:r>
          </a:p>
        </p:txBody>
      </p:sp>
      <p:sp>
        <p:nvSpPr>
          <p:cNvPr id="8" name="Rounded Rectangle 7"/>
          <p:cNvSpPr/>
          <p:nvPr/>
        </p:nvSpPr>
        <p:spPr>
          <a:xfrm>
            <a:off x="822960" y="1828800"/>
            <a:ext cx="5669280" cy="393192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057400"/>
            <a:ext cx="5029200" cy="411480"/>
          </a:xfrm>
          <a:prstGeom prst="rect">
            <a:avLst/>
          </a:prstGeom>
          <a:noFill/>
        </p:spPr>
        <p:txBody>
          <a:bodyPr wrap="square" anchor="t" lIns="0" rIns="0" tIns="0" bIns="0">
            <a:spAutoFit/>
          </a:bodyPr>
          <a:lstStyle/>
          <a:p>
            <a:pPr algn="l"/>
            <a:r>
              <a:rPr sz="1800" b="1" i="0">
                <a:solidFill>
                  <a:srgbClr val="F4801A"/>
                </a:solidFill>
                <a:latin typeface="Calibri"/>
              </a:rPr>
              <a:t>No net heat flow</a:t>
            </a:r>
          </a:p>
        </p:txBody>
      </p:sp>
      <p:sp>
        <p:nvSpPr>
          <p:cNvPr id="10" name="TextBox 9"/>
          <p:cNvSpPr txBox="1"/>
          <p:nvPr/>
        </p:nvSpPr>
        <p:spPr>
          <a:xfrm>
            <a:off x="1143000" y="2606040"/>
            <a:ext cx="5074920" cy="3063240"/>
          </a:xfrm>
          <a:prstGeom prst="rect">
            <a:avLst/>
          </a:prstGeom>
          <a:noFill/>
        </p:spPr>
        <p:txBody>
          <a:bodyPr wrap="square" anchor="t" lIns="0" rIns="0" tIns="0" bIns="0">
            <a:spAutoFit/>
          </a:bodyPr>
          <a:lstStyle/>
          <a:p>
            <a:pPr algn="l">
              <a:lnSpc>
                <a:spcPct val="105000"/>
              </a:lnSpc>
              <a:spcAft>
                <a:spcPts val="900"/>
              </a:spcAft>
            </a:pPr>
            <a:r>
              <a:rPr sz="1500" b="1" i="0">
                <a:solidFill>
                  <a:srgbClr val="F4801A"/>
                </a:solidFill>
                <a:latin typeface="Calibri"/>
              </a:rPr>
              <a:t>•  </a:t>
            </a:r>
            <a:r>
              <a:rPr sz="1500" b="0" i="0">
                <a:solidFill>
                  <a:srgbClr val="1D2433"/>
                </a:solidFill>
                <a:latin typeface="Calibri"/>
              </a:rPr>
              <a:t>Two bodies are in thermal equilibrium if there is no net flow of heat between them.</a:t>
            </a:r>
          </a:p>
          <a:p>
            <a:pPr algn="l">
              <a:lnSpc>
                <a:spcPct val="105000"/>
              </a:lnSpc>
              <a:spcAft>
                <a:spcPts val="900"/>
              </a:spcAft>
            </a:pPr>
            <a:r>
              <a:rPr sz="1500" b="1" i="0">
                <a:solidFill>
                  <a:srgbClr val="F4801A"/>
                </a:solidFill>
                <a:latin typeface="Calibri"/>
              </a:rPr>
              <a:t>•  </a:t>
            </a:r>
            <a:r>
              <a:rPr sz="1500" b="0" i="0">
                <a:solidFill>
                  <a:srgbClr val="1D2433"/>
                </a:solidFill>
                <a:latin typeface="Calibri"/>
              </a:rPr>
              <a:t>Place a hot and a cold body in contact: heat flows from hot to cold.</a:t>
            </a:r>
          </a:p>
          <a:p>
            <a:pPr algn="l">
              <a:lnSpc>
                <a:spcPct val="105000"/>
              </a:lnSpc>
              <a:spcAft>
                <a:spcPts val="900"/>
              </a:spcAft>
            </a:pPr>
            <a:r>
              <a:rPr sz="1500" b="1" i="0">
                <a:solidFill>
                  <a:srgbClr val="F4801A"/>
                </a:solidFill>
                <a:latin typeface="Calibri"/>
              </a:rPr>
              <a:t>•  </a:t>
            </a:r>
            <a:r>
              <a:rPr sz="1500" b="0" i="0">
                <a:solidFill>
                  <a:srgbClr val="1D2433"/>
                </a:solidFill>
                <a:latin typeface="Calibri"/>
              </a:rPr>
              <a:t>The hot body cools and the cold body warms until both reach the same temperature.</a:t>
            </a:r>
          </a:p>
          <a:p>
            <a:pPr algn="l">
              <a:lnSpc>
                <a:spcPct val="105000"/>
              </a:lnSpc>
              <a:spcAft>
                <a:spcPts val="900"/>
              </a:spcAft>
            </a:pPr>
            <a:r>
              <a:rPr sz="1500" b="1" i="0">
                <a:solidFill>
                  <a:srgbClr val="F4801A"/>
                </a:solidFill>
                <a:latin typeface="Calibri"/>
              </a:rPr>
              <a:t>•  </a:t>
            </a:r>
            <a:r>
              <a:rPr sz="1500" b="0" i="0">
                <a:solidFill>
                  <a:srgbClr val="1D2433"/>
                </a:solidFill>
                <a:latin typeface="Calibri"/>
              </a:rPr>
              <a:t>At that point they are in thermal equilibrium.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F4801A"/>
                </a:solidFill>
                <a:latin typeface="Arial"/>
              </a:rPr>
              <a:t>THERMAL ENERGY</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Thermal Energy (Heat)</a:t>
            </a:r>
          </a:p>
        </p:txBody>
      </p:sp>
      <p:sp>
        <p:nvSpPr>
          <p:cNvPr id="6" name="Rounded Rectangle 5"/>
          <p:cNvSpPr/>
          <p:nvPr/>
        </p:nvSpPr>
        <p:spPr>
          <a:xfrm>
            <a:off x="640080" y="1828800"/>
            <a:ext cx="10881360" cy="1371600"/>
          </a:xfrm>
          <a:prstGeom prst="roundRect">
            <a:avLst>
              <a:gd name="adj" fmla="val 6000"/>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49840" cy="1371600"/>
          </a:xfrm>
          <a:prstGeom prst="rect">
            <a:avLst/>
          </a:prstGeom>
          <a:noFill/>
        </p:spPr>
        <p:txBody>
          <a:bodyPr wrap="square" anchor="ctr" lIns="0" rIns="0" tIns="0" bIns="0">
            <a:spAutoFit/>
          </a:bodyPr>
          <a:lstStyle/>
          <a:p>
            <a:pPr algn="l"/>
            <a:r>
              <a:rPr sz="1900" b="1" i="0">
                <a:solidFill>
                  <a:srgbClr val="FFFFFF"/>
                </a:solidFill>
                <a:latin typeface="Calibri"/>
              </a:rPr>
              <a:t>Thermal energy is the form of energy that is transferred between two bodies because of a difference in their temperatures.</a:t>
            </a:r>
          </a:p>
        </p:txBody>
      </p:sp>
      <p:sp>
        <p:nvSpPr>
          <p:cNvPr id="8" name="Rounded Rectangle 7"/>
          <p:cNvSpPr/>
          <p:nvPr/>
        </p:nvSpPr>
        <p:spPr>
          <a:xfrm>
            <a:off x="640080" y="3429000"/>
            <a:ext cx="10881360" cy="914400"/>
          </a:xfrm>
          <a:prstGeom prst="roundRect">
            <a:avLst>
              <a:gd name="adj" fmla="val 8000"/>
            </a:avLst>
          </a:prstGeom>
          <a:solidFill>
            <a:srgbClr val="FFF6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3429000"/>
            <a:ext cx="10149840" cy="914400"/>
          </a:xfrm>
          <a:prstGeom prst="rect">
            <a:avLst/>
          </a:prstGeom>
          <a:noFill/>
        </p:spPr>
        <p:txBody>
          <a:bodyPr wrap="square" anchor="ctr" lIns="0" rIns="0" tIns="0" bIns="0">
            <a:spAutoFit/>
          </a:bodyPr>
          <a:lstStyle/>
          <a:p>
            <a:pPr algn="ctr"/>
            <a:r>
              <a:rPr sz="2400" b="1" i="0">
                <a:solidFill>
                  <a:srgbClr val="F4801A"/>
                </a:solidFill>
                <a:latin typeface="Calibri"/>
              </a:rPr>
              <a:t>SI unit of heat energy: the joule (J)</a:t>
            </a:r>
          </a:p>
        </p:txBody>
      </p:sp>
      <p:sp>
        <p:nvSpPr>
          <p:cNvPr id="10" name="TextBox 9"/>
          <p:cNvSpPr txBox="1"/>
          <p:nvPr/>
        </p:nvSpPr>
        <p:spPr>
          <a:xfrm>
            <a:off x="1005840" y="4572000"/>
            <a:ext cx="10058400" cy="1325880"/>
          </a:xfrm>
          <a:prstGeom prst="rect">
            <a:avLst/>
          </a:prstGeom>
          <a:noFill/>
        </p:spPr>
        <p:txBody>
          <a:bodyPr wrap="square" anchor="t" lIns="0" rIns="0" tIns="0" bIns="0">
            <a:spAutoFit/>
          </a:bodyPr>
          <a:lstStyle/>
          <a:p>
            <a:pPr algn="l">
              <a:spcAft>
                <a:spcPts val="900"/>
              </a:spcAft>
            </a:pPr>
            <a:r>
              <a:rPr sz="1500" b="1" i="0">
                <a:solidFill>
                  <a:srgbClr val="F4801A"/>
                </a:solidFill>
                <a:latin typeface="Calibri"/>
              </a:rPr>
              <a:t>•  </a:t>
            </a:r>
            <a:r>
              <a:rPr sz="1500" b="0" i="0">
                <a:solidFill>
                  <a:srgbClr val="1D2433"/>
                </a:solidFill>
                <a:latin typeface="Calibri"/>
              </a:rPr>
              <a:t>It is also called heat energy or simply 'heat'.</a:t>
            </a:r>
          </a:p>
          <a:p>
            <a:pPr algn="l">
              <a:spcAft>
                <a:spcPts val="900"/>
              </a:spcAft>
            </a:pPr>
            <a:r>
              <a:rPr sz="1500" b="1" i="0">
                <a:solidFill>
                  <a:srgbClr val="F4801A"/>
                </a:solidFill>
                <a:latin typeface="Calibri"/>
              </a:rPr>
              <a:t>•  </a:t>
            </a:r>
            <a:r>
              <a:rPr sz="1500" b="0" i="0">
                <a:solidFill>
                  <a:srgbClr val="1D2433"/>
                </a:solidFill>
                <a:latin typeface="Calibri"/>
              </a:rPr>
              <a:t>The process of transferring it from a hotter to a colder body is called heating.</a:t>
            </a:r>
          </a:p>
          <a:p>
            <a:pPr algn="l">
              <a:spcAft>
                <a:spcPts val="900"/>
              </a:spcAft>
            </a:pPr>
            <a:r>
              <a:rPr sz="1500" b="1" i="0">
                <a:solidFill>
                  <a:srgbClr val="F4801A"/>
                </a:solidFill>
                <a:latin typeface="Calibri"/>
              </a:rPr>
              <a:t>•  </a:t>
            </a:r>
            <a:r>
              <a:rPr sz="1500" b="0" i="0">
                <a:solidFill>
                  <a:srgbClr val="1D2433"/>
                </a:solidFill>
                <a:latin typeface="Calibri"/>
              </a:rPr>
              <a:t>Heat is a scalar quantity.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F4801A"/>
                </a:solidFill>
                <a:latin typeface="Arial"/>
              </a:rPr>
              <a:t>KEY FEATURES</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Characteristic Features of Heat Transfer</a:t>
            </a:r>
          </a:p>
        </p:txBody>
      </p:sp>
      <p:sp>
        <p:nvSpPr>
          <p:cNvPr id="6" name="Rounded Rectangle 5"/>
          <p:cNvSpPr/>
          <p:nvPr/>
        </p:nvSpPr>
        <p:spPr>
          <a:xfrm>
            <a:off x="640080" y="1920240"/>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60119" y="2212848"/>
            <a:ext cx="502920" cy="502920"/>
          </a:xfrm>
          <a:prstGeom prst="roundRect">
            <a:avLst>
              <a:gd name="adj" fmla="val 30000"/>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park_FFFFFF.png"/>
          <p:cNvPicPr>
            <a:picLocks noChangeAspect="1"/>
          </p:cNvPicPr>
          <p:nvPr/>
        </p:nvPicPr>
        <p:blipFill>
          <a:blip r:embed="rId2"/>
          <a:stretch>
            <a:fillRect/>
          </a:stretch>
        </p:blipFill>
        <p:spPr>
          <a:xfrm>
            <a:off x="1070762" y="2323490"/>
            <a:ext cx="281635" cy="281635"/>
          </a:xfrm>
          <a:prstGeom prst="rect">
            <a:avLst/>
          </a:prstGeom>
        </p:spPr>
      </p:pic>
      <p:sp>
        <p:nvSpPr>
          <p:cNvPr id="9" name="TextBox 8"/>
          <p:cNvSpPr txBox="1"/>
          <p:nvPr/>
        </p:nvSpPr>
        <p:spPr>
          <a:xfrm>
            <a:off x="1645920" y="2176272"/>
            <a:ext cx="3931920" cy="457200"/>
          </a:xfrm>
          <a:prstGeom prst="rect">
            <a:avLst/>
          </a:prstGeom>
          <a:noFill/>
        </p:spPr>
        <p:txBody>
          <a:bodyPr wrap="square" anchor="t" lIns="0" rIns="0" tIns="0" bIns="0">
            <a:spAutoFit/>
          </a:bodyPr>
          <a:lstStyle/>
          <a:p>
            <a:pPr algn="l"/>
            <a:r>
              <a:rPr sz="1700" b="1" i="0">
                <a:solidFill>
                  <a:srgbClr val="1D2433"/>
                </a:solidFill>
                <a:latin typeface="Calibri"/>
              </a:rPr>
              <a:t>Hot to cold</a:t>
            </a:r>
          </a:p>
        </p:txBody>
      </p:sp>
      <p:sp>
        <p:nvSpPr>
          <p:cNvPr id="10" name="TextBox 9"/>
          <p:cNvSpPr txBox="1"/>
          <p:nvPr/>
        </p:nvSpPr>
        <p:spPr>
          <a:xfrm>
            <a:off x="1645920" y="2670048"/>
            <a:ext cx="3931920" cy="685800"/>
          </a:xfrm>
          <a:prstGeom prst="rect">
            <a:avLst/>
          </a:prstGeom>
          <a:noFill/>
        </p:spPr>
        <p:txBody>
          <a:bodyPr wrap="square" anchor="t" lIns="0" rIns="0" tIns="0" bIns="0">
            <a:spAutoFit/>
          </a:bodyPr>
          <a:lstStyle/>
          <a:p>
            <a:pPr algn="l"/>
            <a:r>
              <a:rPr sz="1350" b="0" i="0">
                <a:solidFill>
                  <a:srgbClr val="6B7280"/>
                </a:solidFill>
                <a:latin typeface="Calibri"/>
              </a:rPr>
              <a:t>Heat always flows from a body at higher temperature to one at lower temperature.</a:t>
            </a:r>
          </a:p>
        </p:txBody>
      </p:sp>
      <p:sp>
        <p:nvSpPr>
          <p:cNvPr id="11" name="Rounded Rectangle 10"/>
          <p:cNvSpPr/>
          <p:nvPr/>
        </p:nvSpPr>
        <p:spPr>
          <a:xfrm>
            <a:off x="6217920" y="1920240"/>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37960" y="2212848"/>
            <a:ext cx="502920" cy="502920"/>
          </a:xfrm>
          <a:prstGeom prst="roundRect">
            <a:avLst>
              <a:gd name="adj" fmla="val 30000"/>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park_FFFFFF.png"/>
          <p:cNvPicPr>
            <a:picLocks noChangeAspect="1"/>
          </p:cNvPicPr>
          <p:nvPr/>
        </p:nvPicPr>
        <p:blipFill>
          <a:blip r:embed="rId2"/>
          <a:stretch>
            <a:fillRect/>
          </a:stretch>
        </p:blipFill>
        <p:spPr>
          <a:xfrm>
            <a:off x="6648602" y="2323490"/>
            <a:ext cx="281635" cy="281635"/>
          </a:xfrm>
          <a:prstGeom prst="rect">
            <a:avLst/>
          </a:prstGeom>
        </p:spPr>
      </p:pic>
      <p:sp>
        <p:nvSpPr>
          <p:cNvPr id="14" name="TextBox 13"/>
          <p:cNvSpPr txBox="1"/>
          <p:nvPr/>
        </p:nvSpPr>
        <p:spPr>
          <a:xfrm>
            <a:off x="7223760" y="2176272"/>
            <a:ext cx="3931920" cy="457200"/>
          </a:xfrm>
          <a:prstGeom prst="rect">
            <a:avLst/>
          </a:prstGeom>
          <a:noFill/>
        </p:spPr>
        <p:txBody>
          <a:bodyPr wrap="square" anchor="t" lIns="0" rIns="0" tIns="0" bIns="0">
            <a:spAutoFit/>
          </a:bodyPr>
          <a:lstStyle/>
          <a:p>
            <a:pPr algn="l"/>
            <a:r>
              <a:rPr sz="1700" b="1" i="0">
                <a:solidFill>
                  <a:srgbClr val="1D2433"/>
                </a:solidFill>
                <a:latin typeface="Calibri"/>
              </a:rPr>
              <a:t>Mass unchanged</a:t>
            </a:r>
          </a:p>
        </p:txBody>
      </p:sp>
      <p:sp>
        <p:nvSpPr>
          <p:cNvPr id="15" name="TextBox 14"/>
          <p:cNvSpPr txBox="1"/>
          <p:nvPr/>
        </p:nvSpPr>
        <p:spPr>
          <a:xfrm>
            <a:off x="7223760" y="2670048"/>
            <a:ext cx="3931920" cy="685800"/>
          </a:xfrm>
          <a:prstGeom prst="rect">
            <a:avLst/>
          </a:prstGeom>
          <a:noFill/>
        </p:spPr>
        <p:txBody>
          <a:bodyPr wrap="square" anchor="t" lIns="0" rIns="0" tIns="0" bIns="0">
            <a:spAutoFit/>
          </a:bodyPr>
          <a:lstStyle/>
          <a:p>
            <a:pPr algn="l"/>
            <a:r>
              <a:rPr sz="1350" b="0" i="0">
                <a:solidFill>
                  <a:srgbClr val="6B7280"/>
                </a:solidFill>
                <a:latin typeface="Calibri"/>
              </a:rPr>
              <a:t>The mass of a body is not altered when it is heated or cooled.</a:t>
            </a:r>
          </a:p>
        </p:txBody>
      </p:sp>
      <p:sp>
        <p:nvSpPr>
          <p:cNvPr id="16" name="Rounded Rectangle 15"/>
          <p:cNvSpPr/>
          <p:nvPr/>
        </p:nvSpPr>
        <p:spPr>
          <a:xfrm>
            <a:off x="640080" y="3749039"/>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60119" y="4041648"/>
            <a:ext cx="502920" cy="502920"/>
          </a:xfrm>
          <a:prstGeom prst="roundRect">
            <a:avLst>
              <a:gd name="adj" fmla="val 3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thermometer_FFFFFF.png"/>
          <p:cNvPicPr>
            <a:picLocks noChangeAspect="1"/>
          </p:cNvPicPr>
          <p:nvPr/>
        </p:nvPicPr>
        <p:blipFill>
          <a:blip r:embed="rId3"/>
          <a:stretch>
            <a:fillRect/>
          </a:stretch>
        </p:blipFill>
        <p:spPr>
          <a:xfrm>
            <a:off x="1070762" y="4152290"/>
            <a:ext cx="281635" cy="281635"/>
          </a:xfrm>
          <a:prstGeom prst="rect">
            <a:avLst/>
          </a:prstGeom>
        </p:spPr>
      </p:pic>
      <p:sp>
        <p:nvSpPr>
          <p:cNvPr id="19" name="TextBox 18"/>
          <p:cNvSpPr txBox="1"/>
          <p:nvPr/>
        </p:nvSpPr>
        <p:spPr>
          <a:xfrm>
            <a:off x="1645920" y="4005072"/>
            <a:ext cx="3931920" cy="457200"/>
          </a:xfrm>
          <a:prstGeom prst="rect">
            <a:avLst/>
          </a:prstGeom>
          <a:noFill/>
        </p:spPr>
        <p:txBody>
          <a:bodyPr wrap="square" anchor="t" lIns="0" rIns="0" tIns="0" bIns="0">
            <a:spAutoFit/>
          </a:bodyPr>
          <a:lstStyle/>
          <a:p>
            <a:pPr algn="l"/>
            <a:r>
              <a:rPr sz="1700" b="1" i="0">
                <a:solidFill>
                  <a:srgbClr val="1D2433"/>
                </a:solidFill>
                <a:latin typeface="Calibri"/>
              </a:rPr>
              <a:t>Heat gained = heat lost</a:t>
            </a:r>
          </a:p>
        </p:txBody>
      </p:sp>
      <p:sp>
        <p:nvSpPr>
          <p:cNvPr id="20" name="TextBox 19"/>
          <p:cNvSpPr txBox="1"/>
          <p:nvPr/>
        </p:nvSpPr>
        <p:spPr>
          <a:xfrm>
            <a:off x="1645920" y="4498848"/>
            <a:ext cx="3931920" cy="685800"/>
          </a:xfrm>
          <a:prstGeom prst="rect">
            <a:avLst/>
          </a:prstGeom>
          <a:noFill/>
        </p:spPr>
        <p:txBody>
          <a:bodyPr wrap="square" anchor="t" lIns="0" rIns="0" tIns="0" bIns="0">
            <a:spAutoFit/>
          </a:bodyPr>
          <a:lstStyle/>
          <a:p>
            <a:pPr algn="l"/>
            <a:r>
              <a:rPr sz="1350" b="0" i="0">
                <a:solidFill>
                  <a:srgbClr val="6B7280"/>
                </a:solidFill>
                <a:latin typeface="Calibri"/>
              </a:rPr>
              <a:t>In any exchange, the heat gained by the cold body equals the heat lost by the hot body.</a:t>
            </a:r>
          </a:p>
        </p:txBody>
      </p:sp>
      <p:sp>
        <p:nvSpPr>
          <p:cNvPr id="21" name="Rounded Rectangle 20"/>
          <p:cNvSpPr/>
          <p:nvPr/>
        </p:nvSpPr>
        <p:spPr>
          <a:xfrm>
            <a:off x="6217920" y="3749039"/>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537960" y="4041648"/>
            <a:ext cx="502920" cy="502920"/>
          </a:xfrm>
          <a:prstGeom prst="roundRect">
            <a:avLst>
              <a:gd name="adj" fmla="val 30000"/>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spark_FFFFFF.png"/>
          <p:cNvPicPr>
            <a:picLocks noChangeAspect="1"/>
          </p:cNvPicPr>
          <p:nvPr/>
        </p:nvPicPr>
        <p:blipFill>
          <a:blip r:embed="rId2"/>
          <a:stretch>
            <a:fillRect/>
          </a:stretch>
        </p:blipFill>
        <p:spPr>
          <a:xfrm>
            <a:off x="6648602" y="4152290"/>
            <a:ext cx="281635" cy="281635"/>
          </a:xfrm>
          <a:prstGeom prst="rect">
            <a:avLst/>
          </a:prstGeom>
        </p:spPr>
      </p:pic>
      <p:sp>
        <p:nvSpPr>
          <p:cNvPr id="24" name="TextBox 23"/>
          <p:cNvSpPr txBox="1"/>
          <p:nvPr/>
        </p:nvSpPr>
        <p:spPr>
          <a:xfrm>
            <a:off x="7223760" y="4005072"/>
            <a:ext cx="3931920" cy="457200"/>
          </a:xfrm>
          <a:prstGeom prst="rect">
            <a:avLst/>
          </a:prstGeom>
          <a:noFill/>
        </p:spPr>
        <p:txBody>
          <a:bodyPr wrap="square" anchor="t" lIns="0" rIns="0" tIns="0" bIns="0">
            <a:spAutoFit/>
          </a:bodyPr>
          <a:lstStyle/>
          <a:p>
            <a:pPr algn="l"/>
            <a:r>
              <a:rPr sz="1700" b="1" i="0">
                <a:solidFill>
                  <a:srgbClr val="1D2433"/>
                </a:solidFill>
                <a:latin typeface="Calibri"/>
              </a:rPr>
              <a:t>Conservation</a:t>
            </a:r>
          </a:p>
        </p:txBody>
      </p:sp>
      <p:sp>
        <p:nvSpPr>
          <p:cNvPr id="25" name="TextBox 24"/>
          <p:cNvSpPr txBox="1"/>
          <p:nvPr/>
        </p:nvSpPr>
        <p:spPr>
          <a:xfrm>
            <a:off x="7223760" y="4498848"/>
            <a:ext cx="3931920" cy="685800"/>
          </a:xfrm>
          <a:prstGeom prst="rect">
            <a:avLst/>
          </a:prstGeom>
          <a:noFill/>
        </p:spPr>
        <p:txBody>
          <a:bodyPr wrap="square" anchor="t" lIns="0" rIns="0" tIns="0" bIns="0">
            <a:spAutoFit/>
          </a:bodyPr>
          <a:lstStyle/>
          <a:p>
            <a:pPr algn="l"/>
            <a:r>
              <a:rPr sz="1350" b="0" i="0">
                <a:solidFill>
                  <a:srgbClr val="6B7280"/>
                </a:solidFill>
                <a:latin typeface="Calibri"/>
              </a:rPr>
              <a:t>This balance is simply the conservation of energy applied to heat.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F4801A"/>
                </a:solidFill>
                <a:latin typeface="Arial"/>
              </a:rPr>
              <a:t>UNITS OF HEAT</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Units of Heat Energy</a:t>
            </a:r>
          </a:p>
        </p:txBody>
      </p:sp>
      <p:sp>
        <p:nvSpPr>
          <p:cNvPr id="6" name="Rounded Rectangle 5"/>
          <p:cNvSpPr/>
          <p:nvPr/>
        </p:nvSpPr>
        <p:spPr>
          <a:xfrm>
            <a:off x="640080" y="1920240"/>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60119" y="2212848"/>
            <a:ext cx="502920" cy="502920"/>
          </a:xfrm>
          <a:prstGeom prst="roundRect">
            <a:avLst>
              <a:gd name="adj" fmla="val 30000"/>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park_FFFFFF.png"/>
          <p:cNvPicPr>
            <a:picLocks noChangeAspect="1"/>
          </p:cNvPicPr>
          <p:nvPr/>
        </p:nvPicPr>
        <p:blipFill>
          <a:blip r:embed="rId2"/>
          <a:stretch>
            <a:fillRect/>
          </a:stretch>
        </p:blipFill>
        <p:spPr>
          <a:xfrm>
            <a:off x="1070762" y="2323490"/>
            <a:ext cx="281635" cy="281635"/>
          </a:xfrm>
          <a:prstGeom prst="rect">
            <a:avLst/>
          </a:prstGeom>
        </p:spPr>
      </p:pic>
      <p:sp>
        <p:nvSpPr>
          <p:cNvPr id="9" name="TextBox 8"/>
          <p:cNvSpPr txBox="1"/>
          <p:nvPr/>
        </p:nvSpPr>
        <p:spPr>
          <a:xfrm>
            <a:off x="1645920" y="2176272"/>
            <a:ext cx="3931920" cy="457200"/>
          </a:xfrm>
          <a:prstGeom prst="rect">
            <a:avLst/>
          </a:prstGeom>
          <a:noFill/>
        </p:spPr>
        <p:txBody>
          <a:bodyPr wrap="square" anchor="t" lIns="0" rIns="0" tIns="0" bIns="0">
            <a:spAutoFit/>
          </a:bodyPr>
          <a:lstStyle/>
          <a:p>
            <a:pPr algn="l"/>
            <a:r>
              <a:rPr sz="1700" b="1" i="0">
                <a:solidFill>
                  <a:srgbClr val="1D2433"/>
                </a:solidFill>
                <a:latin typeface="Calibri"/>
              </a:rPr>
              <a:t>Joule (J)</a:t>
            </a:r>
          </a:p>
        </p:txBody>
      </p:sp>
      <p:sp>
        <p:nvSpPr>
          <p:cNvPr id="10" name="TextBox 9"/>
          <p:cNvSpPr txBox="1"/>
          <p:nvPr/>
        </p:nvSpPr>
        <p:spPr>
          <a:xfrm>
            <a:off x="1645920" y="2670048"/>
            <a:ext cx="3931920" cy="685800"/>
          </a:xfrm>
          <a:prstGeom prst="rect">
            <a:avLst/>
          </a:prstGeom>
          <a:noFill/>
        </p:spPr>
        <p:txBody>
          <a:bodyPr wrap="square" anchor="t" lIns="0" rIns="0" tIns="0" bIns="0">
            <a:spAutoFit/>
          </a:bodyPr>
          <a:lstStyle/>
          <a:p>
            <a:pPr algn="l"/>
            <a:r>
              <a:rPr sz="1350" b="0" i="0">
                <a:solidFill>
                  <a:srgbClr val="6B7280"/>
                </a:solidFill>
                <a:latin typeface="Calibri"/>
              </a:rPr>
              <a:t>The SI unit of heat energy.</a:t>
            </a:r>
          </a:p>
        </p:txBody>
      </p:sp>
      <p:sp>
        <p:nvSpPr>
          <p:cNvPr id="11" name="Rounded Rectangle 10"/>
          <p:cNvSpPr/>
          <p:nvPr/>
        </p:nvSpPr>
        <p:spPr>
          <a:xfrm>
            <a:off x="6217920" y="1920240"/>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37960" y="2212848"/>
            <a:ext cx="502920" cy="502920"/>
          </a:xfrm>
          <a:prstGeom prst="roundRect">
            <a:avLst>
              <a:gd name="adj" fmla="val 30000"/>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thermometer_FFFFFF.png"/>
          <p:cNvPicPr>
            <a:picLocks noChangeAspect="1"/>
          </p:cNvPicPr>
          <p:nvPr/>
        </p:nvPicPr>
        <p:blipFill>
          <a:blip r:embed="rId3"/>
          <a:stretch>
            <a:fillRect/>
          </a:stretch>
        </p:blipFill>
        <p:spPr>
          <a:xfrm>
            <a:off x="6648602" y="2323490"/>
            <a:ext cx="281635" cy="281635"/>
          </a:xfrm>
          <a:prstGeom prst="rect">
            <a:avLst/>
          </a:prstGeom>
        </p:spPr>
      </p:pic>
      <p:sp>
        <p:nvSpPr>
          <p:cNvPr id="14" name="TextBox 13"/>
          <p:cNvSpPr txBox="1"/>
          <p:nvPr/>
        </p:nvSpPr>
        <p:spPr>
          <a:xfrm>
            <a:off x="7223760" y="2176272"/>
            <a:ext cx="3931920" cy="457200"/>
          </a:xfrm>
          <a:prstGeom prst="rect">
            <a:avLst/>
          </a:prstGeom>
          <a:noFill/>
        </p:spPr>
        <p:txBody>
          <a:bodyPr wrap="square" anchor="t" lIns="0" rIns="0" tIns="0" bIns="0">
            <a:spAutoFit/>
          </a:bodyPr>
          <a:lstStyle/>
          <a:p>
            <a:pPr algn="l"/>
            <a:r>
              <a:rPr sz="1700" b="1" i="0">
                <a:solidFill>
                  <a:srgbClr val="1D2433"/>
                </a:solidFill>
                <a:latin typeface="Calibri"/>
              </a:rPr>
              <a:t>Calorie</a:t>
            </a:r>
          </a:p>
        </p:txBody>
      </p:sp>
      <p:sp>
        <p:nvSpPr>
          <p:cNvPr id="15" name="TextBox 14"/>
          <p:cNvSpPr txBox="1"/>
          <p:nvPr/>
        </p:nvSpPr>
        <p:spPr>
          <a:xfrm>
            <a:off x="7223760" y="2670048"/>
            <a:ext cx="3931920" cy="685800"/>
          </a:xfrm>
          <a:prstGeom prst="rect">
            <a:avLst/>
          </a:prstGeom>
          <a:noFill/>
        </p:spPr>
        <p:txBody>
          <a:bodyPr wrap="square" anchor="t" lIns="0" rIns="0" tIns="0" bIns="0">
            <a:spAutoFit/>
          </a:bodyPr>
          <a:lstStyle/>
          <a:p>
            <a:pPr algn="l"/>
            <a:r>
              <a:rPr sz="1350" b="0" i="0">
                <a:solidFill>
                  <a:srgbClr val="6B7280"/>
                </a:solidFill>
                <a:latin typeface="Calibri"/>
              </a:rPr>
              <a:t>The heat needed to raise the temperature of 1 g of water by 1 °C.</a:t>
            </a:r>
          </a:p>
        </p:txBody>
      </p:sp>
      <p:sp>
        <p:nvSpPr>
          <p:cNvPr id="16" name="Rounded Rectangle 15"/>
          <p:cNvSpPr/>
          <p:nvPr/>
        </p:nvSpPr>
        <p:spPr>
          <a:xfrm>
            <a:off x="640080" y="3749039"/>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60119" y="4041648"/>
            <a:ext cx="502920" cy="502920"/>
          </a:xfrm>
          <a:prstGeom prst="roundRect">
            <a:avLst>
              <a:gd name="adj" fmla="val 3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thermometer_FFFFFF.png"/>
          <p:cNvPicPr>
            <a:picLocks noChangeAspect="1"/>
          </p:cNvPicPr>
          <p:nvPr/>
        </p:nvPicPr>
        <p:blipFill>
          <a:blip r:embed="rId3"/>
          <a:stretch>
            <a:fillRect/>
          </a:stretch>
        </p:blipFill>
        <p:spPr>
          <a:xfrm>
            <a:off x="1070762" y="4152290"/>
            <a:ext cx="281635" cy="281635"/>
          </a:xfrm>
          <a:prstGeom prst="rect">
            <a:avLst/>
          </a:prstGeom>
        </p:spPr>
      </p:pic>
      <p:sp>
        <p:nvSpPr>
          <p:cNvPr id="19" name="TextBox 18"/>
          <p:cNvSpPr txBox="1"/>
          <p:nvPr/>
        </p:nvSpPr>
        <p:spPr>
          <a:xfrm>
            <a:off x="1645920" y="4005072"/>
            <a:ext cx="3931920" cy="457200"/>
          </a:xfrm>
          <a:prstGeom prst="rect">
            <a:avLst/>
          </a:prstGeom>
          <a:noFill/>
        </p:spPr>
        <p:txBody>
          <a:bodyPr wrap="square" anchor="t" lIns="0" rIns="0" tIns="0" bIns="0">
            <a:spAutoFit/>
          </a:bodyPr>
          <a:lstStyle/>
          <a:p>
            <a:pPr algn="l"/>
            <a:r>
              <a:rPr sz="1700" b="1" i="0">
                <a:solidFill>
                  <a:srgbClr val="1D2433"/>
                </a:solidFill>
                <a:latin typeface="Calibri"/>
              </a:rPr>
              <a:t>Kilocalorie</a:t>
            </a:r>
          </a:p>
        </p:txBody>
      </p:sp>
      <p:sp>
        <p:nvSpPr>
          <p:cNvPr id="20" name="TextBox 19"/>
          <p:cNvSpPr txBox="1"/>
          <p:nvPr/>
        </p:nvSpPr>
        <p:spPr>
          <a:xfrm>
            <a:off x="1645920" y="4498848"/>
            <a:ext cx="3931920" cy="685800"/>
          </a:xfrm>
          <a:prstGeom prst="rect">
            <a:avLst/>
          </a:prstGeom>
          <a:noFill/>
        </p:spPr>
        <p:txBody>
          <a:bodyPr wrap="square" anchor="t" lIns="0" rIns="0" tIns="0" bIns="0">
            <a:spAutoFit/>
          </a:bodyPr>
          <a:lstStyle/>
          <a:p>
            <a:pPr algn="l"/>
            <a:r>
              <a:rPr sz="1350" b="0" i="0">
                <a:solidFill>
                  <a:srgbClr val="6B7280"/>
                </a:solidFill>
                <a:latin typeface="Calibri"/>
              </a:rPr>
              <a:t>The heat needed to raise the temperature of 1 kg of water by 1 °C.</a:t>
            </a:r>
          </a:p>
        </p:txBody>
      </p:sp>
      <p:sp>
        <p:nvSpPr>
          <p:cNvPr id="21" name="Rounded Rectangle 20"/>
          <p:cNvSpPr/>
          <p:nvPr/>
        </p:nvSpPr>
        <p:spPr>
          <a:xfrm>
            <a:off x="6217920" y="3749039"/>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537960" y="4041648"/>
            <a:ext cx="502920" cy="502920"/>
          </a:xfrm>
          <a:prstGeom prst="roundRect">
            <a:avLst>
              <a:gd name="adj" fmla="val 30000"/>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spark_FFFFFF.png"/>
          <p:cNvPicPr>
            <a:picLocks noChangeAspect="1"/>
          </p:cNvPicPr>
          <p:nvPr/>
        </p:nvPicPr>
        <p:blipFill>
          <a:blip r:embed="rId2"/>
          <a:stretch>
            <a:fillRect/>
          </a:stretch>
        </p:blipFill>
        <p:spPr>
          <a:xfrm>
            <a:off x="6648602" y="4152290"/>
            <a:ext cx="281635" cy="281635"/>
          </a:xfrm>
          <a:prstGeom prst="rect">
            <a:avLst/>
          </a:prstGeom>
        </p:spPr>
      </p:pic>
      <p:sp>
        <p:nvSpPr>
          <p:cNvPr id="24" name="TextBox 23"/>
          <p:cNvSpPr txBox="1"/>
          <p:nvPr/>
        </p:nvSpPr>
        <p:spPr>
          <a:xfrm>
            <a:off x="7223760" y="4005072"/>
            <a:ext cx="3931920" cy="457200"/>
          </a:xfrm>
          <a:prstGeom prst="rect">
            <a:avLst/>
          </a:prstGeom>
          <a:noFill/>
        </p:spPr>
        <p:txBody>
          <a:bodyPr wrap="square" anchor="t" lIns="0" rIns="0" tIns="0" bIns="0">
            <a:spAutoFit/>
          </a:bodyPr>
          <a:lstStyle/>
          <a:p>
            <a:pPr algn="l"/>
            <a:r>
              <a:rPr sz="1700" b="1" i="0">
                <a:solidFill>
                  <a:srgbClr val="1D2433"/>
                </a:solidFill>
                <a:latin typeface="Calibri"/>
              </a:rPr>
              <a:t>Link</a:t>
            </a:r>
          </a:p>
        </p:txBody>
      </p:sp>
      <p:sp>
        <p:nvSpPr>
          <p:cNvPr id="25" name="TextBox 24"/>
          <p:cNvSpPr txBox="1"/>
          <p:nvPr/>
        </p:nvSpPr>
        <p:spPr>
          <a:xfrm>
            <a:off x="7223760" y="4498848"/>
            <a:ext cx="3931920" cy="685800"/>
          </a:xfrm>
          <a:prstGeom prst="rect">
            <a:avLst/>
          </a:prstGeom>
          <a:noFill/>
        </p:spPr>
        <p:txBody>
          <a:bodyPr wrap="square" anchor="t" lIns="0" rIns="0" tIns="0" bIns="0">
            <a:spAutoFit/>
          </a:bodyPr>
          <a:lstStyle/>
          <a:p>
            <a:pPr algn="l"/>
            <a:r>
              <a:rPr sz="1350" b="0" i="0">
                <a:solidFill>
                  <a:srgbClr val="6B7280"/>
                </a:solidFill>
                <a:latin typeface="Calibri"/>
              </a:rPr>
              <a:t>1 kilocalorie = 1000 calories; the calorie is still used for food energy.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D2433"/>
        </a:solidFill>
        <a:effectLst/>
      </p:bgPr>
    </p:bg>
    <p:spTree>
      <p:nvGrpSpPr>
        <p:cNvPr id="1" name=""/>
        <p:cNvGrpSpPr/>
        <p:nvPr/>
      </p:nvGrpSpPr>
      <p:grpSpPr/>
      <p:sp>
        <p:nvSpPr>
          <p:cNvPr id="2" name="Oval 1"/>
          <p:cNvSpPr/>
          <p:nvPr/>
        </p:nvSpPr>
        <p:spPr>
          <a:xfrm>
            <a:off x="8778240" y="-1371600"/>
            <a:ext cx="4754880" cy="47548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011680"/>
            <a:ext cx="8229600" cy="457200"/>
          </a:xfrm>
          <a:prstGeom prst="rect">
            <a:avLst/>
          </a:prstGeom>
          <a:noFill/>
        </p:spPr>
        <p:txBody>
          <a:bodyPr wrap="square" anchor="t" lIns="0" rIns="0" tIns="0" bIns="0">
            <a:spAutoFit/>
          </a:bodyPr>
          <a:lstStyle/>
          <a:p>
            <a:pPr algn="l"/>
            <a:r>
              <a:rPr sz="1600" b="1" i="0">
                <a:solidFill>
                  <a:srgbClr val="FFC300"/>
                </a:solidFill>
                <a:latin typeface="Arial"/>
              </a:rPr>
              <a:t>QUIZ 1</a:t>
            </a:r>
          </a:p>
        </p:txBody>
      </p:sp>
      <p:sp>
        <p:nvSpPr>
          <p:cNvPr id="4" name="TextBox 3"/>
          <p:cNvSpPr txBox="1"/>
          <p:nvPr/>
        </p:nvSpPr>
        <p:spPr>
          <a:xfrm>
            <a:off x="777240" y="2560320"/>
            <a:ext cx="9601200" cy="1005840"/>
          </a:xfrm>
          <a:prstGeom prst="rect">
            <a:avLst/>
          </a:prstGeom>
          <a:noFill/>
        </p:spPr>
        <p:txBody>
          <a:bodyPr wrap="square" anchor="t" lIns="0" rIns="0" tIns="0" bIns="0">
            <a:spAutoFit/>
          </a:bodyPr>
          <a:lstStyle/>
          <a:p>
            <a:pPr algn="l"/>
            <a:r>
              <a:rPr sz="4400" b="1" i="0">
                <a:solidFill>
                  <a:srgbClr val="FFFFFF"/>
                </a:solidFill>
                <a:latin typeface="Calibri"/>
              </a:rPr>
              <a:t>Check Your Understanding</a:t>
            </a:r>
          </a:p>
        </p:txBody>
      </p:sp>
      <p:sp>
        <p:nvSpPr>
          <p:cNvPr id="5" name="TextBox 4"/>
          <p:cNvSpPr txBox="1"/>
          <p:nvPr/>
        </p:nvSpPr>
        <p:spPr>
          <a:xfrm>
            <a:off x="777240" y="3749039"/>
            <a:ext cx="9601200" cy="548640"/>
          </a:xfrm>
          <a:prstGeom prst="rect">
            <a:avLst/>
          </a:prstGeom>
          <a:noFill/>
        </p:spPr>
        <p:txBody>
          <a:bodyPr wrap="square" anchor="t" lIns="0" rIns="0" tIns="0" bIns="0">
            <a:spAutoFit/>
          </a:bodyPr>
          <a:lstStyle/>
          <a:p>
            <a:pPr algn="l"/>
            <a:r>
              <a:rPr sz="1800" b="0" i="0">
                <a:solidFill>
                  <a:srgbClr val="CADCFC"/>
                </a:solidFill>
                <a:latin typeface="Calibri"/>
              </a:rPr>
              <a:t>5 questions  •  think before the answer reveals on the next slide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F4801A"/>
                </a:solidFill>
                <a:latin typeface="Arial"/>
              </a:rPr>
              <a:t>QUIZ QUESTION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Q1 — To Kelvin</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A liquid is at 27 °C. Its temperature on the kelvin scale is:</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27 K</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246 K</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300 K</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−246 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2A9D8F"/>
                </a:solidFill>
                <a:latin typeface="Arial"/>
              </a:rPr>
              <a:t>ANSWER REVEALED</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Q1 — To Kelvin</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A liquid is at 27 °C. Its temperature on the kelvin scale is:</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27 K</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246 K</a:t>
            </a:r>
          </a:p>
        </p:txBody>
      </p:sp>
      <p:sp>
        <p:nvSpPr>
          <p:cNvPr id="16" name="Rounded Rectangle 15"/>
          <p:cNvSpPr/>
          <p:nvPr/>
        </p:nvSpPr>
        <p:spPr>
          <a:xfrm>
            <a:off x="640080" y="4370831"/>
            <a:ext cx="5349240" cy="868680"/>
          </a:xfrm>
          <a:prstGeom prst="roundRect">
            <a:avLst>
              <a:gd name="adj" fmla="val 12000"/>
            </a:avLst>
          </a:prstGeom>
          <a:solidFill>
            <a:srgbClr val="E9F5F0"/>
          </a:solidFill>
          <a:ln w="254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1" i="0">
                <a:solidFill>
                  <a:srgbClr val="1D2433"/>
                </a:solidFill>
                <a:latin typeface="Calibri"/>
              </a:rPr>
              <a:t>300 K</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−246 K</a:t>
            </a:r>
          </a:p>
        </p:txBody>
      </p:sp>
      <p:sp>
        <p:nvSpPr>
          <p:cNvPr id="24" name="Rounded Rectangle 23"/>
          <p:cNvSpPr/>
          <p:nvPr/>
        </p:nvSpPr>
        <p:spPr>
          <a:xfrm>
            <a:off x="640080" y="5440680"/>
            <a:ext cx="10881360" cy="109728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96128"/>
            <a:ext cx="4572000" cy="320040"/>
          </a:xfrm>
          <a:prstGeom prst="rect">
            <a:avLst/>
          </a:prstGeom>
          <a:noFill/>
        </p:spPr>
        <p:txBody>
          <a:bodyPr wrap="square" anchor="t" lIns="0" rIns="0" tIns="0" bIns="0">
            <a:spAutoFit/>
          </a:bodyPr>
          <a:lstStyle/>
          <a:p>
            <a:pPr algn="l"/>
            <a:r>
              <a:rPr sz="1300" b="1" i="0">
                <a:solidFill>
                  <a:srgbClr val="2A9D8F"/>
                </a:solidFill>
                <a:latin typeface="Arial"/>
              </a:rPr>
              <a:t>WHY</a:t>
            </a:r>
          </a:p>
        </p:txBody>
      </p:sp>
      <p:sp>
        <p:nvSpPr>
          <p:cNvPr id="26" name="TextBox 25"/>
          <p:cNvSpPr txBox="1"/>
          <p:nvPr/>
        </p:nvSpPr>
        <p:spPr>
          <a:xfrm>
            <a:off x="1005840" y="5943600"/>
            <a:ext cx="10149840" cy="548640"/>
          </a:xfrm>
          <a:prstGeom prst="rect">
            <a:avLst/>
          </a:prstGeom>
          <a:noFill/>
        </p:spPr>
        <p:txBody>
          <a:bodyPr wrap="square" anchor="t" lIns="0" rIns="0" tIns="0" bIns="0">
            <a:spAutoFit/>
          </a:bodyPr>
          <a:lstStyle/>
          <a:p>
            <a:pPr algn="l">
              <a:lnSpc>
                <a:spcPct val="105000"/>
              </a:lnSpc>
            </a:pPr>
            <a:r>
              <a:rPr sz="1450" b="0" i="0">
                <a:solidFill>
                  <a:srgbClr val="1D2433"/>
                </a:solidFill>
                <a:latin typeface="Calibri"/>
              </a:rPr>
              <a:t>K = °C + 273 = 27 + 273 = 300 K. The kelvin reading is just the Celsius value plus 273.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F4801A"/>
                </a:solidFill>
                <a:latin typeface="Arial"/>
              </a:rPr>
              <a:t>QUIZ QUESTION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Q2 — Equilibrium</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Two bodies at different temperatures are placed in contact. Heat stops flowing between them when they:</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Have equal masses</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Reach the same temperature</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Have equal volumes</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Are both frozen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2A9D8F"/>
                </a:solidFill>
                <a:latin typeface="Arial"/>
              </a:rPr>
              <a:t>ANSWER REVEALED</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Q2 — Equilibrium</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Two bodies at different temperatures are placed in contact. Heat stops flowing between them when they:</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Have equal masses</a:t>
            </a:r>
          </a:p>
        </p:txBody>
      </p:sp>
      <p:sp>
        <p:nvSpPr>
          <p:cNvPr id="12" name="Rounded Rectangle 11"/>
          <p:cNvSpPr/>
          <p:nvPr/>
        </p:nvSpPr>
        <p:spPr>
          <a:xfrm>
            <a:off x="6172200" y="3337560"/>
            <a:ext cx="5349240" cy="868680"/>
          </a:xfrm>
          <a:prstGeom prst="roundRect">
            <a:avLst>
              <a:gd name="adj" fmla="val 12000"/>
            </a:avLst>
          </a:prstGeom>
          <a:solidFill>
            <a:srgbClr val="E9F5F0"/>
          </a:solidFill>
          <a:ln w="254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1" i="0">
                <a:solidFill>
                  <a:srgbClr val="1D2433"/>
                </a:solidFill>
                <a:latin typeface="Calibri"/>
              </a:rPr>
              <a:t>Reach the same temperature</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Have equal volumes</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Are both frozen</a:t>
            </a:r>
          </a:p>
        </p:txBody>
      </p:sp>
      <p:sp>
        <p:nvSpPr>
          <p:cNvPr id="24" name="Rounded Rectangle 23"/>
          <p:cNvSpPr/>
          <p:nvPr/>
        </p:nvSpPr>
        <p:spPr>
          <a:xfrm>
            <a:off x="640080" y="5440680"/>
            <a:ext cx="10881360" cy="109728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96128"/>
            <a:ext cx="4572000" cy="320040"/>
          </a:xfrm>
          <a:prstGeom prst="rect">
            <a:avLst/>
          </a:prstGeom>
          <a:noFill/>
        </p:spPr>
        <p:txBody>
          <a:bodyPr wrap="square" anchor="t" lIns="0" rIns="0" tIns="0" bIns="0">
            <a:spAutoFit/>
          </a:bodyPr>
          <a:lstStyle/>
          <a:p>
            <a:pPr algn="l"/>
            <a:r>
              <a:rPr sz="1300" b="1" i="0">
                <a:solidFill>
                  <a:srgbClr val="2A9D8F"/>
                </a:solidFill>
                <a:latin typeface="Arial"/>
              </a:rPr>
              <a:t>WHY</a:t>
            </a:r>
          </a:p>
        </p:txBody>
      </p:sp>
      <p:sp>
        <p:nvSpPr>
          <p:cNvPr id="26" name="TextBox 25"/>
          <p:cNvSpPr txBox="1"/>
          <p:nvPr/>
        </p:nvSpPr>
        <p:spPr>
          <a:xfrm>
            <a:off x="1005840" y="5943600"/>
            <a:ext cx="10149840" cy="548640"/>
          </a:xfrm>
          <a:prstGeom prst="rect">
            <a:avLst/>
          </a:prstGeom>
          <a:noFill/>
        </p:spPr>
        <p:txBody>
          <a:bodyPr wrap="square" anchor="t" lIns="0" rIns="0" tIns="0" bIns="0">
            <a:spAutoFit/>
          </a:bodyPr>
          <a:lstStyle/>
          <a:p>
            <a:pPr algn="l">
              <a:lnSpc>
                <a:spcPct val="105000"/>
              </a:lnSpc>
            </a:pPr>
            <a:r>
              <a:rPr sz="1450" b="0" i="0">
                <a:solidFill>
                  <a:srgbClr val="1D2433"/>
                </a:solidFill>
                <a:latin typeface="Calibri"/>
              </a:rPr>
              <a:t>Heat flows from hot to cold until both bodies are at the same temperature — thermal equilibrium — after which there is no net flow, whatever their masses.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F4801A"/>
                </a:solidFill>
                <a:latin typeface="Arial"/>
              </a:rPr>
              <a:t>QUIZ QUESTION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Q3 — Heat Balance</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When a hot metal is dropped into cool water (no heat lost to the surroundings):</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The water loses heat to the metal</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Heat gained by the water equals heat lost by the metal</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Both gain heat</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No heat moves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2A9D8F"/>
                </a:solidFill>
                <a:latin typeface="Arial"/>
              </a:rPr>
              <a:t>ANSWER REVEALED</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Q3 — Heat Balance</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When a hot metal is dropped into cool water (no heat lost to the surroundings):</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The water loses heat to the metal</a:t>
            </a:r>
          </a:p>
        </p:txBody>
      </p:sp>
      <p:sp>
        <p:nvSpPr>
          <p:cNvPr id="12" name="Rounded Rectangle 11"/>
          <p:cNvSpPr/>
          <p:nvPr/>
        </p:nvSpPr>
        <p:spPr>
          <a:xfrm>
            <a:off x="6172200" y="3337560"/>
            <a:ext cx="5349240" cy="868680"/>
          </a:xfrm>
          <a:prstGeom prst="roundRect">
            <a:avLst>
              <a:gd name="adj" fmla="val 12000"/>
            </a:avLst>
          </a:prstGeom>
          <a:solidFill>
            <a:srgbClr val="E9F5F0"/>
          </a:solidFill>
          <a:ln w="254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1" i="0">
                <a:solidFill>
                  <a:srgbClr val="1D2433"/>
                </a:solidFill>
                <a:latin typeface="Calibri"/>
              </a:rPr>
              <a:t>Heat gained by the water equals heat lost by the metal</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Both gain heat</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No heat moves</a:t>
            </a:r>
          </a:p>
        </p:txBody>
      </p:sp>
      <p:sp>
        <p:nvSpPr>
          <p:cNvPr id="24" name="Rounded Rectangle 23"/>
          <p:cNvSpPr/>
          <p:nvPr/>
        </p:nvSpPr>
        <p:spPr>
          <a:xfrm>
            <a:off x="640080" y="5440680"/>
            <a:ext cx="10881360" cy="109728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96128"/>
            <a:ext cx="4572000" cy="320040"/>
          </a:xfrm>
          <a:prstGeom prst="rect">
            <a:avLst/>
          </a:prstGeom>
          <a:noFill/>
        </p:spPr>
        <p:txBody>
          <a:bodyPr wrap="square" anchor="t" lIns="0" rIns="0" tIns="0" bIns="0">
            <a:spAutoFit/>
          </a:bodyPr>
          <a:lstStyle/>
          <a:p>
            <a:pPr algn="l"/>
            <a:r>
              <a:rPr sz="1300" b="1" i="0">
                <a:solidFill>
                  <a:srgbClr val="2A9D8F"/>
                </a:solidFill>
                <a:latin typeface="Arial"/>
              </a:rPr>
              <a:t>WHY</a:t>
            </a:r>
          </a:p>
        </p:txBody>
      </p:sp>
      <p:sp>
        <p:nvSpPr>
          <p:cNvPr id="26" name="TextBox 25"/>
          <p:cNvSpPr txBox="1"/>
          <p:nvPr/>
        </p:nvSpPr>
        <p:spPr>
          <a:xfrm>
            <a:off x="1005840" y="5943600"/>
            <a:ext cx="10149840" cy="548640"/>
          </a:xfrm>
          <a:prstGeom prst="rect">
            <a:avLst/>
          </a:prstGeom>
          <a:noFill/>
        </p:spPr>
        <p:txBody>
          <a:bodyPr wrap="square" anchor="t" lIns="0" rIns="0" tIns="0" bIns="0">
            <a:spAutoFit/>
          </a:bodyPr>
          <a:lstStyle/>
          <a:p>
            <a:pPr algn="l">
              <a:lnSpc>
                <a:spcPct val="105000"/>
              </a:lnSpc>
            </a:pPr>
            <a:r>
              <a:rPr sz="1450" b="0" i="0">
                <a:solidFill>
                  <a:srgbClr val="1D2433"/>
                </a:solidFill>
                <a:latin typeface="Calibri"/>
              </a:rPr>
              <a:t>By conservation of energy, every joule the hotter metal loses is gained by the cooler water until they reach a common temperature.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F4801A"/>
                </a:solidFill>
                <a:latin typeface="Arial"/>
              </a:rPr>
              <a:t>QUIZ QUESTION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Q4 — Define a Calorie</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One calorie is the heat needed to raise the temperature of:</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1 kg of water by 1 °C</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1 g of water by 1 °C</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1 g of any liquid by 1 K</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1 litre of water by 10 °C</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2A9D8F"/>
                </a:solidFill>
                <a:latin typeface="Arial"/>
              </a:rPr>
              <a:t>ANSWER REVEALED</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Q4 — Define a Calorie</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One calorie is the heat needed to raise the temperature of:</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1 kg of water by 1 °C</a:t>
            </a:r>
          </a:p>
        </p:txBody>
      </p:sp>
      <p:sp>
        <p:nvSpPr>
          <p:cNvPr id="12" name="Rounded Rectangle 11"/>
          <p:cNvSpPr/>
          <p:nvPr/>
        </p:nvSpPr>
        <p:spPr>
          <a:xfrm>
            <a:off x="6172200" y="3337560"/>
            <a:ext cx="5349240" cy="868680"/>
          </a:xfrm>
          <a:prstGeom prst="roundRect">
            <a:avLst>
              <a:gd name="adj" fmla="val 12000"/>
            </a:avLst>
          </a:prstGeom>
          <a:solidFill>
            <a:srgbClr val="E9F5F0"/>
          </a:solidFill>
          <a:ln w="254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1" i="0">
                <a:solidFill>
                  <a:srgbClr val="1D2433"/>
                </a:solidFill>
                <a:latin typeface="Calibri"/>
              </a:rPr>
              <a:t>1 g of water by 1 °C</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1 g of any liquid by 1 K</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1 litre of water by 10 °C</a:t>
            </a:r>
          </a:p>
        </p:txBody>
      </p:sp>
      <p:sp>
        <p:nvSpPr>
          <p:cNvPr id="24" name="Rounded Rectangle 23"/>
          <p:cNvSpPr/>
          <p:nvPr/>
        </p:nvSpPr>
        <p:spPr>
          <a:xfrm>
            <a:off x="640080" y="5440680"/>
            <a:ext cx="10881360" cy="109728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96128"/>
            <a:ext cx="4572000" cy="320040"/>
          </a:xfrm>
          <a:prstGeom prst="rect">
            <a:avLst/>
          </a:prstGeom>
          <a:noFill/>
        </p:spPr>
        <p:txBody>
          <a:bodyPr wrap="square" anchor="t" lIns="0" rIns="0" tIns="0" bIns="0">
            <a:spAutoFit/>
          </a:bodyPr>
          <a:lstStyle/>
          <a:p>
            <a:pPr algn="l"/>
            <a:r>
              <a:rPr sz="1300" b="1" i="0">
                <a:solidFill>
                  <a:srgbClr val="2A9D8F"/>
                </a:solidFill>
                <a:latin typeface="Arial"/>
              </a:rPr>
              <a:t>WHY</a:t>
            </a:r>
          </a:p>
        </p:txBody>
      </p:sp>
      <p:sp>
        <p:nvSpPr>
          <p:cNvPr id="26" name="TextBox 25"/>
          <p:cNvSpPr txBox="1"/>
          <p:nvPr/>
        </p:nvSpPr>
        <p:spPr>
          <a:xfrm>
            <a:off x="1005840" y="5943600"/>
            <a:ext cx="10149840" cy="548640"/>
          </a:xfrm>
          <a:prstGeom prst="rect">
            <a:avLst/>
          </a:prstGeom>
          <a:noFill/>
        </p:spPr>
        <p:txBody>
          <a:bodyPr wrap="square" anchor="t" lIns="0" rIns="0" tIns="0" bIns="0">
            <a:spAutoFit/>
          </a:bodyPr>
          <a:lstStyle/>
          <a:p>
            <a:pPr algn="l">
              <a:lnSpc>
                <a:spcPct val="105000"/>
              </a:lnSpc>
            </a:pPr>
            <a:r>
              <a:rPr sz="1450" b="0" i="0">
                <a:solidFill>
                  <a:srgbClr val="1D2433"/>
                </a:solidFill>
                <a:latin typeface="Calibri"/>
              </a:rPr>
              <a:t>A calorie raises 1 gram of water through 1 °C; a kilocalorie does the same for 1 kilogram. The SI unit, though, is the joule.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F4801A"/>
                </a:solidFill>
                <a:latin typeface="Arial"/>
              </a:rPr>
              <a:t>QUIZ QUESTION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Q5 — Absolute Zero</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The lowest possible temperature, 0 K, is equal to:</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0 °C</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−100 °C</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−273 °C</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273 °C</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2A9D8F"/>
                </a:solidFill>
                <a:latin typeface="Arial"/>
              </a:rPr>
              <a:t>ANSWER REVEALED</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Q5 — Absolute Zero</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The lowest possible temperature, 0 K, is equal to:</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0 °C</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−100 °C</a:t>
            </a:r>
          </a:p>
        </p:txBody>
      </p:sp>
      <p:sp>
        <p:nvSpPr>
          <p:cNvPr id="16" name="Rounded Rectangle 15"/>
          <p:cNvSpPr/>
          <p:nvPr/>
        </p:nvSpPr>
        <p:spPr>
          <a:xfrm>
            <a:off x="640080" y="4370831"/>
            <a:ext cx="5349240" cy="868680"/>
          </a:xfrm>
          <a:prstGeom prst="roundRect">
            <a:avLst>
              <a:gd name="adj" fmla="val 12000"/>
            </a:avLst>
          </a:prstGeom>
          <a:solidFill>
            <a:srgbClr val="E9F5F0"/>
          </a:solidFill>
          <a:ln w="254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1" i="0">
                <a:solidFill>
                  <a:srgbClr val="1D2433"/>
                </a:solidFill>
                <a:latin typeface="Calibri"/>
              </a:rPr>
              <a:t>−273 °C</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273 °C</a:t>
            </a:r>
          </a:p>
        </p:txBody>
      </p:sp>
      <p:sp>
        <p:nvSpPr>
          <p:cNvPr id="24" name="Rounded Rectangle 23"/>
          <p:cNvSpPr/>
          <p:nvPr/>
        </p:nvSpPr>
        <p:spPr>
          <a:xfrm>
            <a:off x="640080" y="5440680"/>
            <a:ext cx="10881360" cy="109728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96128"/>
            <a:ext cx="4572000" cy="320040"/>
          </a:xfrm>
          <a:prstGeom prst="rect">
            <a:avLst/>
          </a:prstGeom>
          <a:noFill/>
        </p:spPr>
        <p:txBody>
          <a:bodyPr wrap="square" anchor="t" lIns="0" rIns="0" tIns="0" bIns="0">
            <a:spAutoFit/>
          </a:bodyPr>
          <a:lstStyle/>
          <a:p>
            <a:pPr algn="l"/>
            <a:r>
              <a:rPr sz="1300" b="1" i="0">
                <a:solidFill>
                  <a:srgbClr val="2A9D8F"/>
                </a:solidFill>
                <a:latin typeface="Arial"/>
              </a:rPr>
              <a:t>WHY</a:t>
            </a:r>
          </a:p>
        </p:txBody>
      </p:sp>
      <p:sp>
        <p:nvSpPr>
          <p:cNvPr id="26" name="TextBox 25"/>
          <p:cNvSpPr txBox="1"/>
          <p:nvPr/>
        </p:nvSpPr>
        <p:spPr>
          <a:xfrm>
            <a:off x="1005840" y="5943600"/>
            <a:ext cx="10149840" cy="548640"/>
          </a:xfrm>
          <a:prstGeom prst="rect">
            <a:avLst/>
          </a:prstGeom>
          <a:noFill/>
        </p:spPr>
        <p:txBody>
          <a:bodyPr wrap="square" anchor="t" lIns="0" rIns="0" tIns="0" bIns="0">
            <a:spAutoFit/>
          </a:bodyPr>
          <a:lstStyle/>
          <a:p>
            <a:pPr algn="l">
              <a:lnSpc>
                <a:spcPct val="105000"/>
              </a:lnSpc>
            </a:pPr>
            <a:r>
              <a:rPr sz="1450" b="0" i="0">
                <a:solidFill>
                  <a:srgbClr val="1D2433"/>
                </a:solidFill>
                <a:latin typeface="Calibri"/>
              </a:rPr>
              <a:t>Absolute zero is 0 on the kelvin scale, which corresponds to −273 °C. No body can be cooled below this temperature.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D2433"/>
        </a:solidFill>
        <a:effectLst/>
      </p:bgPr>
    </p:bg>
    <p:spTree>
      <p:nvGrpSpPr>
        <p:cNvPr id="1" name=""/>
        <p:cNvGrpSpPr/>
        <p:nvPr/>
      </p:nvGrpSpPr>
      <p:grpSpPr/>
      <p:sp>
        <p:nvSpPr>
          <p:cNvPr id="2" name="Oval 1"/>
          <p:cNvSpPr/>
          <p:nvPr/>
        </p:nvSpPr>
        <p:spPr>
          <a:xfrm>
            <a:off x="8595360" y="-1463040"/>
            <a:ext cx="4937760" cy="493776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03920" y="3108960"/>
            <a:ext cx="3383280" cy="2743200"/>
          </a:xfrm>
          <a:prstGeom prst="rect">
            <a:avLst/>
          </a:prstGeom>
          <a:noFill/>
        </p:spPr>
        <p:txBody>
          <a:bodyPr wrap="square" anchor="t" lIns="0" rIns="0" tIns="0" bIns="0">
            <a:spAutoFit/>
          </a:bodyPr>
          <a:lstStyle/>
          <a:p>
            <a:pPr algn="r"/>
            <a:r>
              <a:rPr sz="20000" b="1" i="0">
                <a:solidFill>
                  <a:srgbClr val="263149"/>
                </a:solidFill>
                <a:latin typeface="Calibri"/>
              </a:rPr>
              <a:t>2</a:t>
            </a:r>
          </a:p>
        </p:txBody>
      </p:sp>
      <p:sp>
        <p:nvSpPr>
          <p:cNvPr id="4" name="TextBox 3"/>
          <p:cNvSpPr txBox="1"/>
          <p:nvPr/>
        </p:nvSpPr>
        <p:spPr>
          <a:xfrm>
            <a:off x="777240" y="2148840"/>
            <a:ext cx="6949440" cy="457200"/>
          </a:xfrm>
          <a:prstGeom prst="rect">
            <a:avLst/>
          </a:prstGeom>
          <a:noFill/>
        </p:spPr>
        <p:txBody>
          <a:bodyPr wrap="square" anchor="t" lIns="0" rIns="0" tIns="0" bIns="0">
            <a:spAutoFit/>
          </a:bodyPr>
          <a:lstStyle/>
          <a:p>
            <a:pPr algn="l"/>
            <a:r>
              <a:rPr sz="1600" b="1" i="0">
                <a:solidFill>
                  <a:srgbClr val="FFC300"/>
                </a:solidFill>
                <a:latin typeface="Arial"/>
              </a:rPr>
              <a:t>PART 2</a:t>
            </a:r>
          </a:p>
        </p:txBody>
      </p:sp>
      <p:sp>
        <p:nvSpPr>
          <p:cNvPr id="5" name="TextBox 4"/>
          <p:cNvSpPr txBox="1"/>
          <p:nvPr/>
        </p:nvSpPr>
        <p:spPr>
          <a:xfrm>
            <a:off x="777240" y="2697480"/>
            <a:ext cx="7498079" cy="1097280"/>
          </a:xfrm>
          <a:prstGeom prst="rect">
            <a:avLst/>
          </a:prstGeom>
          <a:noFill/>
        </p:spPr>
        <p:txBody>
          <a:bodyPr wrap="square" anchor="t" lIns="0" rIns="0" tIns="0" bIns="0">
            <a:spAutoFit/>
          </a:bodyPr>
          <a:lstStyle/>
          <a:p>
            <a:pPr algn="l"/>
            <a:r>
              <a:rPr sz="4200" b="1" i="0">
                <a:solidFill>
                  <a:srgbClr val="FFFFFF"/>
                </a:solidFill>
                <a:latin typeface="Calibri"/>
              </a:rPr>
              <a:t>Effects of Heat &amp; Expansion</a:t>
            </a:r>
          </a:p>
        </p:txBody>
      </p:sp>
      <p:sp>
        <p:nvSpPr>
          <p:cNvPr id="6" name="TextBox 5"/>
          <p:cNvSpPr txBox="1"/>
          <p:nvPr/>
        </p:nvSpPr>
        <p:spPr>
          <a:xfrm>
            <a:off x="777240" y="4114800"/>
            <a:ext cx="7315200" cy="822960"/>
          </a:xfrm>
          <a:prstGeom prst="rect">
            <a:avLst/>
          </a:prstGeom>
          <a:noFill/>
        </p:spPr>
        <p:txBody>
          <a:bodyPr wrap="square" anchor="t" lIns="0" rIns="0" tIns="0" bIns="0">
            <a:spAutoFit/>
          </a:bodyPr>
          <a:lstStyle/>
          <a:p>
            <a:pPr algn="l"/>
            <a:r>
              <a:rPr sz="1800" b="0" i="0">
                <a:solidFill>
                  <a:srgbClr val="CADCFC"/>
                </a:solidFill>
                <a:latin typeface="Calibri"/>
              </a:rPr>
              <a:t>What heat does to matter, and how things expand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F4801A"/>
                </a:solidFill>
                <a:latin typeface="Arial"/>
              </a:rPr>
              <a:t>EFFECTS OF HEAT</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What Heat Energy Does to a Body</a:t>
            </a:r>
          </a:p>
        </p:txBody>
      </p:sp>
      <p:sp>
        <p:nvSpPr>
          <p:cNvPr id="6" name="Rounded Rectangle 5"/>
          <p:cNvSpPr/>
          <p:nvPr/>
        </p:nvSpPr>
        <p:spPr>
          <a:xfrm>
            <a:off x="640080" y="1920240"/>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60119" y="2212848"/>
            <a:ext cx="502920" cy="502920"/>
          </a:xfrm>
          <a:prstGeom prst="roundRect">
            <a:avLst>
              <a:gd name="adj" fmla="val 30000"/>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hermometer_FFFFFF.png"/>
          <p:cNvPicPr>
            <a:picLocks noChangeAspect="1"/>
          </p:cNvPicPr>
          <p:nvPr/>
        </p:nvPicPr>
        <p:blipFill>
          <a:blip r:embed="rId2"/>
          <a:stretch>
            <a:fillRect/>
          </a:stretch>
        </p:blipFill>
        <p:spPr>
          <a:xfrm>
            <a:off x="1070762" y="2323490"/>
            <a:ext cx="281635" cy="281635"/>
          </a:xfrm>
          <a:prstGeom prst="rect">
            <a:avLst/>
          </a:prstGeom>
        </p:spPr>
      </p:pic>
      <p:sp>
        <p:nvSpPr>
          <p:cNvPr id="9" name="TextBox 8"/>
          <p:cNvSpPr txBox="1"/>
          <p:nvPr/>
        </p:nvSpPr>
        <p:spPr>
          <a:xfrm>
            <a:off x="1645920" y="2176272"/>
            <a:ext cx="3931920" cy="457200"/>
          </a:xfrm>
          <a:prstGeom prst="rect">
            <a:avLst/>
          </a:prstGeom>
          <a:noFill/>
        </p:spPr>
        <p:txBody>
          <a:bodyPr wrap="square" anchor="t" lIns="0" rIns="0" tIns="0" bIns="0">
            <a:spAutoFit/>
          </a:bodyPr>
          <a:lstStyle/>
          <a:p>
            <a:pPr algn="l"/>
            <a:r>
              <a:rPr sz="1700" b="1" i="0">
                <a:solidFill>
                  <a:srgbClr val="1D2433"/>
                </a:solidFill>
                <a:latin typeface="Calibri"/>
              </a:rPr>
              <a:t>Temperature rises</a:t>
            </a:r>
          </a:p>
        </p:txBody>
      </p:sp>
      <p:sp>
        <p:nvSpPr>
          <p:cNvPr id="10" name="TextBox 9"/>
          <p:cNvSpPr txBox="1"/>
          <p:nvPr/>
        </p:nvSpPr>
        <p:spPr>
          <a:xfrm>
            <a:off x="1645920" y="2670048"/>
            <a:ext cx="3931920" cy="685800"/>
          </a:xfrm>
          <a:prstGeom prst="rect">
            <a:avLst/>
          </a:prstGeom>
          <a:noFill/>
        </p:spPr>
        <p:txBody>
          <a:bodyPr wrap="square" anchor="t" lIns="0" rIns="0" tIns="0" bIns="0">
            <a:spAutoFit/>
          </a:bodyPr>
          <a:lstStyle/>
          <a:p>
            <a:pPr algn="l"/>
            <a:r>
              <a:rPr sz="1350" b="0" i="0">
                <a:solidFill>
                  <a:srgbClr val="6B7280"/>
                </a:solidFill>
                <a:latin typeface="Calibri"/>
              </a:rPr>
              <a:t>Supplying heat usually makes a body hotter.</a:t>
            </a:r>
          </a:p>
        </p:txBody>
      </p:sp>
      <p:sp>
        <p:nvSpPr>
          <p:cNvPr id="11" name="Rounded Rectangle 10"/>
          <p:cNvSpPr/>
          <p:nvPr/>
        </p:nvSpPr>
        <p:spPr>
          <a:xfrm>
            <a:off x="6217920" y="1920240"/>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37960" y="2212848"/>
            <a:ext cx="502920" cy="502920"/>
          </a:xfrm>
          <a:prstGeom prst="roundRect">
            <a:avLst>
              <a:gd name="adj" fmla="val 30000"/>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park_FFFFFF.png"/>
          <p:cNvPicPr>
            <a:picLocks noChangeAspect="1"/>
          </p:cNvPicPr>
          <p:nvPr/>
        </p:nvPicPr>
        <p:blipFill>
          <a:blip r:embed="rId3"/>
          <a:stretch>
            <a:fillRect/>
          </a:stretch>
        </p:blipFill>
        <p:spPr>
          <a:xfrm>
            <a:off x="6648602" y="2323490"/>
            <a:ext cx="281635" cy="281635"/>
          </a:xfrm>
          <a:prstGeom prst="rect">
            <a:avLst/>
          </a:prstGeom>
        </p:spPr>
      </p:pic>
      <p:sp>
        <p:nvSpPr>
          <p:cNvPr id="14" name="TextBox 13"/>
          <p:cNvSpPr txBox="1"/>
          <p:nvPr/>
        </p:nvSpPr>
        <p:spPr>
          <a:xfrm>
            <a:off x="7223760" y="2176272"/>
            <a:ext cx="3931920" cy="457200"/>
          </a:xfrm>
          <a:prstGeom prst="rect">
            <a:avLst/>
          </a:prstGeom>
          <a:noFill/>
        </p:spPr>
        <p:txBody>
          <a:bodyPr wrap="square" anchor="t" lIns="0" rIns="0" tIns="0" bIns="0">
            <a:spAutoFit/>
          </a:bodyPr>
          <a:lstStyle/>
          <a:p>
            <a:pPr algn="l"/>
            <a:r>
              <a:rPr sz="1700" b="1" i="0">
                <a:solidFill>
                  <a:srgbClr val="1D2433"/>
                </a:solidFill>
                <a:latin typeface="Calibri"/>
              </a:rPr>
              <a:t>Change of state</a:t>
            </a:r>
          </a:p>
        </p:txBody>
      </p:sp>
      <p:sp>
        <p:nvSpPr>
          <p:cNvPr id="15" name="TextBox 14"/>
          <p:cNvSpPr txBox="1"/>
          <p:nvPr/>
        </p:nvSpPr>
        <p:spPr>
          <a:xfrm>
            <a:off x="7223760" y="2670048"/>
            <a:ext cx="3931920" cy="685800"/>
          </a:xfrm>
          <a:prstGeom prst="rect">
            <a:avLst/>
          </a:prstGeom>
          <a:noFill/>
        </p:spPr>
        <p:txBody>
          <a:bodyPr wrap="square" anchor="t" lIns="0" rIns="0" tIns="0" bIns="0">
            <a:spAutoFit/>
          </a:bodyPr>
          <a:lstStyle/>
          <a:p>
            <a:pPr algn="l"/>
            <a:r>
              <a:rPr sz="1350" b="0" i="0">
                <a:solidFill>
                  <a:srgbClr val="6B7280"/>
                </a:solidFill>
                <a:latin typeface="Calibri"/>
              </a:rPr>
              <a:t>Heat can melt a solid or boil a liquid.</a:t>
            </a:r>
          </a:p>
        </p:txBody>
      </p:sp>
      <p:sp>
        <p:nvSpPr>
          <p:cNvPr id="16" name="Rounded Rectangle 15"/>
          <p:cNvSpPr/>
          <p:nvPr/>
        </p:nvSpPr>
        <p:spPr>
          <a:xfrm>
            <a:off x="640080" y="3749039"/>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60119" y="4041648"/>
            <a:ext cx="502920" cy="502920"/>
          </a:xfrm>
          <a:prstGeom prst="roundRect">
            <a:avLst>
              <a:gd name="adj" fmla="val 3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spark_FFFFFF.png"/>
          <p:cNvPicPr>
            <a:picLocks noChangeAspect="1"/>
          </p:cNvPicPr>
          <p:nvPr/>
        </p:nvPicPr>
        <p:blipFill>
          <a:blip r:embed="rId3"/>
          <a:stretch>
            <a:fillRect/>
          </a:stretch>
        </p:blipFill>
        <p:spPr>
          <a:xfrm>
            <a:off x="1070762" y="4152290"/>
            <a:ext cx="281635" cy="281635"/>
          </a:xfrm>
          <a:prstGeom prst="rect">
            <a:avLst/>
          </a:prstGeom>
        </p:spPr>
      </p:pic>
      <p:sp>
        <p:nvSpPr>
          <p:cNvPr id="19" name="TextBox 18"/>
          <p:cNvSpPr txBox="1"/>
          <p:nvPr/>
        </p:nvSpPr>
        <p:spPr>
          <a:xfrm>
            <a:off x="1645920" y="4005072"/>
            <a:ext cx="3931920" cy="457200"/>
          </a:xfrm>
          <a:prstGeom prst="rect">
            <a:avLst/>
          </a:prstGeom>
          <a:noFill/>
        </p:spPr>
        <p:txBody>
          <a:bodyPr wrap="square" anchor="t" lIns="0" rIns="0" tIns="0" bIns="0">
            <a:spAutoFit/>
          </a:bodyPr>
          <a:lstStyle/>
          <a:p>
            <a:pPr algn="l"/>
            <a:r>
              <a:rPr sz="1700" b="1" i="0">
                <a:solidFill>
                  <a:srgbClr val="1D2433"/>
                </a:solidFill>
                <a:latin typeface="Calibri"/>
              </a:rPr>
              <a:t>Expansion</a:t>
            </a:r>
          </a:p>
        </p:txBody>
      </p:sp>
      <p:sp>
        <p:nvSpPr>
          <p:cNvPr id="20" name="TextBox 19"/>
          <p:cNvSpPr txBox="1"/>
          <p:nvPr/>
        </p:nvSpPr>
        <p:spPr>
          <a:xfrm>
            <a:off x="1645920" y="4498848"/>
            <a:ext cx="3931920" cy="685800"/>
          </a:xfrm>
          <a:prstGeom prst="rect">
            <a:avLst/>
          </a:prstGeom>
          <a:noFill/>
        </p:spPr>
        <p:txBody>
          <a:bodyPr wrap="square" anchor="t" lIns="0" rIns="0" tIns="0" bIns="0">
            <a:spAutoFit/>
          </a:bodyPr>
          <a:lstStyle/>
          <a:p>
            <a:pPr algn="l"/>
            <a:r>
              <a:rPr sz="1350" b="0" i="0">
                <a:solidFill>
                  <a:srgbClr val="6B7280"/>
                </a:solidFill>
                <a:latin typeface="Calibri"/>
              </a:rPr>
              <a:t>Almost all substances expand when heated.</a:t>
            </a:r>
          </a:p>
        </p:txBody>
      </p:sp>
      <p:sp>
        <p:nvSpPr>
          <p:cNvPr id="21" name="Rounded Rectangle 20"/>
          <p:cNvSpPr/>
          <p:nvPr/>
        </p:nvSpPr>
        <p:spPr>
          <a:xfrm>
            <a:off x="6217920" y="3749039"/>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537960" y="4041648"/>
            <a:ext cx="502920" cy="502920"/>
          </a:xfrm>
          <a:prstGeom prst="roundRect">
            <a:avLst>
              <a:gd name="adj" fmla="val 30000"/>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spark_FFFFFF.png"/>
          <p:cNvPicPr>
            <a:picLocks noChangeAspect="1"/>
          </p:cNvPicPr>
          <p:nvPr/>
        </p:nvPicPr>
        <p:blipFill>
          <a:blip r:embed="rId3"/>
          <a:stretch>
            <a:fillRect/>
          </a:stretch>
        </p:blipFill>
        <p:spPr>
          <a:xfrm>
            <a:off x="6648602" y="4152290"/>
            <a:ext cx="281635" cy="281635"/>
          </a:xfrm>
          <a:prstGeom prst="rect">
            <a:avLst/>
          </a:prstGeom>
        </p:spPr>
      </p:pic>
      <p:sp>
        <p:nvSpPr>
          <p:cNvPr id="24" name="TextBox 23"/>
          <p:cNvSpPr txBox="1"/>
          <p:nvPr/>
        </p:nvSpPr>
        <p:spPr>
          <a:xfrm>
            <a:off x="7223760" y="4005072"/>
            <a:ext cx="3931920" cy="457200"/>
          </a:xfrm>
          <a:prstGeom prst="rect">
            <a:avLst/>
          </a:prstGeom>
          <a:noFill/>
        </p:spPr>
        <p:txBody>
          <a:bodyPr wrap="square" anchor="t" lIns="0" rIns="0" tIns="0" bIns="0">
            <a:spAutoFit/>
          </a:bodyPr>
          <a:lstStyle/>
          <a:p>
            <a:pPr algn="l"/>
            <a:r>
              <a:rPr sz="1700" b="1" i="0">
                <a:solidFill>
                  <a:srgbClr val="1D2433"/>
                </a:solidFill>
                <a:latin typeface="Calibri"/>
              </a:rPr>
              <a:t>Proportional</a:t>
            </a:r>
          </a:p>
        </p:txBody>
      </p:sp>
      <p:sp>
        <p:nvSpPr>
          <p:cNvPr id="25" name="TextBox 24"/>
          <p:cNvSpPr txBox="1"/>
          <p:nvPr/>
        </p:nvSpPr>
        <p:spPr>
          <a:xfrm>
            <a:off x="7223760" y="4498848"/>
            <a:ext cx="3931920" cy="685800"/>
          </a:xfrm>
          <a:prstGeom prst="rect">
            <a:avLst/>
          </a:prstGeom>
          <a:noFill/>
        </p:spPr>
        <p:txBody>
          <a:bodyPr wrap="square" anchor="t" lIns="0" rIns="0" tIns="0" bIns="0">
            <a:spAutoFit/>
          </a:bodyPr>
          <a:lstStyle/>
          <a:p>
            <a:pPr algn="l"/>
            <a:r>
              <a:rPr sz="1350" b="0" i="0">
                <a:solidFill>
                  <a:srgbClr val="6B7280"/>
                </a:solidFill>
                <a:latin typeface="Calibri"/>
              </a:rPr>
              <a:t>The temperature rise is proportional to the heat supplied, and depends on the mass and nature of the substance.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F4801A"/>
                </a:solidFill>
                <a:latin typeface="Arial"/>
              </a:rPr>
              <a:t>WHY EXPAND</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Thermal Expansion</a:t>
            </a:r>
          </a:p>
        </p:txBody>
      </p:sp>
      <p:sp>
        <p:nvSpPr>
          <p:cNvPr id="6" name="Rounded Rectangle 5"/>
          <p:cNvSpPr/>
          <p:nvPr/>
        </p:nvSpPr>
        <p:spPr>
          <a:xfrm>
            <a:off x="640080" y="1828800"/>
            <a:ext cx="10881360" cy="1371600"/>
          </a:xfrm>
          <a:prstGeom prst="roundRect">
            <a:avLst>
              <a:gd name="adj" fmla="val 6000"/>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49840" cy="1371600"/>
          </a:xfrm>
          <a:prstGeom prst="rect">
            <a:avLst/>
          </a:prstGeom>
          <a:noFill/>
        </p:spPr>
        <p:txBody>
          <a:bodyPr wrap="square" anchor="ctr" lIns="0" rIns="0" tIns="0" bIns="0">
            <a:spAutoFit/>
          </a:bodyPr>
          <a:lstStyle/>
          <a:p>
            <a:pPr algn="l"/>
            <a:r>
              <a:rPr sz="1900" b="1" i="0">
                <a:solidFill>
                  <a:srgbClr val="FFFFFF"/>
                </a:solidFill>
                <a:latin typeface="Calibri"/>
              </a:rPr>
              <a:t>When a substance is heated, its particles vibrate or move more and push a little further apart, so the substance expands.</a:t>
            </a:r>
          </a:p>
        </p:txBody>
      </p:sp>
      <p:sp>
        <p:nvSpPr>
          <p:cNvPr id="8" name="TextBox 7"/>
          <p:cNvSpPr txBox="1"/>
          <p:nvPr/>
        </p:nvSpPr>
        <p:spPr>
          <a:xfrm>
            <a:off x="1005840" y="3474720"/>
            <a:ext cx="10058400" cy="2423160"/>
          </a:xfrm>
          <a:prstGeom prst="rect">
            <a:avLst/>
          </a:prstGeom>
          <a:noFill/>
        </p:spPr>
        <p:txBody>
          <a:bodyPr wrap="square" anchor="t" lIns="0" rIns="0" tIns="0" bIns="0">
            <a:spAutoFit/>
          </a:bodyPr>
          <a:lstStyle/>
          <a:p>
            <a:pPr algn="l">
              <a:spcAft>
                <a:spcPts val="900"/>
              </a:spcAft>
            </a:pPr>
            <a:r>
              <a:rPr sz="1500" b="1" i="0">
                <a:solidFill>
                  <a:srgbClr val="F4801A"/>
                </a:solidFill>
                <a:latin typeface="Calibri"/>
              </a:rPr>
              <a:t>•  </a:t>
            </a:r>
            <a:r>
              <a:rPr sz="1500" b="0" i="0">
                <a:solidFill>
                  <a:srgbClr val="1D2433"/>
                </a:solidFill>
                <a:latin typeface="Calibri"/>
              </a:rPr>
              <a:t>For the same temperature rise, gases expand most, then liquids, then solids.</a:t>
            </a:r>
          </a:p>
          <a:p>
            <a:pPr algn="l">
              <a:spcAft>
                <a:spcPts val="900"/>
              </a:spcAft>
            </a:pPr>
            <a:r>
              <a:rPr sz="1500" b="1" i="0">
                <a:solidFill>
                  <a:srgbClr val="F4801A"/>
                </a:solidFill>
                <a:latin typeface="Calibri"/>
              </a:rPr>
              <a:t>•  </a:t>
            </a:r>
            <a:r>
              <a:rPr sz="1500" b="0" i="0">
                <a:solidFill>
                  <a:srgbClr val="1D2433"/>
                </a:solidFill>
                <a:latin typeface="Calibri"/>
              </a:rPr>
              <a:t>Solids expand least because of their rigid structure.</a:t>
            </a:r>
          </a:p>
          <a:p>
            <a:pPr algn="l">
              <a:spcAft>
                <a:spcPts val="900"/>
              </a:spcAft>
            </a:pPr>
            <a:r>
              <a:rPr sz="1500" b="1" i="0">
                <a:solidFill>
                  <a:srgbClr val="F4801A"/>
                </a:solidFill>
                <a:latin typeface="Calibri"/>
              </a:rPr>
              <a:t>•  </a:t>
            </a:r>
            <a:r>
              <a:rPr sz="1500" b="0" i="0">
                <a:solidFill>
                  <a:srgbClr val="1D2433"/>
                </a:solidFill>
                <a:latin typeface="Calibri"/>
              </a:rPr>
              <a:t>On cooling, substances contract again.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F4801A"/>
                </a:solidFill>
                <a:latin typeface="Arial"/>
              </a:rPr>
              <a:t>EXPANSION OF SOLIDS</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Three Kinds of Expansion in Solids</a:t>
            </a:r>
          </a:p>
        </p:txBody>
      </p:sp>
      <p:pic>
        <p:nvPicPr>
          <p:cNvPr id="6" name="Picture 5" descr="g10tp_expansion.png"/>
          <p:cNvPicPr>
            <a:picLocks noChangeAspect="1"/>
          </p:cNvPicPr>
          <p:nvPr/>
        </p:nvPicPr>
        <p:blipFill>
          <a:blip r:embed="rId2"/>
          <a:stretch>
            <a:fillRect/>
          </a:stretch>
        </p:blipFill>
        <p:spPr>
          <a:xfrm>
            <a:off x="5699455" y="2240280"/>
            <a:ext cx="5669280" cy="3108960"/>
          </a:xfrm>
          <a:prstGeom prst="rect">
            <a:avLst/>
          </a:prstGeom>
        </p:spPr>
      </p:pic>
      <p:sp>
        <p:nvSpPr>
          <p:cNvPr id="7" name="TextBox 6"/>
          <p:cNvSpPr txBox="1"/>
          <p:nvPr/>
        </p:nvSpPr>
        <p:spPr>
          <a:xfrm>
            <a:off x="5699455" y="5404103"/>
            <a:ext cx="5669280" cy="274320"/>
          </a:xfrm>
          <a:prstGeom prst="rect">
            <a:avLst/>
          </a:prstGeom>
          <a:noFill/>
        </p:spPr>
        <p:txBody>
          <a:bodyPr wrap="square" anchor="t" lIns="0" rIns="0" tIns="0" bIns="0">
            <a:spAutoFit/>
          </a:bodyPr>
          <a:lstStyle/>
          <a:p>
            <a:pPr algn="ctr"/>
            <a:r>
              <a:rPr sz="1100" b="0" i="1">
                <a:solidFill>
                  <a:srgbClr val="6B7280"/>
                </a:solidFill>
                <a:latin typeface="Calibri"/>
              </a:rPr>
              <a:t>Linear, superficial and cubical expansion</a:t>
            </a:r>
          </a:p>
        </p:txBody>
      </p:sp>
      <p:sp>
        <p:nvSpPr>
          <p:cNvPr id="8" name="Rounded Rectangle 7"/>
          <p:cNvSpPr/>
          <p:nvPr/>
        </p:nvSpPr>
        <p:spPr>
          <a:xfrm>
            <a:off x="822960" y="1828800"/>
            <a:ext cx="5669280" cy="393192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057400"/>
            <a:ext cx="5029200" cy="411480"/>
          </a:xfrm>
          <a:prstGeom prst="rect">
            <a:avLst/>
          </a:prstGeom>
          <a:noFill/>
        </p:spPr>
        <p:txBody>
          <a:bodyPr wrap="square" anchor="t" lIns="0" rIns="0" tIns="0" bIns="0">
            <a:spAutoFit/>
          </a:bodyPr>
          <a:lstStyle/>
          <a:p>
            <a:pPr algn="l"/>
            <a:r>
              <a:rPr sz="1800" b="1" i="0">
                <a:solidFill>
                  <a:srgbClr val="F4801A"/>
                </a:solidFill>
                <a:latin typeface="Calibri"/>
              </a:rPr>
              <a:t>Length, area and volume</a:t>
            </a:r>
          </a:p>
        </p:txBody>
      </p:sp>
      <p:sp>
        <p:nvSpPr>
          <p:cNvPr id="10" name="TextBox 9"/>
          <p:cNvSpPr txBox="1"/>
          <p:nvPr/>
        </p:nvSpPr>
        <p:spPr>
          <a:xfrm>
            <a:off x="1143000" y="2606040"/>
            <a:ext cx="5074920" cy="3063240"/>
          </a:xfrm>
          <a:prstGeom prst="rect">
            <a:avLst/>
          </a:prstGeom>
          <a:noFill/>
        </p:spPr>
        <p:txBody>
          <a:bodyPr wrap="square" anchor="t" lIns="0" rIns="0" tIns="0" bIns="0">
            <a:spAutoFit/>
          </a:bodyPr>
          <a:lstStyle/>
          <a:p>
            <a:pPr algn="l">
              <a:lnSpc>
                <a:spcPct val="105000"/>
              </a:lnSpc>
              <a:spcAft>
                <a:spcPts val="900"/>
              </a:spcAft>
            </a:pPr>
            <a:r>
              <a:rPr sz="1500" b="1" i="0">
                <a:solidFill>
                  <a:srgbClr val="F4801A"/>
                </a:solidFill>
                <a:latin typeface="Calibri"/>
              </a:rPr>
              <a:t>•  </a:t>
            </a:r>
            <a:r>
              <a:rPr sz="1500" b="0" i="0">
                <a:solidFill>
                  <a:srgbClr val="1D2433"/>
                </a:solidFill>
                <a:latin typeface="Calibri"/>
              </a:rPr>
              <a:t>Linear expansion: a change in length (a rod gets longer).</a:t>
            </a:r>
          </a:p>
          <a:p>
            <a:pPr algn="l">
              <a:lnSpc>
                <a:spcPct val="105000"/>
              </a:lnSpc>
              <a:spcAft>
                <a:spcPts val="900"/>
              </a:spcAft>
            </a:pPr>
            <a:r>
              <a:rPr sz="1500" b="1" i="0">
                <a:solidFill>
                  <a:srgbClr val="F4801A"/>
                </a:solidFill>
                <a:latin typeface="Calibri"/>
              </a:rPr>
              <a:t>•  </a:t>
            </a:r>
            <a:r>
              <a:rPr sz="1500" b="0" i="0">
                <a:solidFill>
                  <a:srgbClr val="1D2433"/>
                </a:solidFill>
                <a:latin typeface="Calibri"/>
              </a:rPr>
              <a:t>Superficial expansion: a change in area (a plate grows).</a:t>
            </a:r>
          </a:p>
          <a:p>
            <a:pPr algn="l">
              <a:lnSpc>
                <a:spcPct val="105000"/>
              </a:lnSpc>
              <a:spcAft>
                <a:spcPts val="900"/>
              </a:spcAft>
            </a:pPr>
            <a:r>
              <a:rPr sz="1500" b="1" i="0">
                <a:solidFill>
                  <a:srgbClr val="F4801A"/>
                </a:solidFill>
                <a:latin typeface="Calibri"/>
              </a:rPr>
              <a:t>•  </a:t>
            </a:r>
            <a:r>
              <a:rPr sz="1500" b="0" i="0">
                <a:solidFill>
                  <a:srgbClr val="1D2433"/>
                </a:solidFill>
                <a:latin typeface="Calibri"/>
              </a:rPr>
              <a:t>Cubical expansion: a change in volume (a block grows).</a:t>
            </a:r>
          </a:p>
          <a:p>
            <a:pPr algn="l">
              <a:lnSpc>
                <a:spcPct val="105000"/>
              </a:lnSpc>
              <a:spcAft>
                <a:spcPts val="900"/>
              </a:spcAft>
            </a:pPr>
            <a:r>
              <a:rPr sz="1500" b="1" i="0">
                <a:solidFill>
                  <a:srgbClr val="F4801A"/>
                </a:solidFill>
                <a:latin typeface="Calibri"/>
              </a:rPr>
              <a:t>•  </a:t>
            </a:r>
            <a:r>
              <a:rPr sz="1500" b="0" i="0">
                <a:solidFill>
                  <a:srgbClr val="1D2433"/>
                </a:solidFill>
                <a:latin typeface="Calibri"/>
              </a:rPr>
              <a:t>Each is described by its own coefficient of expansion, with unit K⁻¹.</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F4801A"/>
                </a:solidFill>
                <a:latin typeface="Arial"/>
              </a:rPr>
              <a:t>LINEAR EXPANSION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Linear (Longitudinal) Expansion</a:t>
            </a:r>
          </a:p>
        </p:txBody>
      </p:sp>
      <p:sp>
        <p:nvSpPr>
          <p:cNvPr id="6" name="Rounded Rectangle 5"/>
          <p:cNvSpPr/>
          <p:nvPr/>
        </p:nvSpPr>
        <p:spPr>
          <a:xfrm>
            <a:off x="640080" y="1828800"/>
            <a:ext cx="10881360" cy="1371600"/>
          </a:xfrm>
          <a:prstGeom prst="roundRect">
            <a:avLst>
              <a:gd name="adj" fmla="val 6000"/>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49840" cy="1371600"/>
          </a:xfrm>
          <a:prstGeom prst="rect">
            <a:avLst/>
          </a:prstGeom>
          <a:noFill/>
        </p:spPr>
        <p:txBody>
          <a:bodyPr wrap="square" anchor="ctr" lIns="0" rIns="0" tIns="0" bIns="0">
            <a:spAutoFit/>
          </a:bodyPr>
          <a:lstStyle/>
          <a:p>
            <a:pPr algn="l"/>
            <a:r>
              <a:rPr sz="1900" b="1" i="0">
                <a:solidFill>
                  <a:srgbClr val="FFFFFF"/>
                </a:solidFill>
                <a:latin typeface="Calibri"/>
              </a:rPr>
              <a:t>When a body is heated, the change in its length per unit length per degree rise is its coefficient of linear expansion.</a:t>
            </a:r>
          </a:p>
        </p:txBody>
      </p:sp>
      <p:sp>
        <p:nvSpPr>
          <p:cNvPr id="8" name="Rounded Rectangle 7"/>
          <p:cNvSpPr/>
          <p:nvPr/>
        </p:nvSpPr>
        <p:spPr>
          <a:xfrm>
            <a:off x="640080" y="3429000"/>
            <a:ext cx="10881360" cy="914400"/>
          </a:xfrm>
          <a:prstGeom prst="roundRect">
            <a:avLst>
              <a:gd name="adj" fmla="val 8000"/>
            </a:avLst>
          </a:prstGeom>
          <a:solidFill>
            <a:srgbClr val="FFF6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3429000"/>
            <a:ext cx="10149840" cy="914400"/>
          </a:xfrm>
          <a:prstGeom prst="rect">
            <a:avLst/>
          </a:prstGeom>
          <a:noFill/>
        </p:spPr>
        <p:txBody>
          <a:bodyPr wrap="square" anchor="ctr" lIns="0" rIns="0" tIns="0" bIns="0">
            <a:spAutoFit/>
          </a:bodyPr>
          <a:lstStyle/>
          <a:p>
            <a:pPr algn="ctr"/>
            <a:r>
              <a:rPr sz="2400" b="1" i="0">
                <a:solidFill>
                  <a:srgbClr val="F4801A"/>
                </a:solidFill>
                <a:latin typeface="Calibri"/>
              </a:rPr>
              <a:t>ΔL / L₀ = αʟ ΔT        (αʟ in K⁻¹)</a:t>
            </a:r>
          </a:p>
        </p:txBody>
      </p:sp>
      <p:sp>
        <p:nvSpPr>
          <p:cNvPr id="10" name="TextBox 9"/>
          <p:cNvSpPr txBox="1"/>
          <p:nvPr/>
        </p:nvSpPr>
        <p:spPr>
          <a:xfrm>
            <a:off x="1005840" y="4572000"/>
            <a:ext cx="10058400" cy="1325880"/>
          </a:xfrm>
          <a:prstGeom prst="rect">
            <a:avLst/>
          </a:prstGeom>
          <a:noFill/>
        </p:spPr>
        <p:txBody>
          <a:bodyPr wrap="square" anchor="t" lIns="0" rIns="0" tIns="0" bIns="0">
            <a:spAutoFit/>
          </a:bodyPr>
          <a:lstStyle/>
          <a:p>
            <a:pPr algn="l">
              <a:spcAft>
                <a:spcPts val="900"/>
              </a:spcAft>
            </a:pPr>
            <a:r>
              <a:rPr sz="1500" b="1" i="0">
                <a:solidFill>
                  <a:srgbClr val="F4801A"/>
                </a:solidFill>
                <a:latin typeface="Calibri"/>
              </a:rPr>
              <a:t>•  </a:t>
            </a:r>
            <a:r>
              <a:rPr sz="1500" b="0" i="0">
                <a:solidFill>
                  <a:srgbClr val="1D2433"/>
                </a:solidFill>
                <a:latin typeface="Calibri"/>
              </a:rPr>
              <a:t>ΔL = change in length, L₀ = original length.</a:t>
            </a:r>
          </a:p>
          <a:p>
            <a:pPr algn="l">
              <a:spcAft>
                <a:spcPts val="900"/>
              </a:spcAft>
            </a:pPr>
            <a:r>
              <a:rPr sz="1500" b="1" i="0">
                <a:solidFill>
                  <a:srgbClr val="F4801A"/>
                </a:solidFill>
                <a:latin typeface="Calibri"/>
              </a:rPr>
              <a:t>•  </a:t>
            </a:r>
            <a:r>
              <a:rPr sz="1500" b="0" i="0">
                <a:solidFill>
                  <a:srgbClr val="1D2433"/>
                </a:solidFill>
                <a:latin typeface="Calibri"/>
              </a:rPr>
              <a:t>ΔT = change in temperature.</a:t>
            </a:r>
          </a:p>
          <a:p>
            <a:pPr algn="l">
              <a:spcAft>
                <a:spcPts val="900"/>
              </a:spcAft>
            </a:pPr>
            <a:r>
              <a:rPr sz="1500" b="1" i="0">
                <a:solidFill>
                  <a:srgbClr val="F4801A"/>
                </a:solidFill>
                <a:latin typeface="Calibri"/>
              </a:rPr>
              <a:t>•  </a:t>
            </a:r>
            <a:r>
              <a:rPr sz="1500" b="0" i="0">
                <a:solidFill>
                  <a:srgbClr val="1D2433"/>
                </a:solidFill>
                <a:latin typeface="Calibri"/>
              </a:rPr>
              <a:t>αʟ depends on the material of the rod.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F4801A"/>
                </a:solidFill>
                <a:latin typeface="Arial"/>
              </a:rPr>
              <a:t>AREA &amp; VOLUME</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Superficial and Cubical Expansion</a:t>
            </a:r>
          </a:p>
        </p:txBody>
      </p:sp>
      <p:sp>
        <p:nvSpPr>
          <p:cNvPr id="6" name="Rounded Rectangle 5"/>
          <p:cNvSpPr/>
          <p:nvPr/>
        </p:nvSpPr>
        <p:spPr>
          <a:xfrm>
            <a:off x="640080" y="1828800"/>
            <a:ext cx="10881360" cy="1371600"/>
          </a:xfrm>
          <a:prstGeom prst="roundRect">
            <a:avLst>
              <a:gd name="adj" fmla="val 6000"/>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49840" cy="1371600"/>
          </a:xfrm>
          <a:prstGeom prst="rect">
            <a:avLst/>
          </a:prstGeom>
          <a:noFill/>
        </p:spPr>
        <p:txBody>
          <a:bodyPr wrap="square" anchor="ctr" lIns="0" rIns="0" tIns="0" bIns="0">
            <a:spAutoFit/>
          </a:bodyPr>
          <a:lstStyle/>
          <a:p>
            <a:pPr algn="l"/>
            <a:r>
              <a:rPr sz="1900" b="1" i="0">
                <a:solidFill>
                  <a:srgbClr val="FFFFFF"/>
                </a:solidFill>
                <a:latin typeface="Calibri"/>
              </a:rPr>
              <a:t>Area and volume expand in the same way, each with its own coefficient.</a:t>
            </a:r>
          </a:p>
        </p:txBody>
      </p:sp>
      <p:sp>
        <p:nvSpPr>
          <p:cNvPr id="8" name="Rounded Rectangle 7"/>
          <p:cNvSpPr/>
          <p:nvPr/>
        </p:nvSpPr>
        <p:spPr>
          <a:xfrm>
            <a:off x="640080" y="3429000"/>
            <a:ext cx="10881360" cy="914400"/>
          </a:xfrm>
          <a:prstGeom prst="roundRect">
            <a:avLst>
              <a:gd name="adj" fmla="val 8000"/>
            </a:avLst>
          </a:prstGeom>
          <a:solidFill>
            <a:srgbClr val="FFF6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3429000"/>
            <a:ext cx="10149840" cy="914400"/>
          </a:xfrm>
          <a:prstGeom prst="rect">
            <a:avLst/>
          </a:prstGeom>
          <a:noFill/>
        </p:spPr>
        <p:txBody>
          <a:bodyPr wrap="square" anchor="ctr" lIns="0" rIns="0" tIns="0" bIns="0">
            <a:spAutoFit/>
          </a:bodyPr>
          <a:lstStyle/>
          <a:p>
            <a:pPr algn="ctr"/>
            <a:r>
              <a:rPr sz="2400" b="1" i="0">
                <a:solidFill>
                  <a:srgbClr val="F4801A"/>
                </a:solidFill>
                <a:latin typeface="Calibri"/>
              </a:rPr>
              <a:t>ΔA / A₀ = αᴀ ΔT        ΔV / V₀ = αᴠ ΔT</a:t>
            </a:r>
          </a:p>
        </p:txBody>
      </p:sp>
      <p:sp>
        <p:nvSpPr>
          <p:cNvPr id="10" name="TextBox 9"/>
          <p:cNvSpPr txBox="1"/>
          <p:nvPr/>
        </p:nvSpPr>
        <p:spPr>
          <a:xfrm>
            <a:off x="1005840" y="4572000"/>
            <a:ext cx="10058400" cy="1325880"/>
          </a:xfrm>
          <a:prstGeom prst="rect">
            <a:avLst/>
          </a:prstGeom>
          <a:noFill/>
        </p:spPr>
        <p:txBody>
          <a:bodyPr wrap="square" anchor="t" lIns="0" rIns="0" tIns="0" bIns="0">
            <a:spAutoFit/>
          </a:bodyPr>
          <a:lstStyle/>
          <a:p>
            <a:pPr algn="l">
              <a:spcAft>
                <a:spcPts val="900"/>
              </a:spcAft>
            </a:pPr>
            <a:r>
              <a:rPr sz="1500" b="1" i="0">
                <a:solidFill>
                  <a:srgbClr val="F4801A"/>
                </a:solidFill>
                <a:latin typeface="Calibri"/>
              </a:rPr>
              <a:t>•  </a:t>
            </a:r>
            <a:r>
              <a:rPr sz="1500" b="0" i="0">
                <a:solidFill>
                  <a:srgbClr val="1D2433"/>
                </a:solidFill>
                <a:latin typeface="Calibri"/>
              </a:rPr>
              <a:t>αᴀ = coefficient of superficial (area) expansion.</a:t>
            </a:r>
          </a:p>
          <a:p>
            <a:pPr algn="l">
              <a:spcAft>
                <a:spcPts val="900"/>
              </a:spcAft>
            </a:pPr>
            <a:r>
              <a:rPr sz="1500" b="1" i="0">
                <a:solidFill>
                  <a:srgbClr val="F4801A"/>
                </a:solidFill>
                <a:latin typeface="Calibri"/>
              </a:rPr>
              <a:t>•  </a:t>
            </a:r>
            <a:r>
              <a:rPr sz="1500" b="0" i="0">
                <a:solidFill>
                  <a:srgbClr val="1D2433"/>
                </a:solidFill>
                <a:latin typeface="Calibri"/>
              </a:rPr>
              <a:t>αᴠ = coefficient of cubical (volume) expansion.</a:t>
            </a:r>
          </a:p>
          <a:p>
            <a:pPr algn="l">
              <a:spcAft>
                <a:spcPts val="900"/>
              </a:spcAft>
            </a:pPr>
            <a:r>
              <a:rPr sz="1500" b="1" i="0">
                <a:solidFill>
                  <a:srgbClr val="F4801A"/>
                </a:solidFill>
                <a:latin typeface="Calibri"/>
              </a:rPr>
              <a:t>•  </a:t>
            </a:r>
            <a:r>
              <a:rPr sz="1500" b="0" i="0">
                <a:solidFill>
                  <a:srgbClr val="1D2433"/>
                </a:solidFill>
                <a:latin typeface="Calibri"/>
              </a:rPr>
              <a:t>Both have the unit K⁻¹, like the linear coefficient.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F4801A"/>
                </a:solidFill>
                <a:latin typeface="Arial"/>
              </a:rPr>
              <a:t>VALUES</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Coefficient of Cubical Expansion (per K)</a:t>
            </a:r>
          </a:p>
        </p:txBody>
      </p:sp>
      <p:sp>
        <p:nvSpPr>
          <p:cNvPr id="6" name="Rounded Rectangle 5"/>
          <p:cNvSpPr/>
          <p:nvPr/>
        </p:nvSpPr>
        <p:spPr>
          <a:xfrm>
            <a:off x="640080" y="1920240"/>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60119" y="2212848"/>
            <a:ext cx="502920" cy="502920"/>
          </a:xfrm>
          <a:prstGeom prst="roundRect">
            <a:avLst>
              <a:gd name="adj" fmla="val 30000"/>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park_FFFFFF.png"/>
          <p:cNvPicPr>
            <a:picLocks noChangeAspect="1"/>
          </p:cNvPicPr>
          <p:nvPr/>
        </p:nvPicPr>
        <p:blipFill>
          <a:blip r:embed="rId2"/>
          <a:stretch>
            <a:fillRect/>
          </a:stretch>
        </p:blipFill>
        <p:spPr>
          <a:xfrm>
            <a:off x="1070762" y="2323490"/>
            <a:ext cx="281635" cy="281635"/>
          </a:xfrm>
          <a:prstGeom prst="rect">
            <a:avLst/>
          </a:prstGeom>
        </p:spPr>
      </p:pic>
      <p:sp>
        <p:nvSpPr>
          <p:cNvPr id="9" name="TextBox 8"/>
          <p:cNvSpPr txBox="1"/>
          <p:nvPr/>
        </p:nvSpPr>
        <p:spPr>
          <a:xfrm>
            <a:off x="1645920" y="2176272"/>
            <a:ext cx="3931920" cy="457200"/>
          </a:xfrm>
          <a:prstGeom prst="rect">
            <a:avLst/>
          </a:prstGeom>
          <a:noFill/>
        </p:spPr>
        <p:txBody>
          <a:bodyPr wrap="square" anchor="t" lIns="0" rIns="0" tIns="0" bIns="0">
            <a:spAutoFit/>
          </a:bodyPr>
          <a:lstStyle/>
          <a:p>
            <a:pPr algn="l"/>
            <a:r>
              <a:rPr sz="1700" b="1" i="0">
                <a:solidFill>
                  <a:srgbClr val="1D2433"/>
                </a:solidFill>
                <a:latin typeface="Calibri"/>
              </a:rPr>
              <a:t>Aluminium</a:t>
            </a:r>
          </a:p>
        </p:txBody>
      </p:sp>
      <p:sp>
        <p:nvSpPr>
          <p:cNvPr id="10" name="TextBox 9"/>
          <p:cNvSpPr txBox="1"/>
          <p:nvPr/>
        </p:nvSpPr>
        <p:spPr>
          <a:xfrm>
            <a:off x="1645920" y="2670048"/>
            <a:ext cx="3931920" cy="685800"/>
          </a:xfrm>
          <a:prstGeom prst="rect">
            <a:avLst/>
          </a:prstGeom>
          <a:noFill/>
        </p:spPr>
        <p:txBody>
          <a:bodyPr wrap="square" anchor="t" lIns="0" rIns="0" tIns="0" bIns="0">
            <a:spAutoFit/>
          </a:bodyPr>
          <a:lstStyle/>
          <a:p>
            <a:pPr algn="l"/>
            <a:r>
              <a:rPr sz="1350" b="0" i="0">
                <a:solidFill>
                  <a:srgbClr val="6B7280"/>
                </a:solidFill>
                <a:latin typeface="Calibri"/>
              </a:rPr>
              <a:t>7 × 10⁻⁵</a:t>
            </a:r>
          </a:p>
        </p:txBody>
      </p:sp>
      <p:sp>
        <p:nvSpPr>
          <p:cNvPr id="11" name="Rounded Rectangle 10"/>
          <p:cNvSpPr/>
          <p:nvPr/>
        </p:nvSpPr>
        <p:spPr>
          <a:xfrm>
            <a:off x="6217920" y="1920240"/>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37960" y="2212848"/>
            <a:ext cx="502920" cy="502920"/>
          </a:xfrm>
          <a:prstGeom prst="roundRect">
            <a:avLst>
              <a:gd name="adj" fmla="val 30000"/>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park_FFFFFF.png"/>
          <p:cNvPicPr>
            <a:picLocks noChangeAspect="1"/>
          </p:cNvPicPr>
          <p:nvPr/>
        </p:nvPicPr>
        <p:blipFill>
          <a:blip r:embed="rId2"/>
          <a:stretch>
            <a:fillRect/>
          </a:stretch>
        </p:blipFill>
        <p:spPr>
          <a:xfrm>
            <a:off x="6648602" y="2323490"/>
            <a:ext cx="281635" cy="281635"/>
          </a:xfrm>
          <a:prstGeom prst="rect">
            <a:avLst/>
          </a:prstGeom>
        </p:spPr>
      </p:pic>
      <p:sp>
        <p:nvSpPr>
          <p:cNvPr id="14" name="TextBox 13"/>
          <p:cNvSpPr txBox="1"/>
          <p:nvPr/>
        </p:nvSpPr>
        <p:spPr>
          <a:xfrm>
            <a:off x="7223760" y="2176272"/>
            <a:ext cx="3931920" cy="457200"/>
          </a:xfrm>
          <a:prstGeom prst="rect">
            <a:avLst/>
          </a:prstGeom>
          <a:noFill/>
        </p:spPr>
        <p:txBody>
          <a:bodyPr wrap="square" anchor="t" lIns="0" rIns="0" tIns="0" bIns="0">
            <a:spAutoFit/>
          </a:bodyPr>
          <a:lstStyle/>
          <a:p>
            <a:pPr algn="l"/>
            <a:r>
              <a:rPr sz="1700" b="1" i="0">
                <a:solidFill>
                  <a:srgbClr val="1D2433"/>
                </a:solidFill>
                <a:latin typeface="Calibri"/>
              </a:rPr>
              <a:t>Brass / Glass</a:t>
            </a:r>
          </a:p>
        </p:txBody>
      </p:sp>
      <p:sp>
        <p:nvSpPr>
          <p:cNvPr id="15" name="TextBox 14"/>
          <p:cNvSpPr txBox="1"/>
          <p:nvPr/>
        </p:nvSpPr>
        <p:spPr>
          <a:xfrm>
            <a:off x="7223760" y="2670048"/>
            <a:ext cx="3931920" cy="685800"/>
          </a:xfrm>
          <a:prstGeom prst="rect">
            <a:avLst/>
          </a:prstGeom>
          <a:noFill/>
        </p:spPr>
        <p:txBody>
          <a:bodyPr wrap="square" anchor="t" lIns="0" rIns="0" tIns="0" bIns="0">
            <a:spAutoFit/>
          </a:bodyPr>
          <a:lstStyle/>
          <a:p>
            <a:pPr algn="l"/>
            <a:r>
              <a:rPr sz="1350" b="0" i="0">
                <a:solidFill>
                  <a:srgbClr val="6B7280"/>
                </a:solidFill>
                <a:latin typeface="Calibri"/>
              </a:rPr>
              <a:t>6 × 10⁻⁵  /  2.5 × 10⁻⁵</a:t>
            </a:r>
          </a:p>
        </p:txBody>
      </p:sp>
      <p:sp>
        <p:nvSpPr>
          <p:cNvPr id="16" name="Rounded Rectangle 15"/>
          <p:cNvSpPr/>
          <p:nvPr/>
        </p:nvSpPr>
        <p:spPr>
          <a:xfrm>
            <a:off x="640080" y="3749039"/>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60119" y="4041648"/>
            <a:ext cx="502920" cy="502920"/>
          </a:xfrm>
          <a:prstGeom prst="roundRect">
            <a:avLst>
              <a:gd name="adj" fmla="val 3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drop_FFFFFF.png"/>
          <p:cNvPicPr>
            <a:picLocks noChangeAspect="1"/>
          </p:cNvPicPr>
          <p:nvPr/>
        </p:nvPicPr>
        <p:blipFill>
          <a:blip r:embed="rId3"/>
          <a:stretch>
            <a:fillRect/>
          </a:stretch>
        </p:blipFill>
        <p:spPr>
          <a:xfrm>
            <a:off x="1070762" y="4152290"/>
            <a:ext cx="281635" cy="281635"/>
          </a:xfrm>
          <a:prstGeom prst="rect">
            <a:avLst/>
          </a:prstGeom>
        </p:spPr>
      </p:pic>
      <p:sp>
        <p:nvSpPr>
          <p:cNvPr id="19" name="TextBox 18"/>
          <p:cNvSpPr txBox="1"/>
          <p:nvPr/>
        </p:nvSpPr>
        <p:spPr>
          <a:xfrm>
            <a:off x="1645920" y="4005072"/>
            <a:ext cx="3931920" cy="457200"/>
          </a:xfrm>
          <a:prstGeom prst="rect">
            <a:avLst/>
          </a:prstGeom>
          <a:noFill/>
        </p:spPr>
        <p:txBody>
          <a:bodyPr wrap="square" anchor="t" lIns="0" rIns="0" tIns="0" bIns="0">
            <a:spAutoFit/>
          </a:bodyPr>
          <a:lstStyle/>
          <a:p>
            <a:pPr algn="l"/>
            <a:r>
              <a:rPr sz="1700" b="1" i="0">
                <a:solidFill>
                  <a:srgbClr val="1D2433"/>
                </a:solidFill>
                <a:latin typeface="Calibri"/>
              </a:rPr>
              <a:t>Water</a:t>
            </a:r>
          </a:p>
        </p:txBody>
      </p:sp>
      <p:sp>
        <p:nvSpPr>
          <p:cNvPr id="20" name="TextBox 19"/>
          <p:cNvSpPr txBox="1"/>
          <p:nvPr/>
        </p:nvSpPr>
        <p:spPr>
          <a:xfrm>
            <a:off x="1645920" y="4498848"/>
            <a:ext cx="3931920" cy="685800"/>
          </a:xfrm>
          <a:prstGeom prst="rect">
            <a:avLst/>
          </a:prstGeom>
          <a:noFill/>
        </p:spPr>
        <p:txBody>
          <a:bodyPr wrap="square" anchor="t" lIns="0" rIns="0" tIns="0" bIns="0">
            <a:spAutoFit/>
          </a:bodyPr>
          <a:lstStyle/>
          <a:p>
            <a:pPr algn="l"/>
            <a:r>
              <a:rPr sz="1350" b="0" i="0">
                <a:solidFill>
                  <a:srgbClr val="6B7280"/>
                </a:solidFill>
                <a:latin typeface="Calibri"/>
              </a:rPr>
              <a:t>20.7 × 10⁻⁵</a:t>
            </a:r>
          </a:p>
        </p:txBody>
      </p:sp>
      <p:sp>
        <p:nvSpPr>
          <p:cNvPr id="21" name="Rounded Rectangle 20"/>
          <p:cNvSpPr/>
          <p:nvPr/>
        </p:nvSpPr>
        <p:spPr>
          <a:xfrm>
            <a:off x="6217920" y="3749039"/>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537960" y="4041648"/>
            <a:ext cx="502920" cy="502920"/>
          </a:xfrm>
          <a:prstGeom prst="roundRect">
            <a:avLst>
              <a:gd name="adj" fmla="val 30000"/>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spark_FFFFFF.png"/>
          <p:cNvPicPr>
            <a:picLocks noChangeAspect="1"/>
          </p:cNvPicPr>
          <p:nvPr/>
        </p:nvPicPr>
        <p:blipFill>
          <a:blip r:embed="rId2"/>
          <a:stretch>
            <a:fillRect/>
          </a:stretch>
        </p:blipFill>
        <p:spPr>
          <a:xfrm>
            <a:off x="6648602" y="4152290"/>
            <a:ext cx="281635" cy="281635"/>
          </a:xfrm>
          <a:prstGeom prst="rect">
            <a:avLst/>
          </a:prstGeom>
        </p:spPr>
      </p:pic>
      <p:sp>
        <p:nvSpPr>
          <p:cNvPr id="24" name="TextBox 23"/>
          <p:cNvSpPr txBox="1"/>
          <p:nvPr/>
        </p:nvSpPr>
        <p:spPr>
          <a:xfrm>
            <a:off x="7223760" y="4005072"/>
            <a:ext cx="3931920" cy="457200"/>
          </a:xfrm>
          <a:prstGeom prst="rect">
            <a:avLst/>
          </a:prstGeom>
          <a:noFill/>
        </p:spPr>
        <p:txBody>
          <a:bodyPr wrap="square" anchor="t" lIns="0" rIns="0" tIns="0" bIns="0">
            <a:spAutoFit/>
          </a:bodyPr>
          <a:lstStyle/>
          <a:p>
            <a:pPr algn="l"/>
            <a:r>
              <a:rPr sz="1700" b="1" i="0">
                <a:solidFill>
                  <a:srgbClr val="1D2433"/>
                </a:solidFill>
                <a:latin typeface="Calibri"/>
              </a:rPr>
              <a:t>Mercury</a:t>
            </a:r>
          </a:p>
        </p:txBody>
      </p:sp>
      <p:sp>
        <p:nvSpPr>
          <p:cNvPr id="25" name="TextBox 24"/>
          <p:cNvSpPr txBox="1"/>
          <p:nvPr/>
        </p:nvSpPr>
        <p:spPr>
          <a:xfrm>
            <a:off x="7223760" y="4498848"/>
            <a:ext cx="3931920" cy="685800"/>
          </a:xfrm>
          <a:prstGeom prst="rect">
            <a:avLst/>
          </a:prstGeom>
          <a:noFill/>
        </p:spPr>
        <p:txBody>
          <a:bodyPr wrap="square" anchor="t" lIns="0" rIns="0" tIns="0" bIns="0">
            <a:spAutoFit/>
          </a:bodyPr>
          <a:lstStyle/>
          <a:p>
            <a:pPr algn="l"/>
            <a:r>
              <a:rPr sz="1350" b="0" i="0">
                <a:solidFill>
                  <a:srgbClr val="6B7280"/>
                </a:solidFill>
                <a:latin typeface="Calibri"/>
              </a:rPr>
              <a:t>18.2 × 10⁻⁵ — used in thermometers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F4801A"/>
                </a:solidFill>
                <a:latin typeface="Arial"/>
              </a:rPr>
              <a:t>WORKED EXAMPLE</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Linear Expansion of a Rod</a:t>
            </a:r>
          </a:p>
        </p:txBody>
      </p:sp>
      <p:sp>
        <p:nvSpPr>
          <p:cNvPr id="6" name="Rounded Rectangle 5"/>
          <p:cNvSpPr/>
          <p:nvPr/>
        </p:nvSpPr>
        <p:spPr>
          <a:xfrm>
            <a:off x="640080" y="1828800"/>
            <a:ext cx="10881360" cy="1097280"/>
          </a:xfrm>
          <a:prstGeom prst="roundRect">
            <a:avLst>
              <a:gd name="adj" fmla="val 6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49840" cy="1097280"/>
          </a:xfrm>
          <a:prstGeom prst="rect">
            <a:avLst/>
          </a:prstGeom>
          <a:noFill/>
        </p:spPr>
        <p:txBody>
          <a:bodyPr wrap="square" anchor="ctr" lIns="0" rIns="0" tIns="0" bIns="0">
            <a:spAutoFit/>
          </a:bodyPr>
          <a:lstStyle/>
          <a:p>
            <a:pPr algn="l"/>
            <a:r>
              <a:rPr sz="1600" b="1" i="0">
                <a:solidFill>
                  <a:srgbClr val="F4801A"/>
                </a:solidFill>
                <a:latin typeface="Calibri"/>
              </a:rPr>
              <a:t>Problem.  </a:t>
            </a:r>
            <a:r>
              <a:rPr sz="1600" b="0" i="0">
                <a:solidFill>
                  <a:srgbClr val="1D2433"/>
                </a:solidFill>
                <a:latin typeface="Calibri"/>
              </a:rPr>
              <a:t>A metal rod 2 m long has αʟ = 1.2 × 10⁻⁵ K⁻¹. Find the increase in its length when heated through 50 °C.</a:t>
            </a:r>
          </a:p>
        </p:txBody>
      </p:sp>
      <p:sp>
        <p:nvSpPr>
          <p:cNvPr id="8" name="Rounded Rectangle 7"/>
          <p:cNvSpPr/>
          <p:nvPr/>
        </p:nvSpPr>
        <p:spPr>
          <a:xfrm>
            <a:off x="640080" y="3108960"/>
            <a:ext cx="10881360" cy="2651760"/>
          </a:xfrm>
          <a:prstGeom prst="roundRect">
            <a:avLst>
              <a:gd name="adj" fmla="val 3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3337560"/>
            <a:ext cx="10149840" cy="1828800"/>
          </a:xfrm>
          <a:prstGeom prst="rect">
            <a:avLst/>
          </a:prstGeom>
          <a:noFill/>
        </p:spPr>
        <p:txBody>
          <a:bodyPr wrap="square" anchor="t" lIns="0" rIns="0" tIns="0" bIns="0">
            <a:spAutoFit/>
          </a:bodyPr>
          <a:lstStyle/>
          <a:p>
            <a:pPr algn="l">
              <a:lnSpc>
                <a:spcPct val="105000"/>
              </a:lnSpc>
              <a:spcAft>
                <a:spcPts val="700"/>
              </a:spcAft>
            </a:pPr>
            <a:r>
              <a:rPr sz="1600" b="0" i="0">
                <a:solidFill>
                  <a:srgbClr val="1D2433"/>
                </a:solidFill>
                <a:latin typeface="Calibri"/>
              </a:rPr>
              <a:t>ΔL = αʟ L₀ ΔT</a:t>
            </a:r>
          </a:p>
          <a:p>
            <a:pPr algn="l">
              <a:lnSpc>
                <a:spcPct val="105000"/>
              </a:lnSpc>
              <a:spcAft>
                <a:spcPts val="700"/>
              </a:spcAft>
            </a:pPr>
            <a:r>
              <a:rPr sz="1600" b="0" i="0">
                <a:solidFill>
                  <a:srgbClr val="1D2433"/>
                </a:solidFill>
                <a:latin typeface="Calibri"/>
              </a:rPr>
              <a:t>ΔL = (1.2 × 10⁻⁵) × 2 × 50</a:t>
            </a:r>
          </a:p>
          <a:p>
            <a:pPr algn="l">
              <a:lnSpc>
                <a:spcPct val="105000"/>
              </a:lnSpc>
              <a:spcAft>
                <a:spcPts val="700"/>
              </a:spcAft>
            </a:pPr>
            <a:r>
              <a:rPr sz="1600" b="0" i="0">
                <a:solidFill>
                  <a:srgbClr val="1D2433"/>
                </a:solidFill>
                <a:latin typeface="Calibri"/>
              </a:rPr>
              <a:t>ΔL = 1.2 × 10⁻³ m</a:t>
            </a:r>
          </a:p>
        </p:txBody>
      </p:sp>
      <p:sp>
        <p:nvSpPr>
          <p:cNvPr id="10" name="Rounded Rectangle 9"/>
          <p:cNvSpPr/>
          <p:nvPr/>
        </p:nvSpPr>
        <p:spPr>
          <a:xfrm>
            <a:off x="640080" y="5074920"/>
            <a:ext cx="10881360" cy="594360"/>
          </a:xfrm>
          <a:prstGeom prst="roundRect">
            <a:avLst>
              <a:gd name="adj" fmla="val 12000"/>
            </a:avLst>
          </a:prstGeom>
          <a:solidFill>
            <a:srgbClr val="E9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074920"/>
            <a:ext cx="10149840" cy="594360"/>
          </a:xfrm>
          <a:prstGeom prst="rect">
            <a:avLst/>
          </a:prstGeom>
          <a:noFill/>
        </p:spPr>
        <p:txBody>
          <a:bodyPr wrap="square" anchor="ctr" lIns="0" rIns="0" tIns="0" bIns="0">
            <a:spAutoFit/>
          </a:bodyPr>
          <a:lstStyle/>
          <a:p>
            <a:pPr algn="l"/>
            <a:r>
              <a:rPr sz="1600" b="1" i="0">
                <a:solidFill>
                  <a:srgbClr val="2A9D8F"/>
                </a:solidFill>
                <a:latin typeface="Calibri"/>
              </a:rPr>
              <a:t>Answer:  </a:t>
            </a:r>
            <a:r>
              <a:rPr sz="1600" b="1" i="0">
                <a:solidFill>
                  <a:srgbClr val="1D2433"/>
                </a:solidFill>
                <a:latin typeface="Calibri"/>
              </a:rPr>
              <a:t>ΔL = 1.2 × 10⁻³ m = 1.2 mm</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F4801A"/>
                </a:solidFill>
                <a:latin typeface="Arial"/>
              </a:rPr>
              <a:t>LIQUIDS &amp; GASES</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Expansion of Liquids and Gases</a:t>
            </a:r>
          </a:p>
        </p:txBody>
      </p:sp>
      <p:sp>
        <p:nvSpPr>
          <p:cNvPr id="6" name="Rounded Rectangle 5"/>
          <p:cNvSpPr/>
          <p:nvPr/>
        </p:nvSpPr>
        <p:spPr>
          <a:xfrm>
            <a:off x="640080" y="1828800"/>
            <a:ext cx="10881360" cy="1371600"/>
          </a:xfrm>
          <a:prstGeom prst="roundRect">
            <a:avLst>
              <a:gd name="adj" fmla="val 6000"/>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49840" cy="1371600"/>
          </a:xfrm>
          <a:prstGeom prst="rect">
            <a:avLst/>
          </a:prstGeom>
          <a:noFill/>
        </p:spPr>
        <p:txBody>
          <a:bodyPr wrap="square" anchor="ctr" lIns="0" rIns="0" tIns="0" bIns="0">
            <a:spAutoFit/>
          </a:bodyPr>
          <a:lstStyle/>
          <a:p>
            <a:pPr algn="l"/>
            <a:r>
              <a:rPr sz="1900" b="1" i="0">
                <a:solidFill>
                  <a:srgbClr val="FFFFFF"/>
                </a:solidFill>
                <a:latin typeface="Calibri"/>
              </a:rPr>
              <a:t>Liquids and gases also expand on heating — by more than solids.</a:t>
            </a:r>
          </a:p>
        </p:txBody>
      </p:sp>
      <p:sp>
        <p:nvSpPr>
          <p:cNvPr id="8" name="TextBox 7"/>
          <p:cNvSpPr txBox="1"/>
          <p:nvPr/>
        </p:nvSpPr>
        <p:spPr>
          <a:xfrm>
            <a:off x="1005840" y="3474720"/>
            <a:ext cx="10058400" cy="2423160"/>
          </a:xfrm>
          <a:prstGeom prst="rect">
            <a:avLst/>
          </a:prstGeom>
          <a:noFill/>
        </p:spPr>
        <p:txBody>
          <a:bodyPr wrap="square" anchor="t" lIns="0" rIns="0" tIns="0" bIns="0">
            <a:spAutoFit/>
          </a:bodyPr>
          <a:lstStyle/>
          <a:p>
            <a:pPr algn="l">
              <a:spcAft>
                <a:spcPts val="900"/>
              </a:spcAft>
            </a:pPr>
            <a:r>
              <a:rPr sz="1500" b="1" i="0">
                <a:solidFill>
                  <a:srgbClr val="F4801A"/>
                </a:solidFill>
                <a:latin typeface="Calibri"/>
              </a:rPr>
              <a:t>•  </a:t>
            </a:r>
            <a:r>
              <a:rPr sz="1500" b="0" i="0">
                <a:solidFill>
                  <a:srgbClr val="1D2433"/>
                </a:solidFill>
                <a:latin typeface="Calibri"/>
              </a:rPr>
              <a:t>A liquid expands more than a solid for the same temperature rise.</a:t>
            </a:r>
          </a:p>
          <a:p>
            <a:pPr algn="l">
              <a:spcAft>
                <a:spcPts val="900"/>
              </a:spcAft>
            </a:pPr>
            <a:r>
              <a:rPr sz="1500" b="1" i="0">
                <a:solidFill>
                  <a:srgbClr val="F4801A"/>
                </a:solidFill>
                <a:latin typeface="Calibri"/>
              </a:rPr>
              <a:t>•  </a:t>
            </a:r>
            <a:r>
              <a:rPr sz="1500" b="0" i="0">
                <a:solidFill>
                  <a:srgbClr val="1D2433"/>
                </a:solidFill>
                <a:latin typeface="Calibri"/>
              </a:rPr>
              <a:t>A gas expands the most of the three.</a:t>
            </a:r>
          </a:p>
          <a:p>
            <a:pPr algn="l">
              <a:spcAft>
                <a:spcPts val="900"/>
              </a:spcAft>
            </a:pPr>
            <a:r>
              <a:rPr sz="1500" b="1" i="0">
                <a:solidFill>
                  <a:srgbClr val="F4801A"/>
                </a:solidFill>
                <a:latin typeface="Calibri"/>
              </a:rPr>
              <a:t>•  </a:t>
            </a:r>
            <a:r>
              <a:rPr sz="1500" b="0" i="0">
                <a:solidFill>
                  <a:srgbClr val="1D2433"/>
                </a:solidFill>
                <a:latin typeface="Calibri"/>
              </a:rPr>
              <a:t>Heating a liquid in a container expands both the container and the liquid.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F4801A"/>
                </a:solidFill>
                <a:latin typeface="Arial"/>
              </a:rPr>
              <a:t>REAL VS APPARENT</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Real and Apparent Expansion of a Liquid</a:t>
            </a:r>
          </a:p>
        </p:txBody>
      </p:sp>
      <p:pic>
        <p:nvPicPr>
          <p:cNvPr id="6" name="Picture 5" descr="g10tp_realapp.png"/>
          <p:cNvPicPr>
            <a:picLocks noChangeAspect="1"/>
          </p:cNvPicPr>
          <p:nvPr/>
        </p:nvPicPr>
        <p:blipFill>
          <a:blip r:embed="rId2"/>
          <a:stretch>
            <a:fillRect/>
          </a:stretch>
        </p:blipFill>
        <p:spPr>
          <a:xfrm>
            <a:off x="822960" y="2011680"/>
            <a:ext cx="4572000" cy="3566160"/>
          </a:xfrm>
          <a:prstGeom prst="rect">
            <a:avLst/>
          </a:prstGeom>
        </p:spPr>
      </p:pic>
      <p:sp>
        <p:nvSpPr>
          <p:cNvPr id="7" name="TextBox 6"/>
          <p:cNvSpPr txBox="1"/>
          <p:nvPr/>
        </p:nvSpPr>
        <p:spPr>
          <a:xfrm>
            <a:off x="822960" y="5632703"/>
            <a:ext cx="4572000" cy="274320"/>
          </a:xfrm>
          <a:prstGeom prst="rect">
            <a:avLst/>
          </a:prstGeom>
          <a:noFill/>
        </p:spPr>
        <p:txBody>
          <a:bodyPr wrap="square" anchor="t" lIns="0" rIns="0" tIns="0" bIns="0">
            <a:spAutoFit/>
          </a:bodyPr>
          <a:lstStyle/>
          <a:p>
            <a:pPr algn="ctr"/>
            <a:r>
              <a:rPr sz="1100" b="0" i="1">
                <a:solidFill>
                  <a:srgbClr val="6B7280"/>
                </a:solidFill>
                <a:latin typeface="Calibri"/>
              </a:rPr>
              <a:t>The level dips, then rises past the start</a:t>
            </a:r>
          </a:p>
        </p:txBody>
      </p:sp>
      <p:sp>
        <p:nvSpPr>
          <p:cNvPr id="8" name="Rounded Rectangle 7"/>
          <p:cNvSpPr/>
          <p:nvPr/>
        </p:nvSpPr>
        <p:spPr>
          <a:xfrm>
            <a:off x="5699455" y="1828800"/>
            <a:ext cx="5669280" cy="393192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19495" y="2057400"/>
            <a:ext cx="5029200" cy="411480"/>
          </a:xfrm>
          <a:prstGeom prst="rect">
            <a:avLst/>
          </a:prstGeom>
          <a:noFill/>
        </p:spPr>
        <p:txBody>
          <a:bodyPr wrap="square" anchor="t" lIns="0" rIns="0" tIns="0" bIns="0">
            <a:spAutoFit/>
          </a:bodyPr>
          <a:lstStyle/>
          <a:p>
            <a:pPr algn="l"/>
            <a:r>
              <a:rPr sz="1800" b="1" i="0">
                <a:solidFill>
                  <a:srgbClr val="F4801A"/>
                </a:solidFill>
                <a:latin typeface="Calibri"/>
              </a:rPr>
              <a:t>Real &gt; Apparent</a:t>
            </a:r>
          </a:p>
        </p:txBody>
      </p:sp>
      <p:sp>
        <p:nvSpPr>
          <p:cNvPr id="10" name="TextBox 9"/>
          <p:cNvSpPr txBox="1"/>
          <p:nvPr/>
        </p:nvSpPr>
        <p:spPr>
          <a:xfrm>
            <a:off x="6019495" y="2606040"/>
            <a:ext cx="5074920" cy="3063240"/>
          </a:xfrm>
          <a:prstGeom prst="rect">
            <a:avLst/>
          </a:prstGeom>
          <a:noFill/>
        </p:spPr>
        <p:txBody>
          <a:bodyPr wrap="square" anchor="t" lIns="0" rIns="0" tIns="0" bIns="0">
            <a:spAutoFit/>
          </a:bodyPr>
          <a:lstStyle/>
          <a:p>
            <a:pPr algn="l">
              <a:lnSpc>
                <a:spcPct val="105000"/>
              </a:lnSpc>
              <a:spcAft>
                <a:spcPts val="900"/>
              </a:spcAft>
            </a:pPr>
            <a:r>
              <a:rPr sz="1500" b="1" i="0">
                <a:solidFill>
                  <a:srgbClr val="F4801A"/>
                </a:solidFill>
                <a:latin typeface="Calibri"/>
              </a:rPr>
              <a:t>•  </a:t>
            </a:r>
            <a:r>
              <a:rPr sz="1500" b="0" i="0">
                <a:solidFill>
                  <a:srgbClr val="1D2433"/>
                </a:solidFill>
                <a:latin typeface="Calibri"/>
              </a:rPr>
              <a:t>Heated in a container, the container expands first, so the liquid level first DIPS to L₂.</a:t>
            </a:r>
          </a:p>
          <a:p>
            <a:pPr algn="l">
              <a:lnSpc>
                <a:spcPct val="105000"/>
              </a:lnSpc>
              <a:spcAft>
                <a:spcPts val="900"/>
              </a:spcAft>
            </a:pPr>
            <a:r>
              <a:rPr sz="1500" b="1" i="0">
                <a:solidFill>
                  <a:srgbClr val="F4801A"/>
                </a:solidFill>
                <a:latin typeface="Calibri"/>
              </a:rPr>
              <a:t>•  </a:t>
            </a:r>
            <a:r>
              <a:rPr sz="1500" b="0" i="0">
                <a:solidFill>
                  <a:srgbClr val="1D2433"/>
                </a:solidFill>
                <a:latin typeface="Calibri"/>
              </a:rPr>
              <a:t>On further heating the liquid itself expands and rises to L₃.</a:t>
            </a:r>
          </a:p>
          <a:p>
            <a:pPr algn="l">
              <a:lnSpc>
                <a:spcPct val="105000"/>
              </a:lnSpc>
              <a:spcAft>
                <a:spcPts val="900"/>
              </a:spcAft>
            </a:pPr>
            <a:r>
              <a:rPr sz="1500" b="1" i="0">
                <a:solidFill>
                  <a:srgbClr val="F4801A"/>
                </a:solidFill>
                <a:latin typeface="Calibri"/>
              </a:rPr>
              <a:t>•  </a:t>
            </a:r>
            <a:r>
              <a:rPr sz="1500" b="0" i="0">
                <a:solidFill>
                  <a:srgbClr val="1D2433"/>
                </a:solidFill>
                <a:latin typeface="Calibri"/>
              </a:rPr>
              <a:t>Apparent expansion = L₃ − L₁ (ignores the container).</a:t>
            </a:r>
          </a:p>
          <a:p>
            <a:pPr algn="l">
              <a:lnSpc>
                <a:spcPct val="105000"/>
              </a:lnSpc>
              <a:spcAft>
                <a:spcPts val="900"/>
              </a:spcAft>
            </a:pPr>
            <a:r>
              <a:rPr sz="1500" b="1" i="0">
                <a:solidFill>
                  <a:srgbClr val="F4801A"/>
                </a:solidFill>
                <a:latin typeface="Calibri"/>
              </a:rPr>
              <a:t>•  </a:t>
            </a:r>
            <a:r>
              <a:rPr sz="1500" b="0" i="0">
                <a:solidFill>
                  <a:srgbClr val="1D2433"/>
                </a:solidFill>
                <a:latin typeface="Calibri"/>
              </a:rPr>
              <a:t>Real expansion = L₃ − L₂, and is always greater than the apparent expansion.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F4801A"/>
                </a:solidFill>
                <a:latin typeface="Arial"/>
              </a:rPr>
              <a:t>WORKED EXAMPLE</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Real and Apparent Expansion</a:t>
            </a:r>
          </a:p>
        </p:txBody>
      </p:sp>
      <p:sp>
        <p:nvSpPr>
          <p:cNvPr id="6" name="Rounded Rectangle 5"/>
          <p:cNvSpPr/>
          <p:nvPr/>
        </p:nvSpPr>
        <p:spPr>
          <a:xfrm>
            <a:off x="640080" y="1828800"/>
            <a:ext cx="10881360" cy="1097280"/>
          </a:xfrm>
          <a:prstGeom prst="roundRect">
            <a:avLst>
              <a:gd name="adj" fmla="val 6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49840" cy="1097280"/>
          </a:xfrm>
          <a:prstGeom prst="rect">
            <a:avLst/>
          </a:prstGeom>
          <a:noFill/>
        </p:spPr>
        <p:txBody>
          <a:bodyPr wrap="square" anchor="ctr" lIns="0" rIns="0" tIns="0" bIns="0">
            <a:spAutoFit/>
          </a:bodyPr>
          <a:lstStyle/>
          <a:p>
            <a:pPr algn="l"/>
            <a:r>
              <a:rPr sz="1600" b="1" i="0">
                <a:solidFill>
                  <a:srgbClr val="F4801A"/>
                </a:solidFill>
                <a:latin typeface="Calibri"/>
              </a:rPr>
              <a:t>Problem.  </a:t>
            </a:r>
            <a:r>
              <a:rPr sz="1600" b="0" i="0">
                <a:solidFill>
                  <a:srgbClr val="1D2433"/>
                </a:solidFill>
                <a:latin typeface="Calibri"/>
              </a:rPr>
              <a:t>A container of capacity 70 ml is filled with liquid to 50 ml and heated. The level first falls to 48.5 ml, then rises to 51.2 ml. Find the apparent and real expansion.</a:t>
            </a:r>
          </a:p>
        </p:txBody>
      </p:sp>
      <p:sp>
        <p:nvSpPr>
          <p:cNvPr id="8" name="Rounded Rectangle 7"/>
          <p:cNvSpPr/>
          <p:nvPr/>
        </p:nvSpPr>
        <p:spPr>
          <a:xfrm>
            <a:off x="640080" y="3108960"/>
            <a:ext cx="10881360" cy="2651760"/>
          </a:xfrm>
          <a:prstGeom prst="roundRect">
            <a:avLst>
              <a:gd name="adj" fmla="val 3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3337560"/>
            <a:ext cx="10149840" cy="1828800"/>
          </a:xfrm>
          <a:prstGeom prst="rect">
            <a:avLst/>
          </a:prstGeom>
          <a:noFill/>
        </p:spPr>
        <p:txBody>
          <a:bodyPr wrap="square" anchor="t" lIns="0" rIns="0" tIns="0" bIns="0">
            <a:spAutoFit/>
          </a:bodyPr>
          <a:lstStyle/>
          <a:p>
            <a:pPr algn="l">
              <a:lnSpc>
                <a:spcPct val="105000"/>
              </a:lnSpc>
              <a:spcAft>
                <a:spcPts val="700"/>
              </a:spcAft>
            </a:pPr>
            <a:r>
              <a:rPr sz="1600" b="0" i="0">
                <a:solidFill>
                  <a:srgbClr val="1D2433"/>
                </a:solidFill>
                <a:latin typeface="Calibri"/>
              </a:rPr>
              <a:t>L₁ = 50 ml, L₂ = 48.5 ml, L₃ = 51.2 ml</a:t>
            </a:r>
          </a:p>
          <a:p>
            <a:pPr algn="l">
              <a:lnSpc>
                <a:spcPct val="105000"/>
              </a:lnSpc>
              <a:spcAft>
                <a:spcPts val="700"/>
              </a:spcAft>
            </a:pPr>
            <a:r>
              <a:rPr sz="1600" b="0" i="0">
                <a:solidFill>
                  <a:srgbClr val="1D2433"/>
                </a:solidFill>
                <a:latin typeface="Calibri"/>
              </a:rPr>
              <a:t>Apparent expansion = L₃ − L₁ = 51.2 − 50 = 1.2 ml</a:t>
            </a:r>
          </a:p>
          <a:p>
            <a:pPr algn="l">
              <a:lnSpc>
                <a:spcPct val="105000"/>
              </a:lnSpc>
              <a:spcAft>
                <a:spcPts val="700"/>
              </a:spcAft>
            </a:pPr>
            <a:r>
              <a:rPr sz="1600" b="0" i="0">
                <a:solidFill>
                  <a:srgbClr val="1D2433"/>
                </a:solidFill>
                <a:latin typeface="Calibri"/>
              </a:rPr>
              <a:t>Real expansion = L₃ − L₂ = 51.2 − 48.5 = 2.7 ml</a:t>
            </a:r>
          </a:p>
        </p:txBody>
      </p:sp>
      <p:sp>
        <p:nvSpPr>
          <p:cNvPr id="10" name="Rounded Rectangle 9"/>
          <p:cNvSpPr/>
          <p:nvPr/>
        </p:nvSpPr>
        <p:spPr>
          <a:xfrm>
            <a:off x="640080" y="5074920"/>
            <a:ext cx="10881360" cy="594360"/>
          </a:xfrm>
          <a:prstGeom prst="roundRect">
            <a:avLst>
              <a:gd name="adj" fmla="val 12000"/>
            </a:avLst>
          </a:prstGeom>
          <a:solidFill>
            <a:srgbClr val="E9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074920"/>
            <a:ext cx="10149840" cy="594360"/>
          </a:xfrm>
          <a:prstGeom prst="rect">
            <a:avLst/>
          </a:prstGeom>
          <a:noFill/>
        </p:spPr>
        <p:txBody>
          <a:bodyPr wrap="square" anchor="ctr" lIns="0" rIns="0" tIns="0" bIns="0">
            <a:spAutoFit/>
          </a:bodyPr>
          <a:lstStyle/>
          <a:p>
            <a:pPr algn="l"/>
            <a:r>
              <a:rPr sz="1600" b="1" i="0">
                <a:solidFill>
                  <a:srgbClr val="2A9D8F"/>
                </a:solidFill>
                <a:latin typeface="Calibri"/>
              </a:rPr>
              <a:t>Answer:  </a:t>
            </a:r>
            <a:r>
              <a:rPr sz="1600" b="1" i="0">
                <a:solidFill>
                  <a:srgbClr val="1D2433"/>
                </a:solidFill>
                <a:latin typeface="Calibri"/>
              </a:rPr>
              <a:t>Apparent = 1.2 ml,  Real = 2.7 ml  (real &gt; apparent)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F4801A"/>
                </a:solidFill>
                <a:latin typeface="Arial"/>
              </a:rPr>
              <a:t>WRAP UP</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Quick Recap</a:t>
            </a:r>
          </a:p>
        </p:txBody>
      </p:sp>
      <p:sp>
        <p:nvSpPr>
          <p:cNvPr id="6" name="Rounded Rectangle 5"/>
          <p:cNvSpPr/>
          <p:nvPr/>
        </p:nvSpPr>
        <p:spPr>
          <a:xfrm>
            <a:off x="640080" y="1828800"/>
            <a:ext cx="10881360" cy="4114800"/>
          </a:xfrm>
          <a:prstGeom prst="roundRect">
            <a:avLst>
              <a:gd name="adj" fmla="val 3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148840"/>
            <a:ext cx="10058400" cy="3657600"/>
          </a:xfrm>
          <a:prstGeom prst="rect">
            <a:avLst/>
          </a:prstGeom>
          <a:noFill/>
        </p:spPr>
        <p:txBody>
          <a:bodyPr wrap="square" anchor="t" lIns="0" rIns="0" tIns="0" bIns="0">
            <a:spAutoFit/>
          </a:bodyPr>
          <a:lstStyle/>
          <a:p>
            <a:pPr algn="l">
              <a:lnSpc>
                <a:spcPct val="105000"/>
              </a:lnSpc>
              <a:spcAft>
                <a:spcPts val="1200"/>
              </a:spcAft>
            </a:pPr>
            <a:r>
              <a:rPr sz="1600" b="1" i="0">
                <a:solidFill>
                  <a:srgbClr val="2A9D8F"/>
                </a:solidFill>
                <a:latin typeface="Calibri"/>
              </a:rPr>
              <a:t>✓  </a:t>
            </a:r>
            <a:r>
              <a:rPr sz="1600" b="1" i="0">
                <a:solidFill>
                  <a:srgbClr val="1D2433"/>
                </a:solidFill>
                <a:latin typeface="Calibri"/>
              </a:rPr>
              <a:t>Temperature  —  </a:t>
            </a:r>
            <a:r>
              <a:rPr sz="1500" b="0" i="0">
                <a:solidFill>
                  <a:srgbClr val="6B7280"/>
                </a:solidFill>
                <a:latin typeface="Calibri"/>
              </a:rPr>
              <a:t>degree of hotness; SI unit kelvin; 0 K = −273 °C</a:t>
            </a:r>
          </a:p>
          <a:p>
            <a:pPr algn="l">
              <a:lnSpc>
                <a:spcPct val="105000"/>
              </a:lnSpc>
              <a:spcAft>
                <a:spcPts val="1200"/>
              </a:spcAft>
            </a:pPr>
            <a:r>
              <a:rPr sz="1600" b="1" i="0">
                <a:solidFill>
                  <a:srgbClr val="2A9D8F"/>
                </a:solidFill>
                <a:latin typeface="Calibri"/>
              </a:rPr>
              <a:t>✓  </a:t>
            </a:r>
            <a:r>
              <a:rPr sz="1600" b="1" i="0">
                <a:solidFill>
                  <a:srgbClr val="1D2433"/>
                </a:solidFill>
                <a:latin typeface="Calibri"/>
              </a:rPr>
              <a:t>Conversions  —  </a:t>
            </a:r>
            <a:r>
              <a:rPr sz="1500" b="0" i="0">
                <a:solidFill>
                  <a:srgbClr val="6B7280"/>
                </a:solidFill>
                <a:latin typeface="Calibri"/>
              </a:rPr>
              <a:t>K = °C + 273; K = (°F + 460) × 5/9</a:t>
            </a:r>
          </a:p>
          <a:p>
            <a:pPr algn="l">
              <a:lnSpc>
                <a:spcPct val="105000"/>
              </a:lnSpc>
              <a:spcAft>
                <a:spcPts val="1200"/>
              </a:spcAft>
            </a:pPr>
            <a:r>
              <a:rPr sz="1600" b="1" i="0">
                <a:solidFill>
                  <a:srgbClr val="2A9D8F"/>
                </a:solidFill>
                <a:latin typeface="Calibri"/>
              </a:rPr>
              <a:t>✓  </a:t>
            </a:r>
            <a:r>
              <a:rPr sz="1600" b="1" i="0">
                <a:solidFill>
                  <a:srgbClr val="1D2433"/>
                </a:solidFill>
                <a:latin typeface="Calibri"/>
              </a:rPr>
              <a:t>Thermal equilibrium  —  </a:t>
            </a:r>
            <a:r>
              <a:rPr sz="1500" b="0" i="0">
                <a:solidFill>
                  <a:srgbClr val="6B7280"/>
                </a:solidFill>
                <a:latin typeface="Calibri"/>
              </a:rPr>
              <a:t>equal temperature, no net heat flow</a:t>
            </a:r>
          </a:p>
          <a:p>
            <a:pPr algn="l">
              <a:lnSpc>
                <a:spcPct val="105000"/>
              </a:lnSpc>
              <a:spcAft>
                <a:spcPts val="1200"/>
              </a:spcAft>
            </a:pPr>
            <a:r>
              <a:rPr sz="1600" b="1" i="0">
                <a:solidFill>
                  <a:srgbClr val="2A9D8F"/>
                </a:solidFill>
                <a:latin typeface="Calibri"/>
              </a:rPr>
              <a:t>✓  </a:t>
            </a:r>
            <a:r>
              <a:rPr sz="1600" b="1" i="0">
                <a:solidFill>
                  <a:srgbClr val="1D2433"/>
                </a:solidFill>
                <a:latin typeface="Calibri"/>
              </a:rPr>
              <a:t>Heat features  —  </a:t>
            </a:r>
            <a:r>
              <a:rPr sz="1500" b="0" i="0">
                <a:solidFill>
                  <a:srgbClr val="6B7280"/>
                </a:solidFill>
                <a:latin typeface="Calibri"/>
              </a:rPr>
              <a:t>hot→cold; mass unchanged; heat gained = heat lost</a:t>
            </a:r>
          </a:p>
          <a:p>
            <a:pPr algn="l">
              <a:lnSpc>
                <a:spcPct val="105000"/>
              </a:lnSpc>
              <a:spcAft>
                <a:spcPts val="1200"/>
              </a:spcAft>
            </a:pPr>
            <a:r>
              <a:rPr sz="1600" b="1" i="0">
                <a:solidFill>
                  <a:srgbClr val="2A9D8F"/>
                </a:solidFill>
                <a:latin typeface="Calibri"/>
              </a:rPr>
              <a:t>✓  </a:t>
            </a:r>
            <a:r>
              <a:rPr sz="1600" b="1" i="0">
                <a:solidFill>
                  <a:srgbClr val="1D2433"/>
                </a:solidFill>
                <a:latin typeface="Calibri"/>
              </a:rPr>
              <a:t>Solid expansion  —  </a:t>
            </a:r>
            <a:r>
              <a:rPr sz="1500" b="0" i="0">
                <a:solidFill>
                  <a:srgbClr val="6B7280"/>
                </a:solidFill>
                <a:latin typeface="Calibri"/>
              </a:rPr>
              <a:t>linear ΔL/L₀, area ΔA/A₀, volume ΔV/V₀ = αΔT</a:t>
            </a:r>
          </a:p>
          <a:p>
            <a:pPr algn="l">
              <a:lnSpc>
                <a:spcPct val="105000"/>
              </a:lnSpc>
              <a:spcAft>
                <a:spcPts val="1200"/>
              </a:spcAft>
            </a:pPr>
            <a:r>
              <a:rPr sz="1600" b="1" i="0">
                <a:solidFill>
                  <a:srgbClr val="2A9D8F"/>
                </a:solidFill>
                <a:latin typeface="Calibri"/>
              </a:rPr>
              <a:t>✓  </a:t>
            </a:r>
            <a:r>
              <a:rPr sz="1600" b="1" i="0">
                <a:solidFill>
                  <a:srgbClr val="1D2433"/>
                </a:solidFill>
                <a:latin typeface="Calibri"/>
              </a:rPr>
              <a:t>Liquids  —  </a:t>
            </a:r>
            <a:r>
              <a:rPr sz="1500" b="0" i="0">
                <a:solidFill>
                  <a:srgbClr val="6B7280"/>
                </a:solidFill>
                <a:latin typeface="Calibri"/>
              </a:rPr>
              <a:t>real = L₃−L₂ &gt; apparent = L₃−L₁</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D2433"/>
        </a:solidFill>
        <a:effectLst/>
      </p:bgPr>
    </p:bg>
    <p:spTree>
      <p:nvGrpSpPr>
        <p:cNvPr id="1" name=""/>
        <p:cNvGrpSpPr/>
        <p:nvPr/>
      </p:nvGrpSpPr>
      <p:grpSpPr/>
      <p:sp>
        <p:nvSpPr>
          <p:cNvPr id="2" name="Oval 1"/>
          <p:cNvSpPr/>
          <p:nvPr/>
        </p:nvSpPr>
        <p:spPr>
          <a:xfrm>
            <a:off x="8778240" y="-1371600"/>
            <a:ext cx="4754880" cy="47548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011680"/>
            <a:ext cx="8229600" cy="457200"/>
          </a:xfrm>
          <a:prstGeom prst="rect">
            <a:avLst/>
          </a:prstGeom>
          <a:noFill/>
        </p:spPr>
        <p:txBody>
          <a:bodyPr wrap="square" anchor="t" lIns="0" rIns="0" tIns="0" bIns="0">
            <a:spAutoFit/>
          </a:bodyPr>
          <a:lstStyle/>
          <a:p>
            <a:pPr algn="l"/>
            <a:r>
              <a:rPr sz="1600" b="1" i="0">
                <a:solidFill>
                  <a:srgbClr val="FFC300"/>
                </a:solidFill>
                <a:latin typeface="Arial"/>
              </a:rPr>
              <a:t>QUIZ 2</a:t>
            </a:r>
          </a:p>
        </p:txBody>
      </p:sp>
      <p:sp>
        <p:nvSpPr>
          <p:cNvPr id="4" name="TextBox 3"/>
          <p:cNvSpPr txBox="1"/>
          <p:nvPr/>
        </p:nvSpPr>
        <p:spPr>
          <a:xfrm>
            <a:off x="777240" y="2560320"/>
            <a:ext cx="9601200" cy="1005840"/>
          </a:xfrm>
          <a:prstGeom prst="rect">
            <a:avLst/>
          </a:prstGeom>
          <a:noFill/>
        </p:spPr>
        <p:txBody>
          <a:bodyPr wrap="square" anchor="t" lIns="0" rIns="0" tIns="0" bIns="0">
            <a:spAutoFit/>
          </a:bodyPr>
          <a:lstStyle/>
          <a:p>
            <a:pPr algn="l"/>
            <a:r>
              <a:rPr sz="4400" b="1" i="0">
                <a:solidFill>
                  <a:srgbClr val="FFFFFF"/>
                </a:solidFill>
                <a:latin typeface="Calibri"/>
              </a:rPr>
              <a:t>Final Check — Expansion</a:t>
            </a:r>
          </a:p>
        </p:txBody>
      </p:sp>
      <p:sp>
        <p:nvSpPr>
          <p:cNvPr id="5" name="TextBox 4"/>
          <p:cNvSpPr txBox="1"/>
          <p:nvPr/>
        </p:nvSpPr>
        <p:spPr>
          <a:xfrm>
            <a:off x="777240" y="3749039"/>
            <a:ext cx="9601200" cy="548640"/>
          </a:xfrm>
          <a:prstGeom prst="rect">
            <a:avLst/>
          </a:prstGeom>
          <a:noFill/>
        </p:spPr>
        <p:txBody>
          <a:bodyPr wrap="square" anchor="t" lIns="0" rIns="0" tIns="0" bIns="0">
            <a:spAutoFit/>
          </a:bodyPr>
          <a:lstStyle/>
          <a:p>
            <a:pPr algn="l"/>
            <a:r>
              <a:rPr sz="1800" b="0" i="0">
                <a:solidFill>
                  <a:srgbClr val="CADCFC"/>
                </a:solidFill>
                <a:latin typeface="Calibri"/>
              </a:rPr>
              <a:t>5 questions  •  think before the answer reveals on the next slide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F4801A"/>
                </a:solidFill>
                <a:latin typeface="Arial"/>
              </a:rPr>
              <a:t>QUIZ QUESTION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Q1 — Find ΔL</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A 3 m rod (αʟ = 2 × 10⁻⁵ K⁻¹) is heated through 100 °C. Its increase in length is:</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6 × 10⁻³ m</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6 × 10⁻⁵ m</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0.6 m</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6 m</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2A9D8F"/>
                </a:solidFill>
                <a:latin typeface="Arial"/>
              </a:rPr>
              <a:t>ANSWER REVEALED</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Q1 — Find ΔL</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A 3 m rod (αʟ = 2 × 10⁻⁵ K⁻¹) is heated through 100 °C. Its increase in length is:</a:t>
            </a:r>
          </a:p>
        </p:txBody>
      </p:sp>
      <p:sp>
        <p:nvSpPr>
          <p:cNvPr id="8" name="Rounded Rectangle 7"/>
          <p:cNvSpPr/>
          <p:nvPr/>
        </p:nvSpPr>
        <p:spPr>
          <a:xfrm>
            <a:off x="640080" y="3337560"/>
            <a:ext cx="5349240" cy="868680"/>
          </a:xfrm>
          <a:prstGeom prst="roundRect">
            <a:avLst>
              <a:gd name="adj" fmla="val 12000"/>
            </a:avLst>
          </a:prstGeom>
          <a:solidFill>
            <a:srgbClr val="E9F5F0"/>
          </a:solidFill>
          <a:ln w="254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1" i="0">
                <a:solidFill>
                  <a:srgbClr val="1D2433"/>
                </a:solidFill>
                <a:latin typeface="Calibri"/>
              </a:rPr>
              <a:t>6 × 10⁻³ m</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6 × 10⁻⁵ m</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0.6 m</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6 m</a:t>
            </a:r>
          </a:p>
        </p:txBody>
      </p:sp>
      <p:sp>
        <p:nvSpPr>
          <p:cNvPr id="24" name="Rounded Rectangle 23"/>
          <p:cNvSpPr/>
          <p:nvPr/>
        </p:nvSpPr>
        <p:spPr>
          <a:xfrm>
            <a:off x="640080" y="5440680"/>
            <a:ext cx="10881360" cy="109728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96128"/>
            <a:ext cx="4572000" cy="320040"/>
          </a:xfrm>
          <a:prstGeom prst="rect">
            <a:avLst/>
          </a:prstGeom>
          <a:noFill/>
        </p:spPr>
        <p:txBody>
          <a:bodyPr wrap="square" anchor="t" lIns="0" rIns="0" tIns="0" bIns="0">
            <a:spAutoFit/>
          </a:bodyPr>
          <a:lstStyle/>
          <a:p>
            <a:pPr algn="l"/>
            <a:r>
              <a:rPr sz="1300" b="1" i="0">
                <a:solidFill>
                  <a:srgbClr val="2A9D8F"/>
                </a:solidFill>
                <a:latin typeface="Arial"/>
              </a:rPr>
              <a:t>WHY</a:t>
            </a:r>
          </a:p>
        </p:txBody>
      </p:sp>
      <p:sp>
        <p:nvSpPr>
          <p:cNvPr id="26" name="TextBox 25"/>
          <p:cNvSpPr txBox="1"/>
          <p:nvPr/>
        </p:nvSpPr>
        <p:spPr>
          <a:xfrm>
            <a:off x="1005840" y="5943600"/>
            <a:ext cx="10149840" cy="548640"/>
          </a:xfrm>
          <a:prstGeom prst="rect">
            <a:avLst/>
          </a:prstGeom>
          <a:noFill/>
        </p:spPr>
        <p:txBody>
          <a:bodyPr wrap="square" anchor="t" lIns="0" rIns="0" tIns="0" bIns="0">
            <a:spAutoFit/>
          </a:bodyPr>
          <a:lstStyle/>
          <a:p>
            <a:pPr algn="l">
              <a:lnSpc>
                <a:spcPct val="105000"/>
              </a:lnSpc>
            </a:pPr>
            <a:r>
              <a:rPr sz="1450" b="0" i="0">
                <a:solidFill>
                  <a:srgbClr val="1D2433"/>
                </a:solidFill>
                <a:latin typeface="Calibri"/>
              </a:rPr>
              <a:t>ΔL = αʟ L₀ ΔT = (2 × 10⁻⁵) × 3 × 100 = 6 × 10⁻³ m (6 mm). Multiply the coefficient, length and temperature change.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F4801A"/>
                </a:solidFill>
                <a:latin typeface="Arial"/>
              </a:rPr>
              <a:t>QUIZ QUESTION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Q2 — Expands Most</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For the same rise in temperature, which expands the most?</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A solid</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A liquid</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A gas</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All equally</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2A9D8F"/>
                </a:solidFill>
                <a:latin typeface="Arial"/>
              </a:rPr>
              <a:t>ANSWER REVEALED</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Q2 — Expands Most</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For the same rise in temperature, which expands the most?</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A solid</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A liquid</a:t>
            </a:r>
          </a:p>
        </p:txBody>
      </p:sp>
      <p:sp>
        <p:nvSpPr>
          <p:cNvPr id="16" name="Rounded Rectangle 15"/>
          <p:cNvSpPr/>
          <p:nvPr/>
        </p:nvSpPr>
        <p:spPr>
          <a:xfrm>
            <a:off x="640080" y="4370831"/>
            <a:ext cx="5349240" cy="868680"/>
          </a:xfrm>
          <a:prstGeom prst="roundRect">
            <a:avLst>
              <a:gd name="adj" fmla="val 12000"/>
            </a:avLst>
          </a:prstGeom>
          <a:solidFill>
            <a:srgbClr val="E9F5F0"/>
          </a:solidFill>
          <a:ln w="254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1" i="0">
                <a:solidFill>
                  <a:srgbClr val="1D2433"/>
                </a:solidFill>
                <a:latin typeface="Calibri"/>
              </a:rPr>
              <a:t>A gas</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All equally</a:t>
            </a:r>
          </a:p>
        </p:txBody>
      </p:sp>
      <p:sp>
        <p:nvSpPr>
          <p:cNvPr id="24" name="Rounded Rectangle 23"/>
          <p:cNvSpPr/>
          <p:nvPr/>
        </p:nvSpPr>
        <p:spPr>
          <a:xfrm>
            <a:off x="640080" y="5440680"/>
            <a:ext cx="10881360" cy="109728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96128"/>
            <a:ext cx="4572000" cy="320040"/>
          </a:xfrm>
          <a:prstGeom prst="rect">
            <a:avLst/>
          </a:prstGeom>
          <a:noFill/>
        </p:spPr>
        <p:txBody>
          <a:bodyPr wrap="square" anchor="t" lIns="0" rIns="0" tIns="0" bIns="0">
            <a:spAutoFit/>
          </a:bodyPr>
          <a:lstStyle/>
          <a:p>
            <a:pPr algn="l"/>
            <a:r>
              <a:rPr sz="1300" b="1" i="0">
                <a:solidFill>
                  <a:srgbClr val="2A9D8F"/>
                </a:solidFill>
                <a:latin typeface="Arial"/>
              </a:rPr>
              <a:t>WHY</a:t>
            </a:r>
          </a:p>
        </p:txBody>
      </p:sp>
      <p:sp>
        <p:nvSpPr>
          <p:cNvPr id="26" name="TextBox 25"/>
          <p:cNvSpPr txBox="1"/>
          <p:nvPr/>
        </p:nvSpPr>
        <p:spPr>
          <a:xfrm>
            <a:off x="1005840" y="5943600"/>
            <a:ext cx="10149840" cy="548640"/>
          </a:xfrm>
          <a:prstGeom prst="rect">
            <a:avLst/>
          </a:prstGeom>
          <a:noFill/>
        </p:spPr>
        <p:txBody>
          <a:bodyPr wrap="square" anchor="t" lIns="0" rIns="0" tIns="0" bIns="0">
            <a:spAutoFit/>
          </a:bodyPr>
          <a:lstStyle/>
          <a:p>
            <a:pPr algn="l">
              <a:lnSpc>
                <a:spcPct val="105000"/>
              </a:lnSpc>
            </a:pPr>
            <a:r>
              <a:rPr sz="1450" b="0" i="0">
                <a:solidFill>
                  <a:srgbClr val="1D2433"/>
                </a:solidFill>
                <a:latin typeface="Calibri"/>
              </a:rPr>
              <a:t>Gases expand far more than liquids, and liquids more than solids, because gas molecules are free to move much further apart on heating.</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F4801A"/>
                </a:solidFill>
                <a:latin typeface="Arial"/>
              </a:rPr>
              <a:t>QUIZ QUESTION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Q3 — Real vs Apparent</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When a liquid is heated in a container, the real expansion of the liquid is:</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Less than the apparent expansion</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Equal to the apparent expansion</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Greater than the apparent expansion</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Always zero</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2A9D8F"/>
                </a:solidFill>
                <a:latin typeface="Arial"/>
              </a:rPr>
              <a:t>ANSWER REVEALED</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Q3 — Real vs Apparent</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When a liquid is heated in a container, the real expansion of the liquid is:</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Less than the apparent expansion</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Equal to the apparent expansion</a:t>
            </a:r>
          </a:p>
        </p:txBody>
      </p:sp>
      <p:sp>
        <p:nvSpPr>
          <p:cNvPr id="16" name="Rounded Rectangle 15"/>
          <p:cNvSpPr/>
          <p:nvPr/>
        </p:nvSpPr>
        <p:spPr>
          <a:xfrm>
            <a:off x="640080" y="4370831"/>
            <a:ext cx="5349240" cy="868680"/>
          </a:xfrm>
          <a:prstGeom prst="roundRect">
            <a:avLst>
              <a:gd name="adj" fmla="val 12000"/>
            </a:avLst>
          </a:prstGeom>
          <a:solidFill>
            <a:srgbClr val="E9F5F0"/>
          </a:solidFill>
          <a:ln w="254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1" i="0">
                <a:solidFill>
                  <a:srgbClr val="1D2433"/>
                </a:solidFill>
                <a:latin typeface="Calibri"/>
              </a:rPr>
              <a:t>Greater than the apparent expansion</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Always zero</a:t>
            </a:r>
          </a:p>
        </p:txBody>
      </p:sp>
      <p:sp>
        <p:nvSpPr>
          <p:cNvPr id="24" name="Rounded Rectangle 23"/>
          <p:cNvSpPr/>
          <p:nvPr/>
        </p:nvSpPr>
        <p:spPr>
          <a:xfrm>
            <a:off x="640080" y="5440680"/>
            <a:ext cx="10881360" cy="109728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96128"/>
            <a:ext cx="4572000" cy="320040"/>
          </a:xfrm>
          <a:prstGeom prst="rect">
            <a:avLst/>
          </a:prstGeom>
          <a:noFill/>
        </p:spPr>
        <p:txBody>
          <a:bodyPr wrap="square" anchor="t" lIns="0" rIns="0" tIns="0" bIns="0">
            <a:spAutoFit/>
          </a:bodyPr>
          <a:lstStyle/>
          <a:p>
            <a:pPr algn="l"/>
            <a:r>
              <a:rPr sz="1300" b="1" i="0">
                <a:solidFill>
                  <a:srgbClr val="2A9D8F"/>
                </a:solidFill>
                <a:latin typeface="Arial"/>
              </a:rPr>
              <a:t>WHY</a:t>
            </a:r>
          </a:p>
        </p:txBody>
      </p:sp>
      <p:sp>
        <p:nvSpPr>
          <p:cNvPr id="26" name="TextBox 25"/>
          <p:cNvSpPr txBox="1"/>
          <p:nvPr/>
        </p:nvSpPr>
        <p:spPr>
          <a:xfrm>
            <a:off x="1005840" y="5943600"/>
            <a:ext cx="10149840" cy="548640"/>
          </a:xfrm>
          <a:prstGeom prst="rect">
            <a:avLst/>
          </a:prstGeom>
          <a:noFill/>
        </p:spPr>
        <p:txBody>
          <a:bodyPr wrap="square" anchor="t" lIns="0" rIns="0" tIns="0" bIns="0">
            <a:spAutoFit/>
          </a:bodyPr>
          <a:lstStyle/>
          <a:p>
            <a:pPr algn="l">
              <a:lnSpc>
                <a:spcPct val="105000"/>
              </a:lnSpc>
            </a:pPr>
            <a:r>
              <a:rPr sz="1450" b="0" i="0">
                <a:solidFill>
                  <a:srgbClr val="1D2433"/>
                </a:solidFill>
                <a:latin typeface="Calibri"/>
              </a:rPr>
              <a:t>The apparent expansion ignores the container's expansion. Adding back the container's share gives the real expansion, which is always the larger of the two.</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F4801A"/>
                </a:solidFill>
                <a:latin typeface="Arial"/>
              </a:rPr>
              <a:t>QUIZ QUESTION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Q4 — Why the Dip?</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On heating a liquid in a glass container, its level first falls slightly before rising. This is because:</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The liquid contracts first</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The container expands first, lowering the level</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The liquid evaporates</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The thermometer is wrong</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2A9D8F"/>
                </a:solidFill>
                <a:latin typeface="Arial"/>
              </a:rPr>
              <a:t>ANSWER REVEALED</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Q4 — Why the Dip?</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On heating a liquid in a glass container, its level first falls slightly before rising. This is because:</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The liquid contracts first</a:t>
            </a:r>
          </a:p>
        </p:txBody>
      </p:sp>
      <p:sp>
        <p:nvSpPr>
          <p:cNvPr id="12" name="Rounded Rectangle 11"/>
          <p:cNvSpPr/>
          <p:nvPr/>
        </p:nvSpPr>
        <p:spPr>
          <a:xfrm>
            <a:off x="6172200" y="3337560"/>
            <a:ext cx="5349240" cy="868680"/>
          </a:xfrm>
          <a:prstGeom prst="roundRect">
            <a:avLst>
              <a:gd name="adj" fmla="val 12000"/>
            </a:avLst>
          </a:prstGeom>
          <a:solidFill>
            <a:srgbClr val="E9F5F0"/>
          </a:solidFill>
          <a:ln w="254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1" i="0">
                <a:solidFill>
                  <a:srgbClr val="1D2433"/>
                </a:solidFill>
                <a:latin typeface="Calibri"/>
              </a:rPr>
              <a:t>The container expands first, lowering the level</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The liquid evaporates</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The thermometer is wrong</a:t>
            </a:r>
          </a:p>
        </p:txBody>
      </p:sp>
      <p:sp>
        <p:nvSpPr>
          <p:cNvPr id="24" name="Rounded Rectangle 23"/>
          <p:cNvSpPr/>
          <p:nvPr/>
        </p:nvSpPr>
        <p:spPr>
          <a:xfrm>
            <a:off x="640080" y="5440680"/>
            <a:ext cx="10881360" cy="109728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96128"/>
            <a:ext cx="4572000" cy="320040"/>
          </a:xfrm>
          <a:prstGeom prst="rect">
            <a:avLst/>
          </a:prstGeom>
          <a:noFill/>
        </p:spPr>
        <p:txBody>
          <a:bodyPr wrap="square" anchor="t" lIns="0" rIns="0" tIns="0" bIns="0">
            <a:spAutoFit/>
          </a:bodyPr>
          <a:lstStyle/>
          <a:p>
            <a:pPr algn="l"/>
            <a:r>
              <a:rPr sz="1300" b="1" i="0">
                <a:solidFill>
                  <a:srgbClr val="2A9D8F"/>
                </a:solidFill>
                <a:latin typeface="Arial"/>
              </a:rPr>
              <a:t>WHY</a:t>
            </a:r>
          </a:p>
        </p:txBody>
      </p:sp>
      <p:sp>
        <p:nvSpPr>
          <p:cNvPr id="26" name="TextBox 25"/>
          <p:cNvSpPr txBox="1"/>
          <p:nvPr/>
        </p:nvSpPr>
        <p:spPr>
          <a:xfrm>
            <a:off x="1005840" y="5943600"/>
            <a:ext cx="10149840" cy="548640"/>
          </a:xfrm>
          <a:prstGeom prst="rect">
            <a:avLst/>
          </a:prstGeom>
          <a:noFill/>
        </p:spPr>
        <p:txBody>
          <a:bodyPr wrap="square" anchor="t" lIns="0" rIns="0" tIns="0" bIns="0">
            <a:spAutoFit/>
          </a:bodyPr>
          <a:lstStyle/>
          <a:p>
            <a:pPr algn="l">
              <a:lnSpc>
                <a:spcPct val="105000"/>
              </a:lnSpc>
            </a:pPr>
            <a:r>
              <a:rPr sz="1450" b="0" i="0">
                <a:solidFill>
                  <a:srgbClr val="1D2433"/>
                </a:solidFill>
                <a:latin typeface="Calibri"/>
              </a:rPr>
              <a:t>Heat reaches the container first, so it expands and its capacity grows, dropping the level to L₂. Then the liquid itself expands and rises to L₃.</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F4801A"/>
                </a:solidFill>
                <a:latin typeface="Arial"/>
              </a:rPr>
              <a:t>QUIZ QUESTION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Q5 — Unit of α</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The coefficient of cubical expansion has the SI unit:</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m³</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K⁻¹</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J/kg</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no unit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2A9D8F"/>
                </a:solidFill>
                <a:latin typeface="Arial"/>
              </a:rPr>
              <a:t>ANSWER REVEALED</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Q5 — Unit of α</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The coefficient of cubical expansion has the SI unit:</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m³</a:t>
            </a:r>
          </a:p>
        </p:txBody>
      </p:sp>
      <p:sp>
        <p:nvSpPr>
          <p:cNvPr id="12" name="Rounded Rectangle 11"/>
          <p:cNvSpPr/>
          <p:nvPr/>
        </p:nvSpPr>
        <p:spPr>
          <a:xfrm>
            <a:off x="6172200" y="3337560"/>
            <a:ext cx="5349240" cy="868680"/>
          </a:xfrm>
          <a:prstGeom prst="roundRect">
            <a:avLst>
              <a:gd name="adj" fmla="val 12000"/>
            </a:avLst>
          </a:prstGeom>
          <a:solidFill>
            <a:srgbClr val="E9F5F0"/>
          </a:solidFill>
          <a:ln w="254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1" i="0">
                <a:solidFill>
                  <a:srgbClr val="1D2433"/>
                </a:solidFill>
                <a:latin typeface="Calibri"/>
              </a:rPr>
              <a:t>K⁻¹</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J/kg</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no unit</a:t>
            </a:r>
          </a:p>
        </p:txBody>
      </p:sp>
      <p:sp>
        <p:nvSpPr>
          <p:cNvPr id="24" name="Rounded Rectangle 23"/>
          <p:cNvSpPr/>
          <p:nvPr/>
        </p:nvSpPr>
        <p:spPr>
          <a:xfrm>
            <a:off x="640080" y="5440680"/>
            <a:ext cx="10881360" cy="109728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96128"/>
            <a:ext cx="4572000" cy="320040"/>
          </a:xfrm>
          <a:prstGeom prst="rect">
            <a:avLst/>
          </a:prstGeom>
          <a:noFill/>
        </p:spPr>
        <p:txBody>
          <a:bodyPr wrap="square" anchor="t" lIns="0" rIns="0" tIns="0" bIns="0">
            <a:spAutoFit/>
          </a:bodyPr>
          <a:lstStyle/>
          <a:p>
            <a:pPr algn="l"/>
            <a:r>
              <a:rPr sz="1300" b="1" i="0">
                <a:solidFill>
                  <a:srgbClr val="2A9D8F"/>
                </a:solidFill>
                <a:latin typeface="Arial"/>
              </a:rPr>
              <a:t>WHY</a:t>
            </a:r>
          </a:p>
        </p:txBody>
      </p:sp>
      <p:sp>
        <p:nvSpPr>
          <p:cNvPr id="26" name="TextBox 25"/>
          <p:cNvSpPr txBox="1"/>
          <p:nvPr/>
        </p:nvSpPr>
        <p:spPr>
          <a:xfrm>
            <a:off x="1005840" y="5943600"/>
            <a:ext cx="10149840" cy="548640"/>
          </a:xfrm>
          <a:prstGeom prst="rect">
            <a:avLst/>
          </a:prstGeom>
          <a:noFill/>
        </p:spPr>
        <p:txBody>
          <a:bodyPr wrap="square" anchor="t" lIns="0" rIns="0" tIns="0" bIns="0">
            <a:spAutoFit/>
          </a:bodyPr>
          <a:lstStyle/>
          <a:p>
            <a:pPr algn="l">
              <a:lnSpc>
                <a:spcPct val="105000"/>
              </a:lnSpc>
            </a:pPr>
            <a:r>
              <a:rPr sz="1450" b="0" i="0">
                <a:solidFill>
                  <a:srgbClr val="1D2433"/>
                </a:solidFill>
                <a:latin typeface="Calibri"/>
              </a:rPr>
              <a:t>Every coefficient of expansion (linear, superficial or cubical) is a fractional change per degree, so its unit is per kelvin, K⁻¹.</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D2433"/>
        </a:solidFill>
        <a:effectLst/>
      </p:bgPr>
    </p:bg>
    <p:spTree>
      <p:nvGrpSpPr>
        <p:cNvPr id="1" name=""/>
        <p:cNvGrpSpPr/>
        <p:nvPr/>
      </p:nvGrpSpPr>
      <p:grpSpPr/>
      <p:sp>
        <p:nvSpPr>
          <p:cNvPr id="2" name="Oval 1"/>
          <p:cNvSpPr/>
          <p:nvPr/>
        </p:nvSpPr>
        <p:spPr>
          <a:xfrm>
            <a:off x="-1463040" y="3108960"/>
            <a:ext cx="4754880" cy="47548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058400" y="-1645920"/>
            <a:ext cx="4206240" cy="420624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377440"/>
            <a:ext cx="10515600" cy="1097280"/>
          </a:xfrm>
          <a:prstGeom prst="rect">
            <a:avLst/>
          </a:prstGeom>
          <a:noFill/>
        </p:spPr>
        <p:txBody>
          <a:bodyPr wrap="square" anchor="t" lIns="0" rIns="0" tIns="0" bIns="0">
            <a:spAutoFit/>
          </a:bodyPr>
          <a:lstStyle/>
          <a:p>
            <a:pPr algn="l"/>
            <a:r>
              <a:rPr sz="4600" b="1" i="0">
                <a:solidFill>
                  <a:srgbClr val="FFFFFF"/>
                </a:solidFill>
                <a:latin typeface="Calibri"/>
              </a:rPr>
              <a:t>Heat Changes Matter</a:t>
            </a:r>
          </a:p>
        </p:txBody>
      </p:sp>
      <p:sp>
        <p:nvSpPr>
          <p:cNvPr id="5" name="TextBox 4"/>
          <p:cNvSpPr txBox="1"/>
          <p:nvPr/>
        </p:nvSpPr>
        <p:spPr>
          <a:xfrm>
            <a:off x="731520" y="3566160"/>
            <a:ext cx="10058400" cy="1097280"/>
          </a:xfrm>
          <a:prstGeom prst="rect">
            <a:avLst/>
          </a:prstGeom>
          <a:noFill/>
        </p:spPr>
        <p:txBody>
          <a:bodyPr wrap="square" anchor="t" lIns="0" rIns="0" tIns="0" bIns="0">
            <a:spAutoFit/>
          </a:bodyPr>
          <a:lstStyle/>
          <a:p>
            <a:pPr algn="l"/>
            <a:r>
              <a:rPr sz="1900" b="0" i="0">
                <a:solidFill>
                  <a:srgbClr val="CADCFC"/>
                </a:solidFill>
                <a:latin typeface="Calibri"/>
              </a:rPr>
              <a:t>Heat sets particles moving — raising temperature, changing state and expanding solids, liquids and gases in measurable ways.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