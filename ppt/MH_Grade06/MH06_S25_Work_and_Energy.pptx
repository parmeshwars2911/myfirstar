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by previewing these objectives so students know what they should be able to do by the end of the session.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science, work needs a force AND a displacement. Contrast 'holding a wall' (no work) with 'lifting a bag' (work).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Energy is the capacity to do work, measured in joules — the same unit as work. Introduce that energy only changes form.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Mechanical energy = potential + kinetic. Stored energy (dam water, stretched bow) becomes kinetic as it is released.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Name the main forms of energy. The Sun is the chief source; food and fuels hold chemical energy.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Trace the energy conversion chain in a hydro-electric dam: potential → kinetic → mechanical → electrical.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Conventional (fossil) vs non-conventional (renewable) sources. Stress conservation and the shift to clean energy.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Recap work, energy, its two mechanical kinds, the forms and the sources.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463040" y="3108960"/>
            <a:ext cx="4754880" cy="47548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058400" y="-1645920"/>
            <a:ext cx="4206240" cy="420624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STD 6 • GENERAL SCIENCE • WORK AND ENERGY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8046720" cy="173736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5000" b="1" i="0">
                <a:solidFill>
                  <a:srgbClr val="FFFFFF"/>
                </a:solidFill>
                <a:latin typeface="Calibri"/>
              </a:rPr>
              <a:t>Work and Energy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80467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0">
                <a:solidFill>
                  <a:srgbClr val="CADCFC"/>
                </a:solidFill>
                <a:latin typeface="Calibri"/>
              </a:rPr>
              <a:t>When is work done?  •  Energy  •  Potential and kinetic  •  Forms of energy</a:t>
            </a:r>
          </a:p>
        </p:txBody>
      </p:sp>
      <p:pic>
        <p:nvPicPr>
          <p:cNvPr id="7" name="Picture 6" descr="mh6_we_p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2560" y="2103120"/>
            <a:ext cx="2651760" cy="27432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INTRODUCTION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Learning Objectives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74519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4400" y="2167127"/>
            <a:ext cx="457200" cy="45720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167127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039112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State when work is said to be done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874519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46520" y="2167127"/>
            <a:ext cx="457200" cy="45720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2167127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86600" y="2039112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Explain that energy is the capacity to do work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182111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14400" y="3474719"/>
            <a:ext cx="457200" cy="45720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474719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3346703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Tell potential energy apart from kinetic energy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3182111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46520" y="3474719"/>
            <a:ext cx="457200" cy="457200"/>
          </a:xfrm>
          <a:prstGeom prst="ellipse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3474719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86600" y="3346703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Name the main forms of energy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4489704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14400" y="4782312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478231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54480" y="4654296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Describe how energy changes from one form to another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4489704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46520" y="4782312"/>
            <a:ext cx="457200" cy="45720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478231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86600" y="4654296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Tell conventional from non-conventional energy sources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-1463040"/>
            <a:ext cx="4937760" cy="493776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03920" y="3108960"/>
            <a:ext cx="33832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0000" b="1" i="0">
                <a:solidFill>
                  <a:srgbClr val="263149"/>
                </a:solidFill>
                <a:latin typeface="Calibri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148840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PART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697480"/>
            <a:ext cx="749807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Work and Energy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114800"/>
            <a:ext cx="7315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What 'work' means in science, and what energy is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When is Work Done?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74519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51560" y="2381097"/>
            <a:ext cx="100584" cy="545668"/>
          </a:xfrm>
          <a:prstGeom prst="roundRect">
            <a:avLst>
              <a:gd name="adj" fmla="val 5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2240279"/>
            <a:ext cx="9784080" cy="8801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1" i="0">
                <a:solidFill>
                  <a:srgbClr val="1D2433"/>
                </a:solidFill>
                <a:latin typeface="Calibri"/>
              </a:rPr>
              <a:t>Force + movement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350" b="0" i="0">
                <a:solidFill>
                  <a:srgbClr val="6B7280"/>
                </a:solidFill>
                <a:latin typeface="Calibri"/>
              </a:rPr>
              <a:t>Work is done only when a force moves an object through some distance.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" y="3261207"/>
            <a:ext cx="100584" cy="545668"/>
          </a:xfrm>
          <a:prstGeom prst="roundRect">
            <a:avLst>
              <a:gd name="adj" fmla="val 5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3120389"/>
            <a:ext cx="9784080" cy="8801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1" i="0">
                <a:solidFill>
                  <a:srgbClr val="1D2433"/>
                </a:solidFill>
                <a:latin typeface="Calibri"/>
              </a:rPr>
              <a:t>No movement, no work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350" b="0" i="0">
                <a:solidFill>
                  <a:srgbClr val="6B7280"/>
                </a:solidFill>
                <a:latin typeface="Calibri"/>
              </a:rPr>
              <a:t>Pushing hard against a wall that does not move means no work is done, in the scientific sense.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51560" y="4141317"/>
            <a:ext cx="100584" cy="545668"/>
          </a:xfrm>
          <a:prstGeom prst="roundRect">
            <a:avLst>
              <a:gd name="adj" fmla="val 5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00500"/>
            <a:ext cx="9784080" cy="8801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1" i="0">
                <a:solidFill>
                  <a:srgbClr val="1D2433"/>
                </a:solidFill>
                <a:latin typeface="Calibri"/>
              </a:rPr>
              <a:t>Everyday vs science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350" b="0" i="0">
                <a:solidFill>
                  <a:srgbClr val="6B7280"/>
                </a:solidFill>
                <a:latin typeface="Calibri"/>
              </a:rPr>
              <a:t>Reading a book may tire us, but as nothing is moved by a force, no scientific work is done.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51560" y="5021427"/>
            <a:ext cx="100584" cy="545668"/>
          </a:xfrm>
          <a:prstGeom prst="roundRect">
            <a:avLst>
              <a:gd name="adj" fmla="val 5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71600" y="4880609"/>
            <a:ext cx="9784080" cy="8801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1" i="0">
                <a:solidFill>
                  <a:srgbClr val="1D2433"/>
                </a:solidFill>
                <a:latin typeface="Calibri"/>
              </a:rPr>
              <a:t>Lifting a bag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350" b="0" i="0">
                <a:solidFill>
                  <a:srgbClr val="6B7280"/>
                </a:solidFill>
                <a:latin typeface="Calibri"/>
              </a:rPr>
              <a:t>Lifting a school bag onto a table is work — a force moves it upward.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ENERGY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Energy — the Capacity to Do Work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74519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51560" y="2381097"/>
            <a:ext cx="100584" cy="545668"/>
          </a:xfrm>
          <a:prstGeom prst="roundRect">
            <a:avLst>
              <a:gd name="adj" fmla="val 5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2240279"/>
            <a:ext cx="9784080" cy="8801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1" i="0">
                <a:solidFill>
                  <a:srgbClr val="1D2433"/>
                </a:solidFill>
                <a:latin typeface="Calibri"/>
              </a:rPr>
              <a:t>Definition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350" b="0" i="0">
                <a:solidFill>
                  <a:srgbClr val="6B7280"/>
                </a:solidFill>
                <a:latin typeface="Calibri"/>
              </a:rPr>
              <a:t>Energy is the capacity, or ability, to do work.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" y="3261207"/>
            <a:ext cx="100584" cy="545668"/>
          </a:xfrm>
          <a:prstGeom prst="roundRect">
            <a:avLst>
              <a:gd name="adj" fmla="val 5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3120389"/>
            <a:ext cx="9784080" cy="8801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1" i="0">
                <a:solidFill>
                  <a:srgbClr val="1D2433"/>
                </a:solidFill>
                <a:latin typeface="Calibri"/>
              </a:rPr>
              <a:t>From food &amp; fuel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350" b="0" i="0">
                <a:solidFill>
                  <a:srgbClr val="6B7280"/>
                </a:solidFill>
                <a:latin typeface="Calibri"/>
              </a:rPr>
              <a:t>We get energy from food; machines get it from fuel or electricity.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51560" y="4141317"/>
            <a:ext cx="100584" cy="545668"/>
          </a:xfrm>
          <a:prstGeom prst="roundRect">
            <a:avLst>
              <a:gd name="adj" fmla="val 5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00500"/>
            <a:ext cx="9784080" cy="8801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1" i="0">
                <a:solidFill>
                  <a:srgbClr val="1D2433"/>
                </a:solidFill>
                <a:latin typeface="Calibri"/>
              </a:rPr>
              <a:t>Measured in joules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350" b="0" i="0">
                <a:solidFill>
                  <a:srgbClr val="6B7280"/>
                </a:solidFill>
                <a:latin typeface="Calibri"/>
              </a:rPr>
              <a:t>Both work and energy are measured in the same unit — the joule (J).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51560" y="5021427"/>
            <a:ext cx="100584" cy="545668"/>
          </a:xfrm>
          <a:prstGeom prst="roundRect">
            <a:avLst>
              <a:gd name="adj" fmla="val 5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71600" y="4880609"/>
            <a:ext cx="9784080" cy="8801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1" i="0">
                <a:solidFill>
                  <a:srgbClr val="1D2433"/>
                </a:solidFill>
                <a:latin typeface="Calibri"/>
              </a:rPr>
              <a:t>Never lost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350" b="0" i="0">
                <a:solidFill>
                  <a:srgbClr val="6B7280"/>
                </a:solidFill>
                <a:latin typeface="Calibri"/>
              </a:rPr>
              <a:t>Energy is not destroyed; it only changes from one form to another.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MECHANICAL ENERGY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Potential and Kinetic Energy</a:t>
            </a:r>
          </a:p>
        </p:txBody>
      </p:sp>
      <p:pic>
        <p:nvPicPr>
          <p:cNvPr id="6" name="Picture 5" descr="mh6_we_p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3855" y="1965960"/>
            <a:ext cx="4754880" cy="3657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613855" y="5678424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Calibri"/>
              </a:rPr>
              <a:t>Potential energy → kinetic energy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828800"/>
            <a:ext cx="56692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10312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2A9D8F"/>
                </a:solidFill>
                <a:latin typeface="Calibri"/>
              </a:rPr>
              <a:t>Stored vs moving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2697480"/>
            <a:ext cx="5029200" cy="31089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400" b="1" i="0">
                <a:solidFill>
                  <a:srgbClr val="2A9D8F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1D2433"/>
                </a:solidFill>
                <a:latin typeface="Calibri"/>
              </a:rPr>
              <a:t>Mechanical energy has two kinds: potential and kinetic.</a:t>
            </a:r>
          </a:p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400" b="1" i="0">
                <a:solidFill>
                  <a:srgbClr val="2A9D8F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1D2433"/>
                </a:solidFill>
                <a:latin typeface="Calibri"/>
              </a:rPr>
              <a:t>Potential energy is stored because of position or state.</a:t>
            </a:r>
          </a:p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400" b="1" i="0">
                <a:solidFill>
                  <a:srgbClr val="2A9D8F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1D2433"/>
                </a:solidFill>
                <a:latin typeface="Calibri"/>
              </a:rPr>
              <a:t>Water in a dam and a stretched bow have potential energy.</a:t>
            </a:r>
          </a:p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400" b="1" i="0">
                <a:solidFill>
                  <a:srgbClr val="2A9D8F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1D2433"/>
                </a:solidFill>
                <a:latin typeface="Calibri"/>
              </a:rPr>
              <a:t>Kinetic energy is the energy of a moving object.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778240" y="-1371600"/>
            <a:ext cx="4754880" cy="47548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011680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QUIZ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560320"/>
            <a:ext cx="9601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Check — Work, Energy &amp; Its Two Kinds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749039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4 questions  •  think before the answer reveals on the next slide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When is work done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In science, work is done only when a force: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Is very large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Moves an object through a distance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Is applied by a machine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Makes us tired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When is work done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In science, work is done only when a force: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Is very large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Moves an object through a distance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Is applied by a machine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Makes us tired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Work needs both a force and a movement (displacement). If nothing moves, no scientific work is done.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No work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In which case is no scientific work done?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Lifting a bucket of water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Pushing a car that starts moving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Pushing hard against a wall that does not move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Kicking a ball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No work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In which case is no scientific work done?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Lifting a bucket of water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Pushing a car that starts moving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Pushing hard against a wall that does not move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Kicking a ball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However hard we push, if the wall does not move there is no displacement, so no work is done in the scientific sense.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Potential energy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Which of these has potential energy stored because of its position?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running boy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Water held high in a dam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moving bus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spinning fan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Potential energy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Which of these has potential energy stored because of its position?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A running boy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Water held high in a dam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A moving bus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A spinning fan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Water stored high in a dam has potential energy because of its raised position; the others are examples of kinetic energy.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Unit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Work and energy are both measured in the same unit, the: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Metre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Joule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Second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Newton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Unit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Work and energy are both measured in the same unit, the: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Metre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Joule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Second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Newton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Energy is the capacity to do work, so it is measured in the same unit as work — the joule (J).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-1463040"/>
            <a:ext cx="4937760" cy="493776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03920" y="3108960"/>
            <a:ext cx="33832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0000" b="1" i="0">
                <a:solidFill>
                  <a:srgbClr val="263149"/>
                </a:solidFill>
                <a:latin typeface="Calibri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148840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PART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697480"/>
            <a:ext cx="749807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Forms of Energy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114800"/>
            <a:ext cx="7315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The many forms of energy and how they change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FORMS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Forms of Energy</a:t>
            </a:r>
          </a:p>
        </p:txBody>
      </p:sp>
      <p:pic>
        <p:nvPicPr>
          <p:cNvPr id="6" name="Picture 5" descr="mh6_we_for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377439"/>
            <a:ext cx="5120640" cy="2834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5266943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Calibri"/>
              </a:rPr>
              <a:t>Some everyday forms of energy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99455" y="1828800"/>
            <a:ext cx="56692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65215" y="210312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2A9D8F"/>
                </a:solidFill>
                <a:latin typeface="Calibri"/>
              </a:rPr>
              <a:t>Many forms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65215" y="2697480"/>
            <a:ext cx="5029200" cy="31089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Energy appears in many forms around us.</a:t>
            </a:r>
          </a:p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Light, heat, sound, chemical, electrical and mechanical are some forms.</a:t>
            </a:r>
          </a:p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The Sun is our greatest source of light and heat energy.</a:t>
            </a:r>
          </a:p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Food and fuels store chemical energy.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CONVERSION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Energy Changes its Form</a:t>
            </a:r>
          </a:p>
        </p:txBody>
      </p:sp>
      <p:pic>
        <p:nvPicPr>
          <p:cNvPr id="6" name="Picture 5" descr="mh6_we_con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8095" y="2606039"/>
            <a:ext cx="5120640" cy="2377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248095" y="5038343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Calibri"/>
              </a:rPr>
              <a:t>Potential → kinetic → mechanical → electrical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828800"/>
            <a:ext cx="56692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10312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2A9D8F"/>
                </a:solidFill>
                <a:latin typeface="Calibri"/>
              </a:rPr>
              <a:t>One form to another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2697480"/>
            <a:ext cx="5029200" cy="31089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400" b="1" i="0">
                <a:solidFill>
                  <a:srgbClr val="2A9D8F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1D2433"/>
                </a:solidFill>
                <a:latin typeface="Calibri"/>
              </a:rPr>
              <a:t>Energy can change from one form into another.</a:t>
            </a:r>
          </a:p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400" b="1" i="0">
                <a:solidFill>
                  <a:srgbClr val="2A9D8F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1D2433"/>
                </a:solidFill>
                <a:latin typeface="Calibri"/>
              </a:rPr>
              <a:t>In a hydro-power dam, stored water starts to fall.</a:t>
            </a:r>
          </a:p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400" b="1" i="0">
                <a:solidFill>
                  <a:srgbClr val="2A9D8F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1D2433"/>
                </a:solidFill>
                <a:latin typeface="Calibri"/>
              </a:rPr>
              <a:t>Its potential energy becomes kinetic, which spins a turbine.</a:t>
            </a:r>
          </a:p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400" b="1" i="0">
                <a:solidFill>
                  <a:srgbClr val="2A9D8F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1D2433"/>
                </a:solidFill>
                <a:latin typeface="Calibri"/>
              </a:rPr>
              <a:t>The turning turbine runs a generator, giving electrical energy.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SOURCES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Conventional and Non-Conventional Sources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2323490"/>
            <a:ext cx="281635" cy="28163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Conventional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Long-used sources such as coal, petroleum and natural gas — they will run out one day.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8602" y="2323490"/>
            <a:ext cx="281635" cy="28163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Non-conventional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Renewable sources such as the Sun, wind and flowing water — they do not run out.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4152290"/>
            <a:ext cx="281635" cy="28163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Why it matters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Fossil fuels are limited and cause pollution, so we must save energy.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8602" y="4152290"/>
            <a:ext cx="281635" cy="28163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The clean choice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Solar and wind energy are cleaner and can be used again and again.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WRAP 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Quick Recap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48840"/>
            <a:ext cx="1005840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Work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force × movement; no movement, no work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Energy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the capacity to do work; unit joule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Potential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stored energy — dam water, stretched bow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Kinetic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energy of motion — falling water, running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Forms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light, heat, sound, chemical, electrical…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Sources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conventional (fossil) vs non-conventional (clean)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778240" y="-1371600"/>
            <a:ext cx="4754880" cy="47548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011680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QUIZ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560320"/>
            <a:ext cx="9601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Final Check — Forms of Energy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749039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4 questions  •  think before the answer reveals on the next slide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Kinetic energy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waterfall's rushing water is an example of: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Potential energy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Kinetic energy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Chemical energy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No energy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Kinetic energy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waterfall's rushing water is an example of: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Potential energy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Kinetic energy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Chemical energy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No energy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The falling, moving water has kinetic energy — the energy an object has because of its motion.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Conversion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In a hydro-power station, the potential energy of stored water is finally changed into ___ energy.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Sound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Chemical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Electrical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Light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Conversion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In a hydro-power station, the potential energy of stored water is finally changed into ___ energy.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Sound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Chemical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Electrical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Light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Falling water (kinetic) spins a turbine (mechanical), which runs a generator to give electrical energy.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Chemical energy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The energy stored in food and fuels is mainly: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Sound energy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Chemical energy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Light energy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Mechanical energy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Chemical energy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The energy stored in food and fuels is mainly: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Sound energy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Chemical energy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Light energy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Mechanical energy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Food and fuels store chemical energy, which is released when they are used up by our body or burnt.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Non-conventional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Which of these is a non-conventional (renewable) source of energy?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Coal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Petroleum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Solar energy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Natural gas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Non-conventional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Which of these is a non-conventional (renewable) source of energy?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Coal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Petroleum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Solar energy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Natural gas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Solar energy comes from the Sun and does not run out, so it is a non-conventional, renewable source; the others are fossil fuels.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463040" y="3108960"/>
            <a:ext cx="4754880" cy="47548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058400" y="-1645920"/>
            <a:ext cx="4206240" cy="420624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37744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Calibri"/>
              </a:rPr>
              <a:t>Energy Everywhere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56616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0">
                <a:solidFill>
                  <a:srgbClr val="CADCFC"/>
                </a:solidFill>
                <a:latin typeface="Calibri"/>
              </a:rPr>
              <a:t>From lifting a bag to lighting a city, work and energy explain how everything gets done — and why we must use energy wisely.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