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 students on the labelled figure. Light path: cornea → aqueous humour → pupil → lens → vitreous humour → retina.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coats: sclera (protect), choroid (nourish + absorb stray light), retina (detect). The cornea is the front window doing most refraction.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Iris/pupil = automatic light control; lens+ciliary = focusing; aqueous (front) and vitreous (back) humours keep shape and refract.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Retina cells: rods (dim, grey) vs cones (bright, colour). Fovea = sharpest vision; blind spot = optic-nerve exit, no receptors.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Cornea+lens = a convex system → real inverted image on retina. The brain re-inverts it. Same optics as a camera.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Accommodation = ciliary muscles changing the lens's focal length. Relaxed → thin lens (far); contracted → thick lens (near).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Near point 25 cm (= least distance of distinct vision D), far point infinity. Range of clear vision = 25 cm → ∞.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Persistence of vision (~1/16 s) → cinema. Binocular vision → depth perception. Colour blindness = defective/missing cones.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the four defects. The next slides show myopia and hypermetropia with corrections; then presbyopia and astigmatism.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Myopia: image before retina (long eyeball / strong lens). Concave lens of suitable negative power moves it onto the retina.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Hypermetropia: image behind retina (short eyeball / weak lens). Convex lens of positive power brings it forward onto the retina.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Presbyopia = age loss of accommodation → bifocals. Astigmatism = uneven curvature → cylindrical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 = 1/f (f in metres), unit dioptre. Convex → +, concave → −. Used to work out the corrective lens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distant object u → ∞ so 1/f = 1/v. Negative power confirms a concave lens corrects myopia.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lens images the 25 cm object at the 50 cm near point. Positive power confirms a convex lens corrects hypermetropia.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microscope = one short-focus convex lens; object within f → virtual, erect, magnified image. m = 1 + D/f.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Compound microscope: objective + eyepiece, both convex. Two-stage magnification multiplies. Used for cells, microbes, tiny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Astronomical telescope: long-focus objective + short-focus eyepiece; m = f_o/f_e. Opposite lens choice to the compound microscope, which uses a short-focus objective.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the physics to real devices: spectacles, microscopes, telescopes, cameras — all use controlled refraction by lenses.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defect–correction pairs and the microscope/telescope distinction are the key exam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Homework MCQs — let pupils attempt first. Answer key: Q1: B. cornea;  Q2: B. iris;  Q3: C. retina;  Q4: B. cones;  Q5: B. 25 cm.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Homework MCQs — let pupils attempt first. Answer key: Q6: B. in front of the retina;  Q7: B. convex;  Q8: C. cylindrical lens;  Q9: B. convex lens;  Q10: B. f_o / f_e.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The Human Eye &amp; Optical Instruments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Structure of the eye  •  Accommodation  •  Defects of vision  •  Microscope &amp; telescope</a:t>
            </a:r>
          </a:p>
        </p:txBody>
      </p:sp>
      <p:pic>
        <p:nvPicPr>
          <p:cNvPr id="7" name="Picture 6" descr="tn10_ey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structure of the human eye and the function of each part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the eye forms an image on the retina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accommodation and the near and far points of the eye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the defects of vision and how each is corrected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the power of a corrective lens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simple microscope, compound microscope and telescope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Human Eye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Its parts, how it forms an image, and how it focuses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Structure of the Human Eye</a:t>
            </a:r>
          </a:p>
        </p:txBody>
      </p:sp>
      <p:pic>
        <p:nvPicPr>
          <p:cNvPr id="6" name="Picture 5" descr="tn10_ey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20240"/>
            <a:ext cx="47548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7241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Labelled section of the human eye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living optical instrument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eye is a nearly spherical organ, about 2.3 cm across, filled with transparent fluids.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Light enters through the cornea, passes the pupil and lens, and falls on the retina.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figure names the main parts from the cornea in front to the optic nerve behind.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It works like a camera: a lens system throwing an image on a light-sensitive screen.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THREE COATS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Three Layers (Coats) of the Eyeball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Sclera (outer)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tough, white, protective coat; its transparent front bulge is the cornea.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Choroid (middle)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dark, blood-rich layer that nourishes the eye and stops internal reflection of light.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y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Retina (inner)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light-sensitive screen on which the image is formed.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Cornea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clear front of the sclera where MOST of the bending (refraction) of light happens.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LIGHT CONTROL &amp; FOCUSING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Iris, Pupil, Lens &amp; Humours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coloured ring that controls the size of the pupil — like a camera's aperture.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Pupil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central opening that widens in dim light and narrows in bright light.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Eye lens &amp; ciliary muscles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flexible, jelly-like convex lens whose focal length the ciliary muscles adjust.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Aqueous &amp; vitreous humour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Transparent fluids that keep the eye in shape and help refract light.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Retina — Where the Image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sensitive cells that work in dim light but see only shades of grey.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Cells that need bright light and give us colour vision (sensitive to red, green, blue).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Yellow spot (fovea)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most sensitive point, where the sharpest image forms.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Blind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Where the optic nerve leaves the eye — no rods or cones, so no image is detected there.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IMAGE 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the Eye Forms an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cornea and eye lens together act as a convex lens that forms a real, inverted, diminished image on the retina.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Object → cornea + lens → real inverted image on the retina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Most refraction occurs at the cornea; the lens only fine-tunes the focus.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on the retina is real and inverted.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brain interprets the signals so that we perceive the world upright.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ACCOMMODATION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of Accommodation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ability of the eye to change the focal length of its lens to focus objects at different distances is called accommodation.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near object → lens thick (short f)   •   far object → lens thin (long 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 distant object the ciliary muscles relax and the lens becomes thin (long focal length).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 near object the ciliary muscles contract and the lens becomes thick (short focal length).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eye adjusts automatically and almost instantly.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RANGE OF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Near Point, Far Point &amp; Range of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Near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closest point the eye can focus clearly — about 25 cm for a normal eye.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Least distance of distinct 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near-point distance, D = 25 cm; objects nearer than this look blurred.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Far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farthest point the eye can focus — infinity for a normal eye.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y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Range of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normal eye sees clearly all the way from 25 cm to infinity.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MORE VISION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Persistence of Vision &amp; Binocular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7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6A4C93"/>
                </a:solidFill>
                <a:latin typeface="Calibri"/>
              </a:rPr>
              <a:t>Good to know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3051291"/>
            <a:ext cx="100584" cy="591494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898648"/>
            <a:ext cx="9784080" cy="9540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Persistence of vision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 image lingers on the retina for about 1/16 s after the object is removed — this is why rapid still frames look like a moving film.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4005315"/>
            <a:ext cx="100584" cy="591494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52671"/>
            <a:ext cx="9784080" cy="9540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Binocular vision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Using two eyes gives a wider field of view and lets us judge distance and depth.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959339"/>
            <a:ext cx="100584" cy="591494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806695"/>
            <a:ext cx="9784080" cy="9540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Colour blindness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genetic defect (mostly in males) in which certain cones are missing, so some colours cannot be told apart.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The Eye &amp; Accommodation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Most refraction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human eye, most of the refraction (bending) of incoming light takes place at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Retina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Cornea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Optic nerve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Most refraction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human eye, most of the refraction (bending) of incoming light takes place at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Retina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Cornea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Iris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Optic nerve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greatest change in direction of light happens as it enters the curved, transparent cornea. The eye lens then makes only the fine focusing adjustment.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Focusing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eye focuses on objects at different distances by the ciliary muscles changing the lens's: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Diameter of the pupil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Focal 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Position on the retina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Focusing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eye focuses on objects at different distances by the ciliary muscles changing the lens's: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Diameter of the pupil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Focal 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Position on the retina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Accommodation works by the ciliary muscles altering the curvature — and hence the focal length — of the flexible eye lens, not by moving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Least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a normal human eye, the least distance of distinct vision (near point)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25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infinity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Least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a normal human eye, the least distance of distinct vision (near point)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25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infinity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normal eye can focus objects clearly from 25 cm (the near point) out to infinity (the far point). Objects closer than 25 cm look blurred.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Retinal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image formed on the retina of a normal eye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inverted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erect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Retinal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image formed on the retina of a normal eye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inverted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erect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convex eye-lens system forms a real, inverted image on the retina; the brain processes it so that we perceive the world the right way up.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Defects of Vision &amp; Optical Instruments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Correcting sight, and seeing the very small and very far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FOUR DEFECTS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Common Defects of Vision —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Myopia (short sight)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Can see near objects but not distant ones; image falls in front of the retina.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Hypermetropia (long sight)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Can see distant objects but not near ones; image falls behind the retina.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Presbyopia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Age-related loss of accommodation — both near and far vision weaken.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Astigmatism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Uneven curvature of the cornea/lens blurs lines in certain directions.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MYOPIA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Myopia (Short-sightedness) &amp; Its Correction</a:t>
            </a:r>
          </a:p>
        </p:txBody>
      </p:sp>
      <p:pic>
        <p:nvPicPr>
          <p:cNvPr id="6" name="Picture 5" descr="tn10_myop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2240280"/>
            <a:ext cx="512064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40410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Image forms in front of the retina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Corrected by a concave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eyeball is too long, or the lens too strongly converging.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image of a distant object forms IN FRONT of the retina, so distant objects look blurred.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concave (diverging) lens spreads the light out a little before it enters the eye.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This shifts the image back exactly onto the retina — clear vision restored.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HYPERMETROPIA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Hypermetropia (Long-sightedness) &amp; Its Correction</a:t>
            </a:r>
          </a:p>
        </p:txBody>
      </p:sp>
      <p:pic>
        <p:nvPicPr>
          <p:cNvPr id="6" name="Picture 5" descr="tn10_hypermetrop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12064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Image forms behind the retina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Corrected by a convex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eyeball is too short, or the lens too weakly converging.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image of a near object forms BEHIND the retina, so near objects look blurred.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convex (converging) lens adds the missing converging power before light enters the eye.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This brings the image forward onto the retina.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PRESBYOPIA &amp; ASTIGMATISM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 More Defects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rg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Presbyopia — 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With age the eye lens hardens and the ciliary muscles weaken, so accommodation is lost.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Presbyopia — correction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near point recedes; bifocal lenses (concave top for distance, convex bottom for reading) are used.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Astigmatism — cause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cornea or lens is not perfectly spherical, so some lines focus while others do not.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Astigmatism — correction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cylindrical lens of the correct axis corrects the uneven focusing.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POWER OF A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of a Corrective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power of a lens tells us how strongly it converges or diverges light; it is the reciprocal of the focal length in metres.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 = 1 / f (metres)     •     unit: dioptre (D)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convex (converging) lens has POSITIVE power.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concave (diverging) lens has NEGATIVE power.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optician's prescription is written directly in dioptres.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Correcting Myopia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short-sighted person's far point is only 2 m. Find the power of the spectacle lens that lets them see distant objects clearly.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concave lens must form the image of a distant object at the far point:  v = −2 m, u = −∞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1/f = 1/v − 1/u = (−1/2) − 0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−2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1/f = 1 / (−2)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 = −0.5 D  (a concave lens, as expected for myopia)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Correcting Hypermetropia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long-sighted person's near point is 50 cm. Find the power of the lens that lets them read at the normal 25 cm.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convex lens forms a virtual image of the 25 cm object at the near point: u = −25 cm, v = −50 cm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1/f = 1/v − 1/u = (−1/50) − (−1/25) = −1/50 + 2/50 = 1/50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+50 cm = +0.5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1/f = 1 /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 = +2.0 D  (a convex lens, as expected for hypermetropia)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SIMPLE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Simple Microscope (Magnifying Glass)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single convex lens of short focal length held close to the eye.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Object 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object is placed within the focal length of the lens.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virtual, erect and magnified image is seen on the same side as the object.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 = 1 + D/f, where D = 25 cm — a shorter focal length gives more magnification.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COMPOUND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Compound Microscope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Two lenses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objective (short focal length) near the object and an eyepiece near the eye.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Stage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objective forms a real, inverted, magnified image of the tiny object.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Stage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eyepiece magnifies that image again, like a simple microscope.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Total magnification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 = m(objective) × m(eyepiece) — the two magnifications multiply, giving very high magnification.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TELESCOPE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Astronomical (Refracting) Telescope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To see distant objects such as stars, planets and the Moon.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Objective lens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large, long-focal-length lens that collects light and forms a real image of the distant object.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y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Eyepiece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short-focal-length lens that magnifies this image for the eye.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normal adjustment m = f(objective) / f(eyepiece) — the opposite lens choice to the compound microscope.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Optical Instruments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Spectacles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Correct myopia, hypermetropia, presbyopia and astigmatism for clear everyday vision.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v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Microscopes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Reveal cells, bacteria and tiny structures in biology and medicine.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Telescopes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Let astronomers study distant stars, planets and galaxies.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Cameras &amp; projectors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Use convex lenses to form real images, just like the eye does on the retina.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Structure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cornea refracts; lens+ciliary focus; retina detects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Accommodation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lens changes focal length; near point 25 cm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Myopia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before retina → concave lens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Hypermetropia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behind retina → convex lens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Microscope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simple = one lens; compound = objective + eyepiece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Telescope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 = f(objective) / f(eyepiece)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Defects &amp;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Correct myopia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Myopia (short-sightedness) is corrected using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Cylindrical lens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Bifocal lens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Correct myopia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Myopia (short-sightedness) is corrected using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Convex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Cylindrical lens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Bifocal lens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myopia the image forms in front of the retina, so a concave (diverging) lens is used to push the image back onto the retina.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Old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With advancing age a person finds it hard to read small print held close. This defect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Myopia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Astigmatism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Presbyopia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 blindness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Old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With advancing age a person finds it hard to read small print held close. This defect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Myopia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Astigmatism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Presbyopia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 blindness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Presbyopia is the age-related loss of accommodation as the lens stiffens; the near point recedes, so close work needs a converging (often bifocal) lens.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Power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power of the lens used to correct hypermetropia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Negative (concave)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Positive (convex)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−0.5 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Power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power of the lens used to correct hypermetropia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Negative (concave)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Positive (convex)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Always −0.5 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Hypermetropia needs extra converging power to bring the image forward onto the retina, so a convex lens of positive power is used.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Compound microscope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compound microscope uses two convex lenses because it must: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Correct colour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Magnify a small near object in two stages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See distant stars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 the image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Compound microscope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compound microscope uses two convex lenses because it must: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Correct colour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Magnify a small near object in two stages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See distant stars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Reduce the image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objective forms a real, enlarged image of the tiny object, and the eyepiece magnifies that image again — the two magnifications multiply for a very high total magnification.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Telescope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normal adjustment the magnification of an astronomical telescope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f(eyepiece) / f(objective)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f(objective) × f(eyepiece)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f(objective) / f(eyepiece)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f(objective) + f(eyepiece)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Telescope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normal adjustment the magnification of an astronomical telescope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f(eyepiece) / f(objective)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f(objective) × f(eyepiece)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f(objective) / f(eyepiece)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f(objective) + f(eyepiece)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telescope uses a long-focus objective and a short-focus eyepiece, so m = f_o/f_e — a large ratio gives high magnification of distant objects.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Seeing the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the near point of the eye to a distant star, lenses — natural and made — bend light so that we can see.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Homework — Quick MCQs  (1–5 of 10)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064240" cy="4983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783080"/>
            <a:ext cx="310896" cy="310896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37360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Most of the refraction of light entering the eye occurs at the: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lens   (B) cornea   (C) retina   (D) pupil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724911"/>
            <a:ext cx="310896" cy="310896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24911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79191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size of the pupil is controlled by the: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81527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cornea   (B) iris   (C) retina   (D) ciliary muscle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666744"/>
            <a:ext cx="310896" cy="310896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667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621024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light-sensitive screen of the eye is the: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023360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cornea   (B) iris   (C) retina   (D) sclera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608576"/>
            <a:ext cx="310896" cy="310896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085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562856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Colour vision is due to the retinal cells called: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965192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rods   (B) cones   (C) nerves   (D) muscles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5550407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0407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504688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near point of a normal human eye is about: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907024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10 cm   (B) 25 cm   (C) 50 cm   (D) 100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Homework — Quick MCQs  (6–10 of 10)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064240" cy="4983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783080"/>
            <a:ext cx="310896" cy="310896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37360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myopia the image of a distant object is formed: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on the retina   (B) in front of the retina   (C) behind the retina   (D) at the cornea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724911"/>
            <a:ext cx="310896" cy="310896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24911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79191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Hypermetropia is corrected using a lens that is: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81527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concave   (B) convex   (C) cylindrical   (D) plane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666744"/>
            <a:ext cx="310896" cy="310896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667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621024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Astigmatism is corrected using a: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023360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concave lens   (B) convex lens   (C) cylindrical lens   (D) bifocal lens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608576"/>
            <a:ext cx="310896" cy="310896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085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562856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simple microscope is essentially a single: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965192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concave lens   (B) convex lens   (C) plane mirror   (D) prism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5550407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0407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504688"/>
            <a:ext cx="10149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magnification of an astronomical telescope is: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907024"/>
            <a:ext cx="10149840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(A) f_e / f_o   (B) f_o / f_e   (C) f_o × f_e   (D) f_o − f_e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