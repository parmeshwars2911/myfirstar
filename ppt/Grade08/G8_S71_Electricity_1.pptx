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previewing these objectives so students know what they should be able to do by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 is about electrons. Neutral = balanced. Losing electrons leaves a positive body; gaining them makes it negative. Only electrons move, not protons.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Charging by friction transfers electrons between materials. Standard examples: glass+silk (positive), ebonite+fur (negative), comb in hair.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rule: like charges repel, unlike attract. A charged body can also attract a neutral object by inducing opposite charge.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Conductors (free electrons: metals) vs insulators (tightly held: plastic, rubber). A wire combines both — copper core, plastic sheath.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Electroscope detects charge. Charge spreads to the gold leaves; like charges repel so they diverge. Wider divergence = more charge.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 can be shared by contact and removed by earthing. The earth acts as an unlimited reservoir of charge.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Lightning = large-scale static discharge. Cloud charges build, then jump as a spark. Thunder is the sound of the suddenly heated air.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Lightning safety: shelter indoors/in a car, avoid lone tall objects, lightning conductors protect buildings.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static effects: crackling clothes, clinging wrap, dusty screens, doorknob sparks. Relates the topic to daily life.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Rapid recap of charge, friction, the two-charge rule, conductors, the electroscope and lightning.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8686800" cy="457200"/>
          </a:xfrm>
          <a:prstGeom prst="rect">
            <a:avLst/>
          </a:prstGeom>
          <a:noFill/>
        </p:spPr>
        <p:txBody>
          <a:bodyPr wrap="square" anchor="t" lIns="0" rIns="0" tIns="0" bIns="0">
            <a:spAutoFit/>
          </a:bodyPr>
          <a:lstStyle/>
          <a:p>
            <a:pPr algn="l"/>
            <a:r>
              <a:rPr sz="1600" b="1" i="0">
                <a:solidFill>
                  <a:srgbClr val="FFC300"/>
                </a:solidFill>
                <a:latin typeface="Arial"/>
              </a:rPr>
              <a:t>ICSE • CLASS 8 • ELECTRICITY</a:t>
            </a:r>
          </a:p>
        </p:txBody>
      </p:sp>
      <p:sp>
        <p:nvSpPr>
          <p:cNvPr id="5" name="TextBox 4"/>
          <p:cNvSpPr txBox="1"/>
          <p:nvPr/>
        </p:nvSpPr>
        <p:spPr>
          <a:xfrm>
            <a:off x="731520" y="1828800"/>
            <a:ext cx="8046720" cy="1737360"/>
          </a:xfrm>
          <a:prstGeom prst="rect">
            <a:avLst/>
          </a:prstGeom>
          <a:noFill/>
        </p:spPr>
        <p:txBody>
          <a:bodyPr wrap="square" anchor="b" lIns="0" rIns="0" tIns="0" bIns="0">
            <a:spAutoFit/>
          </a:bodyPr>
          <a:lstStyle/>
          <a:p>
            <a:pPr algn="l"/>
            <a:r>
              <a:rPr sz="5000" b="1" i="0">
                <a:solidFill>
                  <a:srgbClr val="FFFFFF"/>
                </a:solidFill>
                <a:latin typeface="Calibri"/>
              </a:rPr>
              <a:t>Static Electricity</a:t>
            </a:r>
          </a:p>
        </p:txBody>
      </p:sp>
      <p:sp>
        <p:nvSpPr>
          <p:cNvPr id="6" name="TextBox 5"/>
          <p:cNvSpPr txBox="1"/>
          <p:nvPr/>
        </p:nvSpPr>
        <p:spPr>
          <a:xfrm>
            <a:off x="731520" y="3703320"/>
            <a:ext cx="8046720" cy="1463040"/>
          </a:xfrm>
          <a:prstGeom prst="rect">
            <a:avLst/>
          </a:prstGeom>
          <a:noFill/>
        </p:spPr>
        <p:txBody>
          <a:bodyPr wrap="square" anchor="t" lIns="0" rIns="0" tIns="0" bIns="0">
            <a:spAutoFit/>
          </a:bodyPr>
          <a:lstStyle/>
          <a:p>
            <a:pPr algn="l"/>
            <a:r>
              <a:rPr sz="1900" b="0" i="0">
                <a:solidFill>
                  <a:srgbClr val="CADCFC"/>
                </a:solidFill>
                <a:latin typeface="Calibri"/>
              </a:rPr>
              <a:t>Electric charge  •  Charging by friction  •  Two kinds of charge  •  Lightning</a:t>
            </a:r>
          </a:p>
        </p:txBody>
      </p:sp>
      <p:pic>
        <p:nvPicPr>
          <p:cNvPr id="7" name="Picture 6" descr="g8el_charges.png"/>
          <p:cNvPicPr>
            <a:picLocks noChangeAspect="1"/>
          </p:cNvPicPr>
          <p:nvPr/>
        </p:nvPicPr>
        <p:blipFill>
          <a:blip r:embed="rId2"/>
          <a:stretch>
            <a:fillRect/>
          </a:stretch>
        </p:blipFill>
        <p:spPr>
          <a:xfrm>
            <a:off x="9052560" y="2103120"/>
            <a:ext cx="2651760"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INTRODUCTION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Learning Objectives</a:t>
            </a:r>
          </a:p>
        </p:txBody>
      </p:sp>
      <p:sp>
        <p:nvSpPr>
          <p:cNvPr id="6" name="Rounded Rectangle 5"/>
          <p:cNvSpPr/>
          <p:nvPr/>
        </p:nvSpPr>
        <p:spPr>
          <a:xfrm>
            <a:off x="64008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167127"/>
            <a:ext cx="457200" cy="4572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9" name="TextBox 8"/>
          <p:cNvSpPr txBox="1"/>
          <p:nvPr/>
        </p:nvSpPr>
        <p:spPr>
          <a:xfrm>
            <a:off x="155448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what electric charge is in terms of electrons</a:t>
            </a:r>
          </a:p>
        </p:txBody>
      </p:sp>
      <p:sp>
        <p:nvSpPr>
          <p:cNvPr id="10" name="Rounded Rectangle 9"/>
          <p:cNvSpPr/>
          <p:nvPr/>
        </p:nvSpPr>
        <p:spPr>
          <a:xfrm>
            <a:off x="617220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167127"/>
            <a:ext cx="457200" cy="45720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3" name="TextBox 12"/>
          <p:cNvSpPr txBox="1"/>
          <p:nvPr/>
        </p:nvSpPr>
        <p:spPr>
          <a:xfrm>
            <a:off x="708660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Describe how a body is charged by friction</a:t>
            </a:r>
          </a:p>
        </p:txBody>
      </p:sp>
      <p:sp>
        <p:nvSpPr>
          <p:cNvPr id="14" name="Rounded Rectangle 13"/>
          <p:cNvSpPr/>
          <p:nvPr/>
        </p:nvSpPr>
        <p:spPr>
          <a:xfrm>
            <a:off x="64008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74719"/>
            <a:ext cx="457200" cy="45720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TextBox 16"/>
          <p:cNvSpPr txBox="1"/>
          <p:nvPr/>
        </p:nvSpPr>
        <p:spPr>
          <a:xfrm>
            <a:off x="155448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State the two kinds of charge and how they interact</a:t>
            </a:r>
          </a:p>
        </p:txBody>
      </p:sp>
      <p:sp>
        <p:nvSpPr>
          <p:cNvPr id="18" name="Rounded Rectangle 17"/>
          <p:cNvSpPr/>
          <p:nvPr/>
        </p:nvSpPr>
        <p:spPr>
          <a:xfrm>
            <a:off x="617220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474719"/>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1" name="TextBox 20"/>
          <p:cNvSpPr txBox="1"/>
          <p:nvPr/>
        </p:nvSpPr>
        <p:spPr>
          <a:xfrm>
            <a:off x="708660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Distinguish conductors from insulators</a:t>
            </a:r>
          </a:p>
        </p:txBody>
      </p:sp>
      <p:sp>
        <p:nvSpPr>
          <p:cNvPr id="22" name="Rounded Rectangle 21"/>
          <p:cNvSpPr/>
          <p:nvPr/>
        </p:nvSpPr>
        <p:spPr>
          <a:xfrm>
            <a:off x="64008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78231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5" name="TextBox 24"/>
          <p:cNvSpPr txBox="1"/>
          <p:nvPr/>
        </p:nvSpPr>
        <p:spPr>
          <a:xfrm>
            <a:off x="155448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Describe an electroscope and how it detects charge</a:t>
            </a:r>
          </a:p>
        </p:txBody>
      </p:sp>
      <p:sp>
        <p:nvSpPr>
          <p:cNvPr id="26" name="Rounded Rectangle 25"/>
          <p:cNvSpPr/>
          <p:nvPr/>
        </p:nvSpPr>
        <p:spPr>
          <a:xfrm>
            <a:off x="617220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7823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6</a:t>
            </a:r>
          </a:p>
        </p:txBody>
      </p:sp>
      <p:sp>
        <p:nvSpPr>
          <p:cNvPr id="29" name="TextBox 28"/>
          <p:cNvSpPr txBox="1"/>
          <p:nvPr/>
        </p:nvSpPr>
        <p:spPr>
          <a:xfrm>
            <a:off x="708660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lightning and simple lightning safety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1</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1</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Electric Charge</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Where charge comes from and how it behaves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WHAT IS CHARGE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Electric Charge</a:t>
            </a:r>
          </a:p>
        </p:txBody>
      </p:sp>
      <p:sp>
        <p:nvSpPr>
          <p:cNvPr id="6" name="Rounded Rectangle 5"/>
          <p:cNvSpPr/>
          <p:nvPr/>
        </p:nvSpPr>
        <p:spPr>
          <a:xfrm>
            <a:off x="640080" y="1828800"/>
            <a:ext cx="10881360" cy="1371600"/>
          </a:xfrm>
          <a:prstGeom prst="roundRect">
            <a:avLst>
              <a:gd name="adj" fmla="val 6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Every atom contains positive protons and negative electrons. Charge appears when a body gains or loses electrons.</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6A4C93"/>
                </a:solidFill>
                <a:latin typeface="Calibri"/>
              </a:rPr>
              <a:t>•  </a:t>
            </a:r>
            <a:r>
              <a:rPr sz="1500" b="0" i="0">
                <a:solidFill>
                  <a:srgbClr val="1D2433"/>
                </a:solidFill>
                <a:latin typeface="Calibri"/>
              </a:rPr>
              <a:t>Equal protons and electrons → the body is neutral (uncharged).</a:t>
            </a:r>
          </a:p>
          <a:p>
            <a:pPr algn="l">
              <a:spcAft>
                <a:spcPts val="900"/>
              </a:spcAft>
            </a:pPr>
            <a:r>
              <a:rPr sz="1500" b="1" i="0">
                <a:solidFill>
                  <a:srgbClr val="6A4C93"/>
                </a:solidFill>
                <a:latin typeface="Calibri"/>
              </a:rPr>
              <a:t>•  </a:t>
            </a:r>
            <a:r>
              <a:rPr sz="1500" b="0" i="0">
                <a:solidFill>
                  <a:srgbClr val="1D2433"/>
                </a:solidFill>
                <a:latin typeface="Calibri"/>
              </a:rPr>
              <a:t>Lose electrons → fewer negatives → positively charged.</a:t>
            </a:r>
          </a:p>
          <a:p>
            <a:pPr algn="l">
              <a:spcAft>
                <a:spcPts val="900"/>
              </a:spcAft>
            </a:pPr>
            <a:r>
              <a:rPr sz="1500" b="1" i="0">
                <a:solidFill>
                  <a:srgbClr val="6A4C93"/>
                </a:solidFill>
                <a:latin typeface="Calibri"/>
              </a:rPr>
              <a:t>•  </a:t>
            </a:r>
            <a:r>
              <a:rPr sz="1500" b="0" i="0">
                <a:solidFill>
                  <a:srgbClr val="1D2433"/>
                </a:solidFill>
                <a:latin typeface="Calibri"/>
              </a:rPr>
              <a:t>Gain electrons → extra negatives → negatively charged.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BY FRICTION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Charging by Friction</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Rubbing</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Rubbing two suitable materials transfers electrons from one to the other.</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Glass &amp; silk</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Glass rubbed with silk loses electrons and becomes positively charged.</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2"/>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Ebonite &amp; fur</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Ebonite rubbed with fur gains electrons and becomes negatively charged.</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Comb in hair</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 comb run through dry hair picks up electrons and can then lift bits of paper.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TWO KINDS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Two Kinds of Charge and How They Interact</a:t>
            </a:r>
          </a:p>
        </p:txBody>
      </p:sp>
      <p:pic>
        <p:nvPicPr>
          <p:cNvPr id="6" name="Picture 5" descr="g8el_charges.png"/>
          <p:cNvPicPr>
            <a:picLocks noChangeAspect="1"/>
          </p:cNvPicPr>
          <p:nvPr/>
        </p:nvPicPr>
        <p:blipFill>
          <a:blip r:embed="rId2"/>
          <a:stretch>
            <a:fillRect/>
          </a:stretch>
        </p:blipFill>
        <p:spPr>
          <a:xfrm>
            <a:off x="5882335" y="2331720"/>
            <a:ext cx="5486400" cy="2926080"/>
          </a:xfrm>
          <a:prstGeom prst="rect">
            <a:avLst/>
          </a:prstGeom>
        </p:spPr>
      </p:pic>
      <p:sp>
        <p:nvSpPr>
          <p:cNvPr id="7" name="TextBox 6"/>
          <p:cNvSpPr txBox="1"/>
          <p:nvPr/>
        </p:nvSpPr>
        <p:spPr>
          <a:xfrm>
            <a:off x="5882335" y="5312664"/>
            <a:ext cx="5486400" cy="274320"/>
          </a:xfrm>
          <a:prstGeom prst="rect">
            <a:avLst/>
          </a:prstGeom>
          <a:noFill/>
        </p:spPr>
        <p:txBody>
          <a:bodyPr wrap="square" anchor="t" lIns="0" rIns="0" tIns="0" bIns="0">
            <a:spAutoFit/>
          </a:bodyPr>
          <a:lstStyle/>
          <a:p>
            <a:pPr algn="ctr"/>
            <a:r>
              <a:rPr sz="1100" b="0" i="1">
                <a:solidFill>
                  <a:srgbClr val="6B7280"/>
                </a:solidFill>
                <a:latin typeface="Calibri"/>
              </a:rPr>
              <a:t>The basic rule of charges</a:t>
            </a:r>
          </a:p>
        </p:txBody>
      </p:sp>
      <p:sp>
        <p:nvSpPr>
          <p:cNvPr id="8" name="Rounded Rectangle 7"/>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6A4C93"/>
                </a:solidFill>
                <a:latin typeface="Calibri"/>
              </a:rPr>
              <a:t>Like repel, unlike attract</a:t>
            </a:r>
          </a:p>
        </p:txBody>
      </p:sp>
      <p:sp>
        <p:nvSpPr>
          <p:cNvPr id="10" name="TextBox 9"/>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6A4C93"/>
                </a:solidFill>
                <a:latin typeface="Calibri"/>
              </a:rPr>
              <a:t>•  </a:t>
            </a:r>
            <a:r>
              <a:rPr sz="1500" b="0" i="0">
                <a:solidFill>
                  <a:srgbClr val="1D2433"/>
                </a:solidFill>
                <a:latin typeface="Calibri"/>
              </a:rPr>
              <a:t>There are just two kinds of charge: positive and negative.</a:t>
            </a:r>
          </a:p>
          <a:p>
            <a:pPr algn="l">
              <a:lnSpc>
                <a:spcPct val="105000"/>
              </a:lnSpc>
              <a:spcAft>
                <a:spcPts val="900"/>
              </a:spcAft>
            </a:pPr>
            <a:r>
              <a:rPr sz="1500" b="1" i="0">
                <a:solidFill>
                  <a:srgbClr val="6A4C93"/>
                </a:solidFill>
                <a:latin typeface="Calibri"/>
              </a:rPr>
              <a:t>•  </a:t>
            </a:r>
            <a:r>
              <a:rPr sz="1500" b="0" i="0">
                <a:solidFill>
                  <a:srgbClr val="1D2433"/>
                </a:solidFill>
                <a:latin typeface="Calibri"/>
              </a:rPr>
              <a:t>Two like charges (both + or both –) push each other apart.</a:t>
            </a:r>
          </a:p>
          <a:p>
            <a:pPr algn="l">
              <a:lnSpc>
                <a:spcPct val="105000"/>
              </a:lnSpc>
              <a:spcAft>
                <a:spcPts val="900"/>
              </a:spcAft>
            </a:pPr>
            <a:r>
              <a:rPr sz="1500" b="1" i="0">
                <a:solidFill>
                  <a:srgbClr val="6A4C93"/>
                </a:solidFill>
                <a:latin typeface="Calibri"/>
              </a:rPr>
              <a:t>•  </a:t>
            </a:r>
            <a:r>
              <a:rPr sz="1500" b="0" i="0">
                <a:solidFill>
                  <a:srgbClr val="1D2433"/>
                </a:solidFill>
                <a:latin typeface="Calibri"/>
              </a:rPr>
              <a:t>Two unlike charges (+ and –) pull each other together.</a:t>
            </a:r>
          </a:p>
          <a:p>
            <a:pPr algn="l">
              <a:lnSpc>
                <a:spcPct val="105000"/>
              </a:lnSpc>
              <a:spcAft>
                <a:spcPts val="900"/>
              </a:spcAft>
            </a:pPr>
            <a:r>
              <a:rPr sz="1500" b="1" i="0">
                <a:solidFill>
                  <a:srgbClr val="6A4C93"/>
                </a:solidFill>
                <a:latin typeface="Calibri"/>
              </a:rPr>
              <a:t>•  </a:t>
            </a:r>
            <a:r>
              <a:rPr sz="1500" b="0" i="0">
                <a:solidFill>
                  <a:srgbClr val="1D2433"/>
                </a:solidFill>
                <a:latin typeface="Calibri"/>
              </a:rPr>
              <a:t>A charged body can also attract a light, uncharged object for a short while.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CONDUCTORS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Conductors and Insulators</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058400" cy="411480"/>
          </a:xfrm>
          <a:prstGeom prst="rect">
            <a:avLst/>
          </a:prstGeom>
          <a:noFill/>
        </p:spPr>
        <p:txBody>
          <a:bodyPr wrap="square" anchor="t" lIns="0" rIns="0" tIns="0" bIns="0">
            <a:spAutoFit/>
          </a:bodyPr>
          <a:lstStyle/>
          <a:p>
            <a:pPr algn="l"/>
            <a:r>
              <a:rPr sz="1800" b="1" i="0">
                <a:solidFill>
                  <a:srgbClr val="6A4C93"/>
                </a:solidFill>
                <a:latin typeface="Calibri"/>
              </a:rPr>
              <a:t>Letting charge move or not</a:t>
            </a:r>
          </a:p>
        </p:txBody>
      </p:sp>
      <p:sp>
        <p:nvSpPr>
          <p:cNvPr id="8" name="TextBox 7"/>
          <p:cNvSpPr txBox="1"/>
          <p:nvPr/>
        </p:nvSpPr>
        <p:spPr>
          <a:xfrm>
            <a:off x="1005840" y="2697480"/>
            <a:ext cx="10058400" cy="3063239"/>
          </a:xfrm>
          <a:prstGeom prst="rect">
            <a:avLst/>
          </a:prstGeom>
          <a:noFill/>
        </p:spPr>
        <p:txBody>
          <a:bodyPr wrap="square" anchor="t" lIns="0" rIns="0" tIns="0" bIns="0">
            <a:spAutoFit/>
          </a:bodyPr>
          <a:lstStyle/>
          <a:p>
            <a:pPr algn="l">
              <a:lnSpc>
                <a:spcPct val="105000"/>
              </a:lnSpc>
              <a:spcAft>
                <a:spcPts val="1100"/>
              </a:spcAft>
            </a:pPr>
            <a:r>
              <a:rPr sz="1600" b="1" i="0">
                <a:solidFill>
                  <a:srgbClr val="6A4C93"/>
                </a:solidFill>
                <a:latin typeface="Calibri"/>
              </a:rPr>
              <a:t>•  </a:t>
            </a:r>
            <a:r>
              <a:rPr sz="1600" b="1" i="0">
                <a:solidFill>
                  <a:srgbClr val="1D2433"/>
                </a:solidFill>
                <a:latin typeface="Calibri"/>
              </a:rPr>
              <a:t>Conductors  </a:t>
            </a:r>
            <a:r>
              <a:rPr sz="1500" b="0" i="0">
                <a:solidFill>
                  <a:srgbClr val="6B7280"/>
                </a:solidFill>
                <a:latin typeface="Calibri"/>
              </a:rPr>
              <a:t>Materials that let charge flow through them — metals, the human body, the earth.</a:t>
            </a:r>
          </a:p>
          <a:p>
            <a:pPr algn="l">
              <a:lnSpc>
                <a:spcPct val="105000"/>
              </a:lnSpc>
              <a:spcAft>
                <a:spcPts val="1100"/>
              </a:spcAft>
            </a:pPr>
            <a:r>
              <a:rPr sz="1600" b="1" i="0">
                <a:solidFill>
                  <a:srgbClr val="6A4C93"/>
                </a:solidFill>
                <a:latin typeface="Calibri"/>
              </a:rPr>
              <a:t>•  </a:t>
            </a:r>
            <a:r>
              <a:rPr sz="1600" b="1" i="0">
                <a:solidFill>
                  <a:srgbClr val="1D2433"/>
                </a:solidFill>
                <a:latin typeface="Calibri"/>
              </a:rPr>
              <a:t>Insulators  </a:t>
            </a:r>
            <a:r>
              <a:rPr sz="1500" b="0" i="0">
                <a:solidFill>
                  <a:srgbClr val="6B7280"/>
                </a:solidFill>
                <a:latin typeface="Calibri"/>
              </a:rPr>
              <a:t>Materials that do not let charge flow — plastic, rubber, glass, dry wood.</a:t>
            </a:r>
          </a:p>
          <a:p>
            <a:pPr algn="l">
              <a:lnSpc>
                <a:spcPct val="105000"/>
              </a:lnSpc>
              <a:spcAft>
                <a:spcPts val="1100"/>
              </a:spcAft>
            </a:pPr>
            <a:r>
              <a:rPr sz="1600" b="1" i="0">
                <a:solidFill>
                  <a:srgbClr val="6A4C93"/>
                </a:solidFill>
                <a:latin typeface="Calibri"/>
              </a:rPr>
              <a:t>•  </a:t>
            </a:r>
            <a:r>
              <a:rPr sz="1600" b="1" i="0">
                <a:solidFill>
                  <a:srgbClr val="1D2433"/>
                </a:solidFill>
                <a:latin typeface="Calibri"/>
              </a:rPr>
              <a:t>Why  </a:t>
            </a:r>
            <a:r>
              <a:rPr sz="1500" b="0" i="0">
                <a:solidFill>
                  <a:srgbClr val="6B7280"/>
                </a:solidFill>
                <a:latin typeface="Calibri"/>
              </a:rPr>
              <a:t>Conductors have free electrons; insulators hold their electrons tightly.</a:t>
            </a:r>
          </a:p>
          <a:p>
            <a:pPr algn="l">
              <a:lnSpc>
                <a:spcPct val="105000"/>
              </a:lnSpc>
              <a:spcAft>
                <a:spcPts val="1100"/>
              </a:spcAft>
            </a:pPr>
            <a:r>
              <a:rPr sz="1600" b="1" i="0">
                <a:solidFill>
                  <a:srgbClr val="6A4C93"/>
                </a:solidFill>
                <a:latin typeface="Calibri"/>
              </a:rPr>
              <a:t>•  </a:t>
            </a:r>
            <a:r>
              <a:rPr sz="1600" b="1" i="0">
                <a:solidFill>
                  <a:srgbClr val="1D2433"/>
                </a:solidFill>
                <a:latin typeface="Calibri"/>
              </a:rPr>
              <a:t>Use  </a:t>
            </a:r>
            <a:r>
              <a:rPr sz="1500" b="0" i="0">
                <a:solidFill>
                  <a:srgbClr val="6B7280"/>
                </a:solidFill>
                <a:latin typeface="Calibri"/>
              </a:rPr>
              <a:t>Wires use copper to carry charge and plastic to keep it safely inside.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1</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Check Your Understanding</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4 questions  •  think before the answer reveals on the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Comb Trick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plastic comb rubbed on dry hair picks up tiny bits of paper because rubbing has made the comb:</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Hotter</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Electrically charged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Magnetic</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Wet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Comb Trick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plastic comb rubbed on dry hair picks up tiny bits of paper because rubbing has made the comb:</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Hotter</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Electrically charged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Magnetic</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Wet</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Rubbing transfers electrons to the comb, giving it a charge. The charged comb then attracts the light, uncharged paper bits — a static-electricity effect, not magnetism.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Lost Electrons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glass rod rubbed with silk loses some electrons. The rod therefore becomes: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Negatively charged</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Positively charged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Neutral</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 conductor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Lost Electrons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glass rod rubbed with silk loses some electrons. The rod therefore becomes: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Negatively charged</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Positively charged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Neutral</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 conductor</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Losing electrons leaves the rod with more protons than electrons, so it carries a net positive charge. The silk, which gains those electrons, becomes negative.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Two Balloons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Two balloons rubbed on the same wool both gain the same kind of charge. Brought near each other they will:</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Attract</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Repel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Do nothing</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Stick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Two Balloons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Two balloons rubbed on the same wool both gain the same kind of charge. Brought near each other they will:</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Attract</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Repel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Do nothing</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Stick together</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Rubbed on the same material, both balloons carry like charges. Like charges repel, so the balloons push apart when brought close.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Safe Wire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copper wire is given a plastic covering because copper is a good conductor and plastic is a good:</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Conductor</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Insulator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Magnet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Fuel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Safe Wire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copper wire is given a plastic covering because copper is a good conductor and plastic is a good:</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Conductor</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Insulator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Magnet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Fuel</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copper core carries the charge, while the plastic sheath is an insulator that stops the charge escaping and keeps us safe from shocks.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2</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2</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Detecting Charge &amp; Lightning</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The electroscope and electricity in the sky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ELECTROSCOPE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Gold-Leaf Electroscope</a:t>
            </a:r>
          </a:p>
        </p:txBody>
      </p:sp>
      <p:pic>
        <p:nvPicPr>
          <p:cNvPr id="6" name="Picture 5" descr="g8el_electroscope.png"/>
          <p:cNvPicPr>
            <a:picLocks noChangeAspect="1"/>
          </p:cNvPicPr>
          <p:nvPr/>
        </p:nvPicPr>
        <p:blipFill>
          <a:blip r:embed="rId2"/>
          <a:stretch>
            <a:fillRect/>
          </a:stretch>
        </p:blipFill>
        <p:spPr>
          <a:xfrm>
            <a:off x="6430975" y="2240280"/>
            <a:ext cx="4937760" cy="3108960"/>
          </a:xfrm>
          <a:prstGeom prst="rect">
            <a:avLst/>
          </a:prstGeom>
        </p:spPr>
      </p:pic>
      <p:sp>
        <p:nvSpPr>
          <p:cNvPr id="7" name="TextBox 6"/>
          <p:cNvSpPr txBox="1"/>
          <p:nvPr/>
        </p:nvSpPr>
        <p:spPr>
          <a:xfrm>
            <a:off x="6430975" y="5404103"/>
            <a:ext cx="4937760" cy="274320"/>
          </a:xfrm>
          <a:prstGeom prst="rect">
            <a:avLst/>
          </a:prstGeom>
          <a:noFill/>
        </p:spPr>
        <p:txBody>
          <a:bodyPr wrap="square" anchor="t" lIns="0" rIns="0" tIns="0" bIns="0">
            <a:spAutoFit/>
          </a:bodyPr>
          <a:lstStyle/>
          <a:p>
            <a:pPr algn="ctr"/>
            <a:r>
              <a:rPr sz="1100" b="0" i="1">
                <a:solidFill>
                  <a:srgbClr val="6B7280"/>
                </a:solidFill>
                <a:latin typeface="Calibri"/>
              </a:rPr>
              <a:t>Diverging leaves reveal a charge</a:t>
            </a:r>
          </a:p>
        </p:txBody>
      </p:sp>
      <p:sp>
        <p:nvSpPr>
          <p:cNvPr id="8" name="Rounded Rectangle 7"/>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6A4C93"/>
                </a:solidFill>
                <a:latin typeface="Calibri"/>
              </a:rPr>
              <a:t>Leaves diverge when charged</a:t>
            </a:r>
          </a:p>
        </p:txBody>
      </p:sp>
      <p:sp>
        <p:nvSpPr>
          <p:cNvPr id="10" name="TextBox 9"/>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6A4C93"/>
                </a:solidFill>
                <a:latin typeface="Calibri"/>
              </a:rPr>
              <a:t>•  </a:t>
            </a:r>
            <a:r>
              <a:rPr sz="1500" b="0" i="0">
                <a:solidFill>
                  <a:srgbClr val="1D2433"/>
                </a:solidFill>
                <a:latin typeface="Calibri"/>
              </a:rPr>
              <a:t>An electroscope detects whether a body is charged.</a:t>
            </a:r>
          </a:p>
          <a:p>
            <a:pPr algn="l">
              <a:lnSpc>
                <a:spcPct val="105000"/>
              </a:lnSpc>
              <a:spcAft>
                <a:spcPts val="900"/>
              </a:spcAft>
            </a:pPr>
            <a:r>
              <a:rPr sz="1500" b="1" i="0">
                <a:solidFill>
                  <a:srgbClr val="6A4C93"/>
                </a:solidFill>
                <a:latin typeface="Calibri"/>
              </a:rPr>
              <a:t>•  </a:t>
            </a:r>
            <a:r>
              <a:rPr sz="1500" b="0" i="0">
                <a:solidFill>
                  <a:srgbClr val="1D2433"/>
                </a:solidFill>
                <a:latin typeface="Calibri"/>
              </a:rPr>
              <a:t>It has a metal disc and rod ending in two thin gold leaves.</a:t>
            </a:r>
          </a:p>
          <a:p>
            <a:pPr algn="l">
              <a:lnSpc>
                <a:spcPct val="105000"/>
              </a:lnSpc>
              <a:spcAft>
                <a:spcPts val="900"/>
              </a:spcAft>
            </a:pPr>
            <a:r>
              <a:rPr sz="1500" b="1" i="0">
                <a:solidFill>
                  <a:srgbClr val="6A4C93"/>
                </a:solidFill>
                <a:latin typeface="Calibri"/>
              </a:rPr>
              <a:t>•  </a:t>
            </a:r>
            <a:r>
              <a:rPr sz="1500" b="0" i="0">
                <a:solidFill>
                  <a:srgbClr val="1D2433"/>
                </a:solidFill>
                <a:latin typeface="Calibri"/>
              </a:rPr>
              <a:t>Touch it with a charged body and the leaves gain like charge.</a:t>
            </a:r>
          </a:p>
          <a:p>
            <a:pPr algn="l">
              <a:lnSpc>
                <a:spcPct val="105000"/>
              </a:lnSpc>
              <a:spcAft>
                <a:spcPts val="900"/>
              </a:spcAft>
            </a:pPr>
            <a:r>
              <a:rPr sz="1500" b="1" i="0">
                <a:solidFill>
                  <a:srgbClr val="6A4C93"/>
                </a:solidFill>
                <a:latin typeface="Calibri"/>
              </a:rPr>
              <a:t>•  </a:t>
            </a:r>
            <a:r>
              <a:rPr sz="1500" b="0" i="0">
                <a:solidFill>
                  <a:srgbClr val="1D2433"/>
                </a:solidFill>
                <a:latin typeface="Calibri"/>
              </a:rPr>
              <a:t>Like charges repel, so the leaves diverge — the more charge, the wider they spread.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TRANSFER</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Transferring Charge</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By contact</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Touching a charged body to a conductor shares the charge between them.</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lug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By earthing</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Connecting a charged conductor to the earth lets its charge flow away.</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lug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The earth</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The earth is a huge conductor that can give or take almost any amount of charge.</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Why it matters</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Earthing safely removes unwanted static charge from a body.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LIGHTNING</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Lightning</a:t>
            </a:r>
          </a:p>
        </p:txBody>
      </p:sp>
      <p:sp>
        <p:nvSpPr>
          <p:cNvPr id="6" name="Rounded Rectangle 5"/>
          <p:cNvSpPr/>
          <p:nvPr/>
        </p:nvSpPr>
        <p:spPr>
          <a:xfrm>
            <a:off x="640080" y="1828800"/>
            <a:ext cx="10881360" cy="1371600"/>
          </a:xfrm>
          <a:prstGeom prst="roundRect">
            <a:avLst>
              <a:gd name="adj" fmla="val 6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Lightning is a giant spark of static electricity. Charges build up in storm clouds until they jump suddenly to another cloud or to the ground.</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6A4C93"/>
                </a:solidFill>
                <a:latin typeface="Calibri"/>
              </a:rPr>
              <a:t>•  </a:t>
            </a:r>
            <a:r>
              <a:rPr sz="1500" b="0" i="0">
                <a:solidFill>
                  <a:srgbClr val="1D2433"/>
                </a:solidFill>
                <a:latin typeface="Calibri"/>
              </a:rPr>
              <a:t>Rising air rubs water and ice, charging the cloud.</a:t>
            </a:r>
          </a:p>
          <a:p>
            <a:pPr algn="l">
              <a:spcAft>
                <a:spcPts val="900"/>
              </a:spcAft>
            </a:pPr>
            <a:r>
              <a:rPr sz="1500" b="1" i="0">
                <a:solidFill>
                  <a:srgbClr val="6A4C93"/>
                </a:solidFill>
                <a:latin typeface="Calibri"/>
              </a:rPr>
              <a:t>•  </a:t>
            </a:r>
            <a:r>
              <a:rPr sz="1500" b="0" i="0">
                <a:solidFill>
                  <a:srgbClr val="1D2433"/>
                </a:solidFill>
                <a:latin typeface="Calibri"/>
              </a:rPr>
              <a:t>When the charge is large enough it leaps as a brilliant flash.</a:t>
            </a:r>
          </a:p>
          <a:p>
            <a:pPr algn="l">
              <a:spcAft>
                <a:spcPts val="900"/>
              </a:spcAft>
            </a:pPr>
            <a:r>
              <a:rPr sz="1500" b="1" i="0">
                <a:solidFill>
                  <a:srgbClr val="6A4C93"/>
                </a:solidFill>
                <a:latin typeface="Calibri"/>
              </a:rPr>
              <a:t>•  </a:t>
            </a:r>
            <a:r>
              <a:rPr sz="1500" b="0" i="0">
                <a:solidFill>
                  <a:srgbClr val="1D2433"/>
                </a:solidFill>
                <a:latin typeface="Calibri"/>
              </a:rPr>
              <a:t>The flash heats the air, which expands and bangs as thunder.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STAY SAFE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Lightning Safety</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Get indoors</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A building or a car is far safer than open ground.</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Avoid tall, lone objects</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Do not shelter under a single tall tree in a field.</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ay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Lightning conductor</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 metal rod on a building guides the charge safely to the earth.</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Keep low</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In the open, crouch low and keep away from water and metal.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ALL AROUND US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Static Electricity Around Us</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Crackling clothes</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Synthetic clothes rub and charge up, crackling and sparking as you undress.</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Clinging wrap</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Charged plastic wrap clings to a bowl because of attraction to opposite charge.</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2"/>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Dusty screens</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 charged TV or computer screen pulls fine dust particles onto it.</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A shock from a doorknob</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Charge picked up while walking jumps as a tiny spark when you touch metal.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WRAP UP</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Quick Recap</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058400" cy="3657600"/>
          </a:xfrm>
          <a:prstGeom prst="rect">
            <a:avLst/>
          </a:prstGeom>
          <a:noFill/>
        </p:spPr>
        <p:txBody>
          <a:bodyPr wrap="square" anchor="t" lIns="0" rIns="0" tIns="0" bIns="0">
            <a:spAutoFit/>
          </a:bodyPr>
          <a:lstStyle/>
          <a:p>
            <a:pPr algn="l">
              <a:lnSpc>
                <a:spcPct val="105000"/>
              </a:lnSpc>
              <a:spcAft>
                <a:spcPts val="1200"/>
              </a:spcAft>
            </a:pPr>
            <a:r>
              <a:rPr sz="1600" b="1" i="0">
                <a:solidFill>
                  <a:srgbClr val="2A9D8F"/>
                </a:solidFill>
                <a:latin typeface="Calibri"/>
              </a:rPr>
              <a:t>✓  </a:t>
            </a:r>
            <a:r>
              <a:rPr sz="1600" b="1" i="0">
                <a:solidFill>
                  <a:srgbClr val="1D2433"/>
                </a:solidFill>
                <a:latin typeface="Calibri"/>
              </a:rPr>
              <a:t>Charge  —  </a:t>
            </a:r>
            <a:r>
              <a:rPr sz="1500" b="0" i="0">
                <a:solidFill>
                  <a:srgbClr val="6B7280"/>
                </a:solidFill>
                <a:latin typeface="Calibri"/>
              </a:rPr>
              <a:t>from gaining or losing electrons</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Friction  —  </a:t>
            </a:r>
            <a:r>
              <a:rPr sz="1500" b="0" i="0">
                <a:solidFill>
                  <a:srgbClr val="6B7280"/>
                </a:solidFill>
                <a:latin typeface="Calibri"/>
              </a:rPr>
              <a:t>rubbing transfers electrons between materials</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Two kinds  —  </a:t>
            </a:r>
            <a:r>
              <a:rPr sz="1500" b="0" i="0">
                <a:solidFill>
                  <a:srgbClr val="6B7280"/>
                </a:solidFill>
                <a:latin typeface="Calibri"/>
              </a:rPr>
              <a:t>like charges repel, unlike attract</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Conductors  —  </a:t>
            </a:r>
            <a:r>
              <a:rPr sz="1500" b="0" i="0">
                <a:solidFill>
                  <a:srgbClr val="6B7280"/>
                </a:solidFill>
                <a:latin typeface="Calibri"/>
              </a:rPr>
              <a:t>let charge flow; insulators do not</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Electroscope  —  </a:t>
            </a:r>
            <a:r>
              <a:rPr sz="1500" b="0" i="0">
                <a:solidFill>
                  <a:srgbClr val="6B7280"/>
                </a:solidFill>
                <a:latin typeface="Calibri"/>
              </a:rPr>
              <a:t>diverging leaves reveal a charge</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Lightning  —  </a:t>
            </a:r>
            <a:r>
              <a:rPr sz="1500" b="0" i="0">
                <a:solidFill>
                  <a:srgbClr val="6B7280"/>
                </a:solidFill>
                <a:latin typeface="Calibri"/>
              </a:rPr>
              <a:t>a huge static spark; shelter and use conductors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2</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Final Check — Static Electricity</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Wider Leaves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When a more strongly charged rod touches an electroscope, its gold leaves diverge more widely. This is because the leaves now carry: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Opposite charges that attract</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More like charge, so they repel harder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charge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Heat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Wider Leaves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When a more strongly charged rod touches an electroscope, its gold leaves diverge more widely. This is because the leaves now carry: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Opposite charges that attract</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More like charge, so they repel harder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charge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Heat</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extra charge spreads onto both leaves, which then carry the same kind of charge. Greater like charge means a stronger repulsion, so the leaves spread further apart.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Thunder Sound</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We hear thunder after a lightning flash because the flash suddenly: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Cools the air</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Heats the air, which expands and makes a loud sound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Freezes the cloud</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Stops the wind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Thunder Sound</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We hear thunder after a lightning flash because the flash suddenly: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Cools the air</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Heats the air, which expands and makes a loud sound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Freezes the cloud</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Stops the wind</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lightning spark heats the surrounding air violently. The air expands with a sharp bang we hear as thunder. We see the flash first because light travels faster than sound.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Earthing</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Connecting a charged metal sphere to the ground with a wire makes it lose its charge because the earth:</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an insulator</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a huge conductor that absorbs the charge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positively charged</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Heats the sphere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Earthing</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Connecting a charged metal sphere to the ground with a wire makes it lose its charge because the earth:</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Is an insulator</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Is a huge conductor that absorbs the charge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Is positively charged</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Heats the sphere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earth is an enormous conductor. A wire lets the sphere's excess charge flow away into the ground, leaving the sphere neutral — this is earthing.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Attracting Paper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charged rod attracts tiny uncharged paper bits. The rod can do this because it: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magnetic</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Induces an opposite charge on the nearby paper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hot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heavy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Attracting Paper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charged rod attracts tiny uncharged paper bits. The rod can do this because it: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Is magnetic</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Induces an opposite charge on the nearby paper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Is hot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Is heavy</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charged rod pulls opposite charge to the near side of each paper bit. Since unlike charges attract and the opposite charge is closer, the light paper is drawn to the rod.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Lightning Conductor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metal lightning conductor on a tall building protects it by: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Attracting clouds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Carrying the lightning's charge safely to the earth</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Making thunder louder</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Storing the charge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Lightning Conductor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metal lightning conductor on a tall building protects it by: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Attracting clouds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Carrying the lightning's charge safely to the earth</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Making thunder louder</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Storing the charge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conductor offers an easy metal path from the highest point of the building down to the ground, so the lightning's charge flows harmlessly to earth instead of damaging the building.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Charge in Action</a:t>
            </a:r>
          </a:p>
        </p:txBody>
      </p:sp>
      <p:sp>
        <p:nvSpPr>
          <p:cNvPr id="5" name="TextBox 4"/>
          <p:cNvSpPr txBox="1"/>
          <p:nvPr/>
        </p:nvSpPr>
        <p:spPr>
          <a:xfrm>
            <a:off x="731520" y="3566160"/>
            <a:ext cx="10058400" cy="1097280"/>
          </a:xfrm>
          <a:prstGeom prst="rect">
            <a:avLst/>
          </a:prstGeom>
          <a:noFill/>
        </p:spPr>
        <p:txBody>
          <a:bodyPr wrap="square" anchor="t" lIns="0" rIns="0" tIns="0" bIns="0">
            <a:spAutoFit/>
          </a:bodyPr>
          <a:lstStyle/>
          <a:p>
            <a:pPr algn="l"/>
            <a:r>
              <a:rPr sz="1900" b="0" i="0">
                <a:solidFill>
                  <a:srgbClr val="CADCFC"/>
                </a:solidFill>
                <a:latin typeface="Calibri"/>
              </a:rPr>
              <a:t>From a crackling comb to a bolt of lightning, static electricity is simply electrons on the move — and balanced again.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