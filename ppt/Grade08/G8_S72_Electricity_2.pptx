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previewing these objectives so students know what they should be able to do by the end of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cell drives current; a circuit is a closed conducting path. Current flows only when the loop is complete. The switch makes/breaks the path.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dangers: shock, fire from overheating, exposed wires, and water. These motivate the safety devices that follow.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Three-wire colour code: live (brown/red), neutral (blue/black), earth (green-yellow). Correct wiring is a safety essential.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Three-pin plug: the long top pin is earth. Earthing sends fault current safely to ground, protecting the user from a shock via a metal body.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fuse is a deliberate weak link in the live wire. Excess current melts it, breaking the circuit and preventing overheating and fire.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Household wiring: meter + main fuse, appliances in parallel, switches in the live wire, separate fused circuits.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Commercial unit of electrical energy = kilowatt-hour (kWh). The meter records units; the bill charges per unit. 1 kWh = a 1 kW device for 1 hour.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Fuses are rated in amperes; pick the right value for the circuit. Modern homes use MCBs (resettable circuit breakers) in place of fuse wire.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Everyday safety precautions: dry hands, sound wiring, correct fuses, no overloading, proper earthing.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Rapid recap of circuits, dangers, colour codes, earthing, the fuse and the kilowatt-hour.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1463040" y="3108960"/>
            <a:ext cx="4754880" cy="47548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1645920"/>
            <a:ext cx="4206240" cy="420624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8686800" cy="457200"/>
          </a:xfrm>
          <a:prstGeom prst="rect">
            <a:avLst/>
          </a:prstGeom>
          <a:noFill/>
        </p:spPr>
        <p:txBody>
          <a:bodyPr wrap="square" anchor="t" lIns="0" rIns="0" tIns="0" bIns="0">
            <a:spAutoFit/>
          </a:bodyPr>
          <a:lstStyle/>
          <a:p>
            <a:pPr algn="l"/>
            <a:r>
              <a:rPr sz="1600" b="1" i="0">
                <a:solidFill>
                  <a:srgbClr val="FFC300"/>
                </a:solidFill>
                <a:latin typeface="Arial"/>
              </a:rPr>
              <a:t>ICSE • CLASS 8 • ELECTRICITY</a:t>
            </a:r>
          </a:p>
        </p:txBody>
      </p:sp>
      <p:sp>
        <p:nvSpPr>
          <p:cNvPr id="5" name="TextBox 4"/>
          <p:cNvSpPr txBox="1"/>
          <p:nvPr/>
        </p:nvSpPr>
        <p:spPr>
          <a:xfrm>
            <a:off x="731520" y="1828800"/>
            <a:ext cx="8046720" cy="1737360"/>
          </a:xfrm>
          <a:prstGeom prst="rect">
            <a:avLst/>
          </a:prstGeom>
          <a:noFill/>
        </p:spPr>
        <p:txBody>
          <a:bodyPr wrap="square" anchor="b" lIns="0" rIns="0" tIns="0" bIns="0">
            <a:spAutoFit/>
          </a:bodyPr>
          <a:lstStyle/>
          <a:p>
            <a:pPr algn="l"/>
            <a:r>
              <a:rPr sz="4200" b="1" i="0">
                <a:solidFill>
                  <a:srgbClr val="FFFFFF"/>
                </a:solidFill>
                <a:latin typeface="Calibri"/>
              </a:rPr>
              <a:t>Electricity in the Home</a:t>
            </a:r>
          </a:p>
        </p:txBody>
      </p:sp>
      <p:sp>
        <p:nvSpPr>
          <p:cNvPr id="6" name="TextBox 5"/>
          <p:cNvSpPr txBox="1"/>
          <p:nvPr/>
        </p:nvSpPr>
        <p:spPr>
          <a:xfrm>
            <a:off x="731520" y="3703320"/>
            <a:ext cx="8046720" cy="1463040"/>
          </a:xfrm>
          <a:prstGeom prst="rect">
            <a:avLst/>
          </a:prstGeom>
          <a:noFill/>
        </p:spPr>
        <p:txBody>
          <a:bodyPr wrap="square" anchor="t" lIns="0" rIns="0" tIns="0" bIns="0">
            <a:spAutoFit/>
          </a:bodyPr>
          <a:lstStyle/>
          <a:p>
            <a:pPr algn="l"/>
            <a:r>
              <a:rPr sz="1900" b="0" i="0">
                <a:solidFill>
                  <a:srgbClr val="CADCFC"/>
                </a:solidFill>
                <a:latin typeface="Calibri"/>
              </a:rPr>
              <a:t>Cells &amp; circuits  •  Wire colour codes  •  Earthing &amp; fuse  •  The electricity meter</a:t>
            </a:r>
          </a:p>
        </p:txBody>
      </p:sp>
      <p:pic>
        <p:nvPicPr>
          <p:cNvPr id="7" name="Picture 6" descr="g8el_circuit.png"/>
          <p:cNvPicPr>
            <a:picLocks noChangeAspect="1"/>
          </p:cNvPicPr>
          <p:nvPr/>
        </p:nvPicPr>
        <p:blipFill>
          <a:blip r:embed="rId2"/>
          <a:stretch>
            <a:fillRect/>
          </a:stretch>
        </p:blipFill>
        <p:spPr>
          <a:xfrm>
            <a:off x="9052560" y="2103120"/>
            <a:ext cx="2651760" cy="2743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INTRODUCTION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Learning Objectives</a:t>
            </a:r>
          </a:p>
        </p:txBody>
      </p:sp>
      <p:sp>
        <p:nvSpPr>
          <p:cNvPr id="6" name="Rounded Rectangle 5"/>
          <p:cNvSpPr/>
          <p:nvPr/>
        </p:nvSpPr>
        <p:spPr>
          <a:xfrm>
            <a:off x="640080" y="1874519"/>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2167127"/>
            <a:ext cx="457200" cy="45720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67127"/>
            <a:ext cx="457200" cy="457200"/>
          </a:xfrm>
          <a:prstGeom prst="rect">
            <a:avLst/>
          </a:prstGeom>
          <a:noFill/>
        </p:spPr>
        <p:txBody>
          <a:bodyPr wrap="square" anchor="ctr" lIns="0" rIns="0" tIns="0" bIns="0">
            <a:spAutoFit/>
          </a:bodyPr>
          <a:lstStyle/>
          <a:p>
            <a:pPr algn="ctr"/>
            <a:r>
              <a:rPr sz="1600" b="1" i="0">
                <a:solidFill>
                  <a:srgbClr val="FFFFFF"/>
                </a:solidFill>
                <a:latin typeface="Calibri"/>
              </a:rPr>
              <a:t>1</a:t>
            </a:r>
          </a:p>
        </p:txBody>
      </p:sp>
      <p:sp>
        <p:nvSpPr>
          <p:cNvPr id="9" name="TextBox 8"/>
          <p:cNvSpPr txBox="1"/>
          <p:nvPr/>
        </p:nvSpPr>
        <p:spPr>
          <a:xfrm>
            <a:off x="1554480" y="2039112"/>
            <a:ext cx="4251959" cy="777239"/>
          </a:xfrm>
          <a:prstGeom prst="rect">
            <a:avLst/>
          </a:prstGeom>
          <a:noFill/>
        </p:spPr>
        <p:txBody>
          <a:bodyPr wrap="square" anchor="ctr" lIns="0" rIns="0" tIns="0" bIns="0">
            <a:spAutoFit/>
          </a:bodyPr>
          <a:lstStyle/>
          <a:p>
            <a:pPr algn="l"/>
            <a:r>
              <a:rPr sz="1450" b="0" i="0">
                <a:solidFill>
                  <a:srgbClr val="1D2433"/>
                </a:solidFill>
                <a:latin typeface="Calibri"/>
              </a:rPr>
              <a:t>Describe a cell and a simple electric circuit</a:t>
            </a:r>
          </a:p>
        </p:txBody>
      </p:sp>
      <p:sp>
        <p:nvSpPr>
          <p:cNvPr id="10" name="Rounded Rectangle 9"/>
          <p:cNvSpPr/>
          <p:nvPr/>
        </p:nvSpPr>
        <p:spPr>
          <a:xfrm>
            <a:off x="6172200" y="1874519"/>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2167127"/>
            <a:ext cx="457200" cy="45720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167127"/>
            <a:ext cx="457200" cy="457200"/>
          </a:xfrm>
          <a:prstGeom prst="rect">
            <a:avLst/>
          </a:prstGeom>
          <a:noFill/>
        </p:spPr>
        <p:txBody>
          <a:bodyPr wrap="square" anchor="ctr" lIns="0" rIns="0" tIns="0" bIns="0">
            <a:spAutoFit/>
          </a:bodyPr>
          <a:lstStyle/>
          <a:p>
            <a:pPr algn="ctr"/>
            <a:r>
              <a:rPr sz="1600" b="1" i="0">
                <a:solidFill>
                  <a:srgbClr val="FFFFFF"/>
                </a:solidFill>
                <a:latin typeface="Calibri"/>
              </a:rPr>
              <a:t>2</a:t>
            </a:r>
          </a:p>
        </p:txBody>
      </p:sp>
      <p:sp>
        <p:nvSpPr>
          <p:cNvPr id="13" name="TextBox 12"/>
          <p:cNvSpPr txBox="1"/>
          <p:nvPr/>
        </p:nvSpPr>
        <p:spPr>
          <a:xfrm>
            <a:off x="7086600" y="2039112"/>
            <a:ext cx="4251959" cy="777239"/>
          </a:xfrm>
          <a:prstGeom prst="rect">
            <a:avLst/>
          </a:prstGeom>
          <a:noFill/>
        </p:spPr>
        <p:txBody>
          <a:bodyPr wrap="square" anchor="ctr" lIns="0" rIns="0" tIns="0" bIns="0">
            <a:spAutoFit/>
          </a:bodyPr>
          <a:lstStyle/>
          <a:p>
            <a:pPr algn="l"/>
            <a:r>
              <a:rPr sz="1450" b="0" i="0">
                <a:solidFill>
                  <a:srgbClr val="1D2433"/>
                </a:solidFill>
                <a:latin typeface="Calibri"/>
              </a:rPr>
              <a:t>State the dangers of electricity</a:t>
            </a:r>
          </a:p>
        </p:txBody>
      </p:sp>
      <p:sp>
        <p:nvSpPr>
          <p:cNvPr id="14" name="Rounded Rectangle 13"/>
          <p:cNvSpPr/>
          <p:nvPr/>
        </p:nvSpPr>
        <p:spPr>
          <a:xfrm>
            <a:off x="640080" y="3182111"/>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14400" y="3474719"/>
            <a:ext cx="457200" cy="45720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474719"/>
            <a:ext cx="457200" cy="457200"/>
          </a:xfrm>
          <a:prstGeom prst="rect">
            <a:avLst/>
          </a:prstGeom>
          <a:noFill/>
        </p:spPr>
        <p:txBody>
          <a:bodyPr wrap="square" anchor="ctr" lIns="0" rIns="0" tIns="0" bIns="0">
            <a:spAutoFit/>
          </a:bodyPr>
          <a:lstStyle/>
          <a:p>
            <a:pPr algn="ctr"/>
            <a:r>
              <a:rPr sz="1600" b="1" i="0">
                <a:solidFill>
                  <a:srgbClr val="FFFFFF"/>
                </a:solidFill>
                <a:latin typeface="Calibri"/>
              </a:rPr>
              <a:t>3</a:t>
            </a:r>
          </a:p>
        </p:txBody>
      </p:sp>
      <p:sp>
        <p:nvSpPr>
          <p:cNvPr id="17" name="TextBox 16"/>
          <p:cNvSpPr txBox="1"/>
          <p:nvPr/>
        </p:nvSpPr>
        <p:spPr>
          <a:xfrm>
            <a:off x="1554480" y="3346703"/>
            <a:ext cx="4251959" cy="777239"/>
          </a:xfrm>
          <a:prstGeom prst="rect">
            <a:avLst/>
          </a:prstGeom>
          <a:noFill/>
        </p:spPr>
        <p:txBody>
          <a:bodyPr wrap="square" anchor="ctr" lIns="0" rIns="0" tIns="0" bIns="0">
            <a:spAutoFit/>
          </a:bodyPr>
          <a:lstStyle/>
          <a:p>
            <a:pPr algn="l"/>
            <a:r>
              <a:rPr sz="1450" b="0" i="0">
                <a:solidFill>
                  <a:srgbClr val="1D2433"/>
                </a:solidFill>
                <a:latin typeface="Calibri"/>
              </a:rPr>
              <a:t>Give the colour code of the wires in a cable</a:t>
            </a:r>
          </a:p>
        </p:txBody>
      </p:sp>
      <p:sp>
        <p:nvSpPr>
          <p:cNvPr id="18" name="Rounded Rectangle 17"/>
          <p:cNvSpPr/>
          <p:nvPr/>
        </p:nvSpPr>
        <p:spPr>
          <a:xfrm>
            <a:off x="6172200" y="3182111"/>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46520" y="3474719"/>
            <a:ext cx="457200" cy="457200"/>
          </a:xfrm>
          <a:prstGeom prst="ellipse">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474719"/>
            <a:ext cx="457200" cy="457200"/>
          </a:xfrm>
          <a:prstGeom prst="rect">
            <a:avLst/>
          </a:prstGeom>
          <a:noFill/>
        </p:spPr>
        <p:txBody>
          <a:bodyPr wrap="square" anchor="ctr" lIns="0" rIns="0" tIns="0" bIns="0">
            <a:spAutoFit/>
          </a:bodyPr>
          <a:lstStyle/>
          <a:p>
            <a:pPr algn="ctr"/>
            <a:r>
              <a:rPr sz="1600" b="1" i="0">
                <a:solidFill>
                  <a:srgbClr val="FFFFFF"/>
                </a:solidFill>
                <a:latin typeface="Calibri"/>
              </a:rPr>
              <a:t>4</a:t>
            </a:r>
          </a:p>
        </p:txBody>
      </p:sp>
      <p:sp>
        <p:nvSpPr>
          <p:cNvPr id="21" name="TextBox 20"/>
          <p:cNvSpPr txBox="1"/>
          <p:nvPr/>
        </p:nvSpPr>
        <p:spPr>
          <a:xfrm>
            <a:off x="7086600" y="3346703"/>
            <a:ext cx="4251959" cy="777239"/>
          </a:xfrm>
          <a:prstGeom prst="rect">
            <a:avLst/>
          </a:prstGeom>
          <a:noFill/>
        </p:spPr>
        <p:txBody>
          <a:bodyPr wrap="square" anchor="ctr" lIns="0" rIns="0" tIns="0" bIns="0">
            <a:spAutoFit/>
          </a:bodyPr>
          <a:lstStyle/>
          <a:p>
            <a:pPr algn="l"/>
            <a:r>
              <a:rPr sz="1450" b="0" i="0">
                <a:solidFill>
                  <a:srgbClr val="1D2433"/>
                </a:solidFill>
                <a:latin typeface="Calibri"/>
              </a:rPr>
              <a:t>Explain the purpose of earthing and of a fuse</a:t>
            </a:r>
          </a:p>
        </p:txBody>
      </p:sp>
      <p:sp>
        <p:nvSpPr>
          <p:cNvPr id="22" name="Rounded Rectangle 21"/>
          <p:cNvSpPr/>
          <p:nvPr/>
        </p:nvSpPr>
        <p:spPr>
          <a:xfrm>
            <a:off x="640080" y="4489704"/>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14400" y="4782312"/>
            <a:ext cx="457200" cy="4572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782312"/>
            <a:ext cx="457200" cy="457200"/>
          </a:xfrm>
          <a:prstGeom prst="rect">
            <a:avLst/>
          </a:prstGeom>
          <a:noFill/>
        </p:spPr>
        <p:txBody>
          <a:bodyPr wrap="square" anchor="ctr" lIns="0" rIns="0" tIns="0" bIns="0">
            <a:spAutoFit/>
          </a:bodyPr>
          <a:lstStyle/>
          <a:p>
            <a:pPr algn="ctr"/>
            <a:r>
              <a:rPr sz="1600" b="1" i="0">
                <a:solidFill>
                  <a:srgbClr val="FFFFFF"/>
                </a:solidFill>
                <a:latin typeface="Calibri"/>
              </a:rPr>
              <a:t>5</a:t>
            </a:r>
          </a:p>
        </p:txBody>
      </p:sp>
      <p:sp>
        <p:nvSpPr>
          <p:cNvPr id="25" name="TextBox 24"/>
          <p:cNvSpPr txBox="1"/>
          <p:nvPr/>
        </p:nvSpPr>
        <p:spPr>
          <a:xfrm>
            <a:off x="1554480" y="4654296"/>
            <a:ext cx="4251959" cy="777239"/>
          </a:xfrm>
          <a:prstGeom prst="rect">
            <a:avLst/>
          </a:prstGeom>
          <a:noFill/>
        </p:spPr>
        <p:txBody>
          <a:bodyPr wrap="square" anchor="ctr" lIns="0" rIns="0" tIns="0" bIns="0">
            <a:spAutoFit/>
          </a:bodyPr>
          <a:lstStyle/>
          <a:p>
            <a:pPr algn="l"/>
            <a:r>
              <a:rPr sz="1450" b="0" i="0">
                <a:solidFill>
                  <a:srgbClr val="1D2433"/>
                </a:solidFill>
                <a:latin typeface="Calibri"/>
              </a:rPr>
              <a:t>Describe a simple household circuit</a:t>
            </a:r>
          </a:p>
        </p:txBody>
      </p:sp>
      <p:sp>
        <p:nvSpPr>
          <p:cNvPr id="26" name="Rounded Rectangle 25"/>
          <p:cNvSpPr/>
          <p:nvPr/>
        </p:nvSpPr>
        <p:spPr>
          <a:xfrm>
            <a:off x="6172200" y="4489704"/>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46520" y="4782312"/>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4782312"/>
            <a:ext cx="457200" cy="457200"/>
          </a:xfrm>
          <a:prstGeom prst="rect">
            <a:avLst/>
          </a:prstGeom>
          <a:noFill/>
        </p:spPr>
        <p:txBody>
          <a:bodyPr wrap="square" anchor="ctr" lIns="0" rIns="0" tIns="0" bIns="0">
            <a:spAutoFit/>
          </a:bodyPr>
          <a:lstStyle/>
          <a:p>
            <a:pPr algn="ctr"/>
            <a:r>
              <a:rPr sz="1600" b="1" i="0">
                <a:solidFill>
                  <a:srgbClr val="FFFFFF"/>
                </a:solidFill>
                <a:latin typeface="Calibri"/>
              </a:rPr>
              <a:t>6</a:t>
            </a:r>
          </a:p>
        </p:txBody>
      </p:sp>
      <p:sp>
        <p:nvSpPr>
          <p:cNvPr id="29" name="TextBox 28"/>
          <p:cNvSpPr txBox="1"/>
          <p:nvPr/>
        </p:nvSpPr>
        <p:spPr>
          <a:xfrm>
            <a:off x="7086600" y="4654296"/>
            <a:ext cx="4251959" cy="777239"/>
          </a:xfrm>
          <a:prstGeom prst="rect">
            <a:avLst/>
          </a:prstGeom>
          <a:noFill/>
        </p:spPr>
        <p:txBody>
          <a:bodyPr wrap="square" anchor="ctr" lIns="0" rIns="0" tIns="0" bIns="0">
            <a:spAutoFit/>
          </a:bodyPr>
          <a:lstStyle/>
          <a:p>
            <a:pPr algn="l"/>
            <a:r>
              <a:rPr sz="1450" b="0" i="0">
                <a:solidFill>
                  <a:srgbClr val="1D2433"/>
                </a:solidFill>
                <a:latin typeface="Calibri"/>
              </a:rPr>
              <a:t>Explain the unit in which electrical energy is sold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595360" y="-1463040"/>
            <a:ext cx="4937760" cy="493776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03920" y="3108960"/>
            <a:ext cx="3383280" cy="2743200"/>
          </a:xfrm>
          <a:prstGeom prst="rect">
            <a:avLst/>
          </a:prstGeom>
          <a:noFill/>
        </p:spPr>
        <p:txBody>
          <a:bodyPr wrap="square" anchor="t" lIns="0" rIns="0" tIns="0" bIns="0">
            <a:spAutoFit/>
          </a:bodyPr>
          <a:lstStyle/>
          <a:p>
            <a:pPr algn="r"/>
            <a:r>
              <a:rPr sz="20000" b="1" i="0">
                <a:solidFill>
                  <a:srgbClr val="263149"/>
                </a:solidFill>
                <a:latin typeface="Calibri"/>
              </a:rPr>
              <a:t>1</a:t>
            </a:r>
          </a:p>
        </p:txBody>
      </p:sp>
      <p:sp>
        <p:nvSpPr>
          <p:cNvPr id="4" name="TextBox 3"/>
          <p:cNvSpPr txBox="1"/>
          <p:nvPr/>
        </p:nvSpPr>
        <p:spPr>
          <a:xfrm>
            <a:off x="777240" y="2148840"/>
            <a:ext cx="6949440" cy="457200"/>
          </a:xfrm>
          <a:prstGeom prst="rect">
            <a:avLst/>
          </a:prstGeom>
          <a:noFill/>
        </p:spPr>
        <p:txBody>
          <a:bodyPr wrap="square" anchor="t" lIns="0" rIns="0" tIns="0" bIns="0">
            <a:spAutoFit/>
          </a:bodyPr>
          <a:lstStyle/>
          <a:p>
            <a:pPr algn="l"/>
            <a:r>
              <a:rPr sz="1600" b="1" i="0">
                <a:solidFill>
                  <a:srgbClr val="FFC300"/>
                </a:solidFill>
                <a:latin typeface="Arial"/>
              </a:rPr>
              <a:t>PART 1</a:t>
            </a:r>
          </a:p>
        </p:txBody>
      </p:sp>
      <p:sp>
        <p:nvSpPr>
          <p:cNvPr id="5" name="TextBox 4"/>
          <p:cNvSpPr txBox="1"/>
          <p:nvPr/>
        </p:nvSpPr>
        <p:spPr>
          <a:xfrm>
            <a:off x="777240" y="2697480"/>
            <a:ext cx="7498079" cy="1097280"/>
          </a:xfrm>
          <a:prstGeom prst="rect">
            <a:avLst/>
          </a:prstGeom>
          <a:noFill/>
        </p:spPr>
        <p:txBody>
          <a:bodyPr wrap="square" anchor="t" lIns="0" rIns="0" tIns="0" bIns="0">
            <a:spAutoFit/>
          </a:bodyPr>
          <a:lstStyle/>
          <a:p>
            <a:pPr algn="l"/>
            <a:r>
              <a:rPr sz="4200" b="1" i="0">
                <a:solidFill>
                  <a:srgbClr val="FFFFFF"/>
                </a:solidFill>
                <a:latin typeface="Calibri"/>
              </a:rPr>
              <a:t>Cells, Circuits &amp; Safety</a:t>
            </a:r>
          </a:p>
        </p:txBody>
      </p:sp>
      <p:sp>
        <p:nvSpPr>
          <p:cNvPr id="6" name="TextBox 5"/>
          <p:cNvSpPr txBox="1"/>
          <p:nvPr/>
        </p:nvSpPr>
        <p:spPr>
          <a:xfrm>
            <a:off x="777240" y="4114800"/>
            <a:ext cx="7315200" cy="822960"/>
          </a:xfrm>
          <a:prstGeom prst="rect">
            <a:avLst/>
          </a:prstGeom>
          <a:noFill/>
        </p:spPr>
        <p:txBody>
          <a:bodyPr wrap="square" anchor="t" lIns="0" rIns="0" tIns="0" bIns="0">
            <a:spAutoFit/>
          </a:bodyPr>
          <a:lstStyle/>
          <a:p>
            <a:pPr algn="l"/>
            <a:r>
              <a:rPr sz="1800" b="0" i="0">
                <a:solidFill>
                  <a:srgbClr val="CADCFC"/>
                </a:solidFill>
                <a:latin typeface="Calibri"/>
              </a:rPr>
              <a:t>Making a current flow and using it safely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CIRCUITS</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Cells and Circuits</a:t>
            </a:r>
          </a:p>
        </p:txBody>
      </p:sp>
      <p:pic>
        <p:nvPicPr>
          <p:cNvPr id="6" name="Picture 5" descr="g8el_circuit.png"/>
          <p:cNvPicPr>
            <a:picLocks noChangeAspect="1"/>
          </p:cNvPicPr>
          <p:nvPr/>
        </p:nvPicPr>
        <p:blipFill>
          <a:blip r:embed="rId2"/>
          <a:stretch>
            <a:fillRect/>
          </a:stretch>
        </p:blipFill>
        <p:spPr>
          <a:xfrm>
            <a:off x="5882335" y="2331720"/>
            <a:ext cx="5486400" cy="2926080"/>
          </a:xfrm>
          <a:prstGeom prst="rect">
            <a:avLst/>
          </a:prstGeom>
        </p:spPr>
      </p:pic>
      <p:sp>
        <p:nvSpPr>
          <p:cNvPr id="7" name="TextBox 6"/>
          <p:cNvSpPr txBox="1"/>
          <p:nvPr/>
        </p:nvSpPr>
        <p:spPr>
          <a:xfrm>
            <a:off x="5882335" y="5312664"/>
            <a:ext cx="5486400" cy="274320"/>
          </a:xfrm>
          <a:prstGeom prst="rect">
            <a:avLst/>
          </a:prstGeom>
          <a:noFill/>
        </p:spPr>
        <p:txBody>
          <a:bodyPr wrap="square" anchor="t" lIns="0" rIns="0" tIns="0" bIns="0">
            <a:spAutoFit/>
          </a:bodyPr>
          <a:lstStyle/>
          <a:p>
            <a:pPr algn="ctr"/>
            <a:r>
              <a:rPr sz="1100" b="0" i="1">
                <a:solidFill>
                  <a:srgbClr val="6B7280"/>
                </a:solidFill>
                <a:latin typeface="Calibri"/>
              </a:rPr>
              <a:t>Cell, switch and bulb in a closed loop</a:t>
            </a:r>
          </a:p>
        </p:txBody>
      </p:sp>
      <p:sp>
        <p:nvSpPr>
          <p:cNvPr id="8" name="Rounded Rectangle 7"/>
          <p:cNvSpPr/>
          <p:nvPr/>
        </p:nvSpPr>
        <p:spPr>
          <a:xfrm>
            <a:off x="822960" y="1828800"/>
            <a:ext cx="5669280" cy="393192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057400"/>
            <a:ext cx="5029200" cy="411480"/>
          </a:xfrm>
          <a:prstGeom prst="rect">
            <a:avLst/>
          </a:prstGeom>
          <a:noFill/>
        </p:spPr>
        <p:txBody>
          <a:bodyPr wrap="square" anchor="t" lIns="0" rIns="0" tIns="0" bIns="0">
            <a:spAutoFit/>
          </a:bodyPr>
          <a:lstStyle/>
          <a:p>
            <a:pPr algn="l"/>
            <a:r>
              <a:rPr sz="1800" b="1" i="0">
                <a:solidFill>
                  <a:srgbClr val="0A9396"/>
                </a:solidFill>
                <a:latin typeface="Calibri"/>
              </a:rPr>
              <a:t>A complete path</a:t>
            </a:r>
          </a:p>
        </p:txBody>
      </p:sp>
      <p:sp>
        <p:nvSpPr>
          <p:cNvPr id="10" name="TextBox 9"/>
          <p:cNvSpPr txBox="1"/>
          <p:nvPr/>
        </p:nvSpPr>
        <p:spPr>
          <a:xfrm>
            <a:off x="1143000" y="2606040"/>
            <a:ext cx="5074920" cy="3063240"/>
          </a:xfrm>
          <a:prstGeom prst="rect">
            <a:avLst/>
          </a:prstGeom>
          <a:noFill/>
        </p:spPr>
        <p:txBody>
          <a:bodyPr wrap="square" anchor="t" lIns="0" rIns="0" tIns="0" bIns="0">
            <a:spAutoFit/>
          </a:bodyPr>
          <a:lstStyle/>
          <a:p>
            <a:pPr algn="l">
              <a:lnSpc>
                <a:spcPct val="105000"/>
              </a:lnSpc>
              <a:spcAft>
                <a:spcPts val="900"/>
              </a:spcAft>
            </a:pPr>
            <a:r>
              <a:rPr sz="1500" b="1" i="0">
                <a:solidFill>
                  <a:srgbClr val="0A9396"/>
                </a:solidFill>
                <a:latin typeface="Calibri"/>
              </a:rPr>
              <a:t>•  </a:t>
            </a:r>
            <a:r>
              <a:rPr sz="1500" b="0" i="0">
                <a:solidFill>
                  <a:srgbClr val="1D2433"/>
                </a:solidFill>
                <a:latin typeface="Calibri"/>
              </a:rPr>
              <a:t>A cell pushes electric charge around a circuit.</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A circuit is a closed path of conductors for the current.</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Current flows only when the path is complete and the switch is on.</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A switch simply makes or breaks the path to turn things on or off.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DANGERS</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The Dangers of Electricity</a:t>
            </a:r>
          </a:p>
        </p:txBody>
      </p:sp>
      <p:sp>
        <p:nvSpPr>
          <p:cNvPr id="6" name="Rounded Rectangle 5"/>
          <p:cNvSpPr/>
          <p:nvPr/>
        </p:nvSpPr>
        <p:spPr>
          <a:xfrm>
            <a:off x="64008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19" y="2212848"/>
            <a:ext cx="502920" cy="502920"/>
          </a:xfrm>
          <a:prstGeom prst="roundRect">
            <a:avLst>
              <a:gd name="adj" fmla="val 30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bolt_FFFFFF.png"/>
          <p:cNvPicPr>
            <a:picLocks noChangeAspect="1"/>
          </p:cNvPicPr>
          <p:nvPr/>
        </p:nvPicPr>
        <p:blipFill>
          <a:blip r:embed="rId2"/>
          <a:stretch>
            <a:fillRect/>
          </a:stretch>
        </p:blipFill>
        <p:spPr>
          <a:xfrm>
            <a:off x="1070762" y="2323490"/>
            <a:ext cx="281635" cy="281635"/>
          </a:xfrm>
          <a:prstGeom prst="rect">
            <a:avLst/>
          </a:prstGeom>
        </p:spPr>
      </p:pic>
      <p:sp>
        <p:nvSpPr>
          <p:cNvPr id="9" name="TextBox 8"/>
          <p:cNvSpPr txBox="1"/>
          <p:nvPr/>
        </p:nvSpPr>
        <p:spPr>
          <a:xfrm>
            <a:off x="164592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Electric shock</a:t>
            </a:r>
          </a:p>
        </p:txBody>
      </p:sp>
      <p:sp>
        <p:nvSpPr>
          <p:cNvPr id="10" name="TextBox 9"/>
          <p:cNvSpPr txBox="1"/>
          <p:nvPr/>
        </p:nvSpPr>
        <p:spPr>
          <a:xfrm>
            <a:off x="164592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A current through the body can injure or even kill.</a:t>
            </a:r>
          </a:p>
        </p:txBody>
      </p:sp>
      <p:sp>
        <p:nvSpPr>
          <p:cNvPr id="11" name="Rounded Rectangle 10"/>
          <p:cNvSpPr/>
          <p:nvPr/>
        </p:nvSpPr>
        <p:spPr>
          <a:xfrm>
            <a:off x="621792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37960" y="2212848"/>
            <a:ext cx="502920" cy="502920"/>
          </a:xfrm>
          <a:prstGeom prst="roundRect">
            <a:avLst>
              <a:gd name="adj" fmla="val 30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hermometer_FFFFFF.png"/>
          <p:cNvPicPr>
            <a:picLocks noChangeAspect="1"/>
          </p:cNvPicPr>
          <p:nvPr/>
        </p:nvPicPr>
        <p:blipFill>
          <a:blip r:embed="rId3"/>
          <a:stretch>
            <a:fillRect/>
          </a:stretch>
        </p:blipFill>
        <p:spPr>
          <a:xfrm>
            <a:off x="6648602" y="2323490"/>
            <a:ext cx="281635" cy="281635"/>
          </a:xfrm>
          <a:prstGeom prst="rect">
            <a:avLst/>
          </a:prstGeom>
        </p:spPr>
      </p:pic>
      <p:sp>
        <p:nvSpPr>
          <p:cNvPr id="14" name="TextBox 13"/>
          <p:cNvSpPr txBox="1"/>
          <p:nvPr/>
        </p:nvSpPr>
        <p:spPr>
          <a:xfrm>
            <a:off x="722376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Overheating</a:t>
            </a:r>
          </a:p>
        </p:txBody>
      </p:sp>
      <p:sp>
        <p:nvSpPr>
          <p:cNvPr id="15" name="TextBox 14"/>
          <p:cNvSpPr txBox="1"/>
          <p:nvPr/>
        </p:nvSpPr>
        <p:spPr>
          <a:xfrm>
            <a:off x="722376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Too much current heats wires and can start a fire.</a:t>
            </a:r>
          </a:p>
        </p:txBody>
      </p:sp>
      <p:sp>
        <p:nvSpPr>
          <p:cNvPr id="16" name="Rounded Rectangle 15"/>
          <p:cNvSpPr/>
          <p:nvPr/>
        </p:nvSpPr>
        <p:spPr>
          <a:xfrm>
            <a:off x="64008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19" y="4041648"/>
            <a:ext cx="502920" cy="502920"/>
          </a:xfrm>
          <a:prstGeom prst="roundRect">
            <a:avLst>
              <a:gd name="adj" fmla="val 3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park_FFFFFF.png"/>
          <p:cNvPicPr>
            <a:picLocks noChangeAspect="1"/>
          </p:cNvPicPr>
          <p:nvPr/>
        </p:nvPicPr>
        <p:blipFill>
          <a:blip r:embed="rId4"/>
          <a:stretch>
            <a:fillRect/>
          </a:stretch>
        </p:blipFill>
        <p:spPr>
          <a:xfrm>
            <a:off x="1070762" y="4152290"/>
            <a:ext cx="281635" cy="281635"/>
          </a:xfrm>
          <a:prstGeom prst="rect">
            <a:avLst/>
          </a:prstGeom>
        </p:spPr>
      </p:pic>
      <p:sp>
        <p:nvSpPr>
          <p:cNvPr id="19" name="TextBox 18"/>
          <p:cNvSpPr txBox="1"/>
          <p:nvPr/>
        </p:nvSpPr>
        <p:spPr>
          <a:xfrm>
            <a:off x="164592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Damaged wires</a:t>
            </a:r>
          </a:p>
        </p:txBody>
      </p:sp>
      <p:sp>
        <p:nvSpPr>
          <p:cNvPr id="20" name="TextBox 19"/>
          <p:cNvSpPr txBox="1"/>
          <p:nvPr/>
        </p:nvSpPr>
        <p:spPr>
          <a:xfrm>
            <a:off x="164592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Bare or frayed wires expose live conductors.</a:t>
            </a:r>
          </a:p>
        </p:txBody>
      </p:sp>
      <p:sp>
        <p:nvSpPr>
          <p:cNvPr id="21" name="Rounded Rectangle 20"/>
          <p:cNvSpPr/>
          <p:nvPr/>
        </p:nvSpPr>
        <p:spPr>
          <a:xfrm>
            <a:off x="621792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37960" y="4041648"/>
            <a:ext cx="502920" cy="502920"/>
          </a:xfrm>
          <a:prstGeom prst="roundRect">
            <a:avLst>
              <a:gd name="adj" fmla="val 3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drop_FFFFFF.png"/>
          <p:cNvPicPr>
            <a:picLocks noChangeAspect="1"/>
          </p:cNvPicPr>
          <p:nvPr/>
        </p:nvPicPr>
        <p:blipFill>
          <a:blip r:embed="rId5"/>
          <a:stretch>
            <a:fillRect/>
          </a:stretch>
        </p:blipFill>
        <p:spPr>
          <a:xfrm>
            <a:off x="6648602" y="4152290"/>
            <a:ext cx="281635" cy="281635"/>
          </a:xfrm>
          <a:prstGeom prst="rect">
            <a:avLst/>
          </a:prstGeom>
        </p:spPr>
      </p:pic>
      <p:sp>
        <p:nvSpPr>
          <p:cNvPr id="24" name="TextBox 23"/>
          <p:cNvSpPr txBox="1"/>
          <p:nvPr/>
        </p:nvSpPr>
        <p:spPr>
          <a:xfrm>
            <a:off x="722376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Water</a:t>
            </a:r>
          </a:p>
        </p:txBody>
      </p:sp>
      <p:sp>
        <p:nvSpPr>
          <p:cNvPr id="25" name="TextBox 24"/>
          <p:cNvSpPr txBox="1"/>
          <p:nvPr/>
        </p:nvSpPr>
        <p:spPr>
          <a:xfrm>
            <a:off x="722376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Wet hands or floors make shocks far more likely — water conducts.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COLOUR CODE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The Colour Code of Wires</a:t>
            </a:r>
          </a:p>
        </p:txBody>
      </p:sp>
      <p:sp>
        <p:nvSpPr>
          <p:cNvPr id="6" name="Rounded Rectangle 5"/>
          <p:cNvSpPr/>
          <p:nvPr/>
        </p:nvSpPr>
        <p:spPr>
          <a:xfrm>
            <a:off x="640080" y="1828800"/>
            <a:ext cx="10881360" cy="411480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10058400" cy="411480"/>
          </a:xfrm>
          <a:prstGeom prst="rect">
            <a:avLst/>
          </a:prstGeom>
          <a:noFill/>
        </p:spPr>
        <p:txBody>
          <a:bodyPr wrap="square" anchor="t" lIns="0" rIns="0" tIns="0" bIns="0">
            <a:spAutoFit/>
          </a:bodyPr>
          <a:lstStyle/>
          <a:p>
            <a:pPr algn="l"/>
            <a:r>
              <a:rPr sz="1800" b="1" i="0">
                <a:solidFill>
                  <a:srgbClr val="0A9396"/>
                </a:solidFill>
                <a:latin typeface="Calibri"/>
              </a:rPr>
              <a:t>Live, neutral and earth</a:t>
            </a:r>
          </a:p>
        </p:txBody>
      </p:sp>
      <p:sp>
        <p:nvSpPr>
          <p:cNvPr id="8" name="TextBox 7"/>
          <p:cNvSpPr txBox="1"/>
          <p:nvPr/>
        </p:nvSpPr>
        <p:spPr>
          <a:xfrm>
            <a:off x="1005840" y="2697480"/>
            <a:ext cx="10058400" cy="3063239"/>
          </a:xfrm>
          <a:prstGeom prst="rect">
            <a:avLst/>
          </a:prstGeom>
          <a:noFill/>
        </p:spPr>
        <p:txBody>
          <a:bodyPr wrap="square" anchor="t" lIns="0" rIns="0" tIns="0" bIns="0">
            <a:spAutoFit/>
          </a:bodyPr>
          <a:lstStyle/>
          <a:p>
            <a:pPr algn="l">
              <a:lnSpc>
                <a:spcPct val="105000"/>
              </a:lnSpc>
              <a:spcAft>
                <a:spcPts val="1100"/>
              </a:spcAft>
            </a:pPr>
            <a:r>
              <a:rPr sz="1600" b="1" i="0">
                <a:solidFill>
                  <a:srgbClr val="0A9396"/>
                </a:solidFill>
                <a:latin typeface="Calibri"/>
              </a:rPr>
              <a:t>•  </a:t>
            </a:r>
            <a:r>
              <a:rPr sz="1600" b="1" i="0">
                <a:solidFill>
                  <a:srgbClr val="1D2433"/>
                </a:solidFill>
                <a:latin typeface="Calibri"/>
              </a:rPr>
              <a:t>Live wire  </a:t>
            </a:r>
            <a:r>
              <a:rPr sz="1500" b="0" i="0">
                <a:solidFill>
                  <a:srgbClr val="6B7280"/>
                </a:solidFill>
                <a:latin typeface="Calibri"/>
              </a:rPr>
              <a:t>Brown (older cables red) — carries the dangerous current to the appliance.</a:t>
            </a:r>
          </a:p>
          <a:p>
            <a:pPr algn="l">
              <a:lnSpc>
                <a:spcPct val="105000"/>
              </a:lnSpc>
              <a:spcAft>
                <a:spcPts val="1100"/>
              </a:spcAft>
            </a:pPr>
            <a:r>
              <a:rPr sz="1600" b="1" i="0">
                <a:solidFill>
                  <a:srgbClr val="0A9396"/>
                </a:solidFill>
                <a:latin typeface="Calibri"/>
              </a:rPr>
              <a:t>•  </a:t>
            </a:r>
            <a:r>
              <a:rPr sz="1600" b="1" i="0">
                <a:solidFill>
                  <a:srgbClr val="1D2433"/>
                </a:solidFill>
                <a:latin typeface="Calibri"/>
              </a:rPr>
              <a:t>Neutral wire  </a:t>
            </a:r>
            <a:r>
              <a:rPr sz="1500" b="0" i="0">
                <a:solidFill>
                  <a:srgbClr val="6B7280"/>
                </a:solidFill>
                <a:latin typeface="Calibri"/>
              </a:rPr>
              <a:t>Blue (older cables black) — completes the circuit back to the supply.</a:t>
            </a:r>
          </a:p>
          <a:p>
            <a:pPr algn="l">
              <a:lnSpc>
                <a:spcPct val="105000"/>
              </a:lnSpc>
              <a:spcAft>
                <a:spcPts val="1100"/>
              </a:spcAft>
            </a:pPr>
            <a:r>
              <a:rPr sz="1600" b="1" i="0">
                <a:solidFill>
                  <a:srgbClr val="0A9396"/>
                </a:solidFill>
                <a:latin typeface="Calibri"/>
              </a:rPr>
              <a:t>•  </a:t>
            </a:r>
            <a:r>
              <a:rPr sz="1600" b="1" i="0">
                <a:solidFill>
                  <a:srgbClr val="1D2433"/>
                </a:solidFill>
                <a:latin typeface="Calibri"/>
              </a:rPr>
              <a:t>Earth wire  </a:t>
            </a:r>
            <a:r>
              <a:rPr sz="1500" b="0" i="0">
                <a:solidFill>
                  <a:srgbClr val="6B7280"/>
                </a:solidFill>
                <a:latin typeface="Calibri"/>
              </a:rPr>
              <a:t>Green-and-yellow — a safety wire connected to the earth.</a:t>
            </a:r>
          </a:p>
          <a:p>
            <a:pPr algn="l">
              <a:lnSpc>
                <a:spcPct val="105000"/>
              </a:lnSpc>
              <a:spcAft>
                <a:spcPts val="1100"/>
              </a:spcAft>
            </a:pPr>
            <a:r>
              <a:rPr sz="1600" b="1" i="0">
                <a:solidFill>
                  <a:srgbClr val="0A9396"/>
                </a:solidFill>
                <a:latin typeface="Calibri"/>
              </a:rPr>
              <a:t>•  </a:t>
            </a:r>
            <a:r>
              <a:rPr sz="1600" b="1" i="0">
                <a:solidFill>
                  <a:srgbClr val="1D2433"/>
                </a:solidFill>
                <a:latin typeface="Calibri"/>
              </a:rPr>
              <a:t>Why it matters  </a:t>
            </a:r>
            <a:r>
              <a:rPr sz="1500" b="0" i="0">
                <a:solidFill>
                  <a:srgbClr val="6B7280"/>
                </a:solidFill>
                <a:latin typeface="Calibri"/>
              </a:rPr>
              <a:t>Correct colours make sure each wire is connected to the right pin.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THREE-PIN PLUG</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The Three-Pin Plug and Earthing</a:t>
            </a:r>
          </a:p>
        </p:txBody>
      </p:sp>
      <p:pic>
        <p:nvPicPr>
          <p:cNvPr id="6" name="Picture 5" descr="g8el_plug.png"/>
          <p:cNvPicPr>
            <a:picLocks noChangeAspect="1"/>
          </p:cNvPicPr>
          <p:nvPr/>
        </p:nvPicPr>
        <p:blipFill>
          <a:blip r:embed="rId2"/>
          <a:stretch>
            <a:fillRect/>
          </a:stretch>
        </p:blipFill>
        <p:spPr>
          <a:xfrm>
            <a:off x="6248095" y="2240280"/>
            <a:ext cx="5120640" cy="3108960"/>
          </a:xfrm>
          <a:prstGeom prst="rect">
            <a:avLst/>
          </a:prstGeom>
        </p:spPr>
      </p:pic>
      <p:sp>
        <p:nvSpPr>
          <p:cNvPr id="7" name="TextBox 6"/>
          <p:cNvSpPr txBox="1"/>
          <p:nvPr/>
        </p:nvSpPr>
        <p:spPr>
          <a:xfrm>
            <a:off x="6248095" y="5404103"/>
            <a:ext cx="5120640" cy="274320"/>
          </a:xfrm>
          <a:prstGeom prst="rect">
            <a:avLst/>
          </a:prstGeom>
          <a:noFill/>
        </p:spPr>
        <p:txBody>
          <a:bodyPr wrap="square" anchor="t" lIns="0" rIns="0" tIns="0" bIns="0">
            <a:spAutoFit/>
          </a:bodyPr>
          <a:lstStyle/>
          <a:p>
            <a:pPr algn="ctr"/>
            <a:r>
              <a:rPr sz="1100" b="0" i="1">
                <a:solidFill>
                  <a:srgbClr val="6B7280"/>
                </a:solidFill>
                <a:latin typeface="Calibri"/>
              </a:rPr>
              <a:t>Live, neutral and earth pins</a:t>
            </a:r>
          </a:p>
        </p:txBody>
      </p:sp>
      <p:sp>
        <p:nvSpPr>
          <p:cNvPr id="8" name="Rounded Rectangle 7"/>
          <p:cNvSpPr/>
          <p:nvPr/>
        </p:nvSpPr>
        <p:spPr>
          <a:xfrm>
            <a:off x="822960" y="1828800"/>
            <a:ext cx="5669280" cy="393192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057400"/>
            <a:ext cx="5029200" cy="411480"/>
          </a:xfrm>
          <a:prstGeom prst="rect">
            <a:avLst/>
          </a:prstGeom>
          <a:noFill/>
        </p:spPr>
        <p:txBody>
          <a:bodyPr wrap="square" anchor="t" lIns="0" rIns="0" tIns="0" bIns="0">
            <a:spAutoFit/>
          </a:bodyPr>
          <a:lstStyle/>
          <a:p>
            <a:pPr algn="l"/>
            <a:r>
              <a:rPr sz="1800" b="1" i="0">
                <a:solidFill>
                  <a:srgbClr val="0A9396"/>
                </a:solidFill>
                <a:latin typeface="Calibri"/>
              </a:rPr>
              <a:t>The earth pin protects you</a:t>
            </a:r>
          </a:p>
        </p:txBody>
      </p:sp>
      <p:sp>
        <p:nvSpPr>
          <p:cNvPr id="10" name="TextBox 9"/>
          <p:cNvSpPr txBox="1"/>
          <p:nvPr/>
        </p:nvSpPr>
        <p:spPr>
          <a:xfrm>
            <a:off x="1143000" y="2606040"/>
            <a:ext cx="5074920" cy="3063240"/>
          </a:xfrm>
          <a:prstGeom prst="rect">
            <a:avLst/>
          </a:prstGeom>
          <a:noFill/>
        </p:spPr>
        <p:txBody>
          <a:bodyPr wrap="square" anchor="t" lIns="0" rIns="0" tIns="0" bIns="0">
            <a:spAutoFit/>
          </a:bodyPr>
          <a:lstStyle/>
          <a:p>
            <a:pPr algn="l">
              <a:lnSpc>
                <a:spcPct val="105000"/>
              </a:lnSpc>
              <a:spcAft>
                <a:spcPts val="900"/>
              </a:spcAft>
            </a:pPr>
            <a:r>
              <a:rPr sz="1500" b="1" i="0">
                <a:solidFill>
                  <a:srgbClr val="0A9396"/>
                </a:solidFill>
                <a:latin typeface="Calibri"/>
              </a:rPr>
              <a:t>•  </a:t>
            </a:r>
            <a:r>
              <a:rPr sz="1500" b="0" i="0">
                <a:solidFill>
                  <a:srgbClr val="1D2433"/>
                </a:solidFill>
                <a:latin typeface="Calibri"/>
              </a:rPr>
              <a:t>A three-pin plug connects an appliance to the mains safely.</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The longest, thickest pin is the earth pin.</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Earthing connects the metal body of an appliance to the ground.</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If a fault makes the body live, the current escapes to earth instead of through 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778240" y="-1371600"/>
            <a:ext cx="4754880" cy="47548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011680"/>
            <a:ext cx="8229600" cy="457200"/>
          </a:xfrm>
          <a:prstGeom prst="rect">
            <a:avLst/>
          </a:prstGeom>
          <a:noFill/>
        </p:spPr>
        <p:txBody>
          <a:bodyPr wrap="square" anchor="t" lIns="0" rIns="0" tIns="0" bIns="0">
            <a:spAutoFit/>
          </a:bodyPr>
          <a:lstStyle/>
          <a:p>
            <a:pPr algn="l"/>
            <a:r>
              <a:rPr sz="1600" b="1" i="0">
                <a:solidFill>
                  <a:srgbClr val="FFC300"/>
                </a:solidFill>
                <a:latin typeface="Arial"/>
              </a:rPr>
              <a:t>QUIZ 1</a:t>
            </a:r>
          </a:p>
        </p:txBody>
      </p:sp>
      <p:sp>
        <p:nvSpPr>
          <p:cNvPr id="4" name="TextBox 3"/>
          <p:cNvSpPr txBox="1"/>
          <p:nvPr/>
        </p:nvSpPr>
        <p:spPr>
          <a:xfrm>
            <a:off x="777240" y="2560320"/>
            <a:ext cx="9601200" cy="1005840"/>
          </a:xfrm>
          <a:prstGeom prst="rect">
            <a:avLst/>
          </a:prstGeom>
          <a:noFill/>
        </p:spPr>
        <p:txBody>
          <a:bodyPr wrap="square" anchor="t" lIns="0" rIns="0" tIns="0" bIns="0">
            <a:spAutoFit/>
          </a:bodyPr>
          <a:lstStyle/>
          <a:p>
            <a:pPr algn="l"/>
            <a:r>
              <a:rPr sz="4400" b="1" i="0">
                <a:solidFill>
                  <a:srgbClr val="FFFFFF"/>
                </a:solidFill>
                <a:latin typeface="Calibri"/>
              </a:rPr>
              <a:t>Check Your Understanding</a:t>
            </a:r>
          </a:p>
        </p:txBody>
      </p:sp>
      <p:sp>
        <p:nvSpPr>
          <p:cNvPr id="5" name="TextBox 4"/>
          <p:cNvSpPr txBox="1"/>
          <p:nvPr/>
        </p:nvSpPr>
        <p:spPr>
          <a:xfrm>
            <a:off x="777240" y="3749039"/>
            <a:ext cx="9601200" cy="548640"/>
          </a:xfrm>
          <a:prstGeom prst="rect">
            <a:avLst/>
          </a:prstGeom>
          <a:noFill/>
        </p:spPr>
        <p:txBody>
          <a:bodyPr wrap="square" anchor="t" lIns="0" rIns="0" tIns="0" bIns="0">
            <a:spAutoFit/>
          </a:bodyPr>
          <a:lstStyle/>
          <a:p>
            <a:pPr algn="l"/>
            <a:r>
              <a:rPr sz="1800" b="0" i="0">
                <a:solidFill>
                  <a:srgbClr val="CADCFC"/>
                </a:solidFill>
                <a:latin typeface="Calibri"/>
              </a:rPr>
              <a:t>4 questions  •  think before the answer reveals on the next slide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No Light</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torch bulb will not light even though the cell is good. The most likely reason is that the circuit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Too short</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Broken somewhere, so the path is open</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Too cold</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Earthed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No Light</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torch bulb will not light even though the cell is good. The most likely reason is that the circuit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Too short</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Broken somewhere, so the path is open</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Too cold</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Earthed</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Current flows only around a complete, closed loop. A loose connection or open switch breaks the path, so no current reaches the bulb and it stays dark.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Green-Yellow</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In a modern cable, the wire coloured green and yellow is the:</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Live wire</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Neutral wire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Earth wire</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Heating wire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Green-Yellow</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In a modern cable, the wire coloured green and yellow is the:</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Live wire</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Neutral wire</a:t>
            </a:r>
          </a:p>
        </p:txBody>
      </p:sp>
      <p:sp>
        <p:nvSpPr>
          <p:cNvPr id="16" name="Rounded Rectangle 15"/>
          <p:cNvSpPr/>
          <p:nvPr/>
        </p:nvSpPr>
        <p:spPr>
          <a:xfrm>
            <a:off x="640080" y="4370831"/>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1" i="0">
                <a:solidFill>
                  <a:srgbClr val="1D2433"/>
                </a:solidFill>
                <a:latin typeface="Calibri"/>
              </a:rPr>
              <a:t>Earth wire</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Heating wire</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Green-and-yellow always marks the earth wire — the safety wire that carries fault current to the ground. Brown is live and blue is neutral.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Wet Hands</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Touching a switch with wet hands is dangerous because water:</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Is an insulator</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Conducts electricity, making a shock more likely</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Cools the wire</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Stops the current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Wet Hands</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Touching a switch with wet hands is dangerous because water:</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Is an insulator</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Conducts electricity, making a shock more likely</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Cools the wire</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Stops the current</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Water is a conductor, so wet skin lets current pass through the body much more easily. That is why we must keep electrical switches and appliances away from water.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Earth Pin Job</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The earth pin of a three-pin plug protects us by:</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Carrying the normal current</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Sending fault current from the metal body safely to the ground</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Lighting a bulb</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Saving energy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Earth Pin Job</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The earth pin of a three-pin plug protects us by:</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Carrying the normal current</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Sending fault current from the metal body safely to the ground</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Lighting a bulb</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Saving energy</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If a fault makes an appliance's metal body live, the earth wire gives that current an easy path to the ground. It flows to earth instead of through anyone who touches the body.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595360" y="-1463040"/>
            <a:ext cx="4937760" cy="493776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03920" y="3108960"/>
            <a:ext cx="3383280" cy="2743200"/>
          </a:xfrm>
          <a:prstGeom prst="rect">
            <a:avLst/>
          </a:prstGeom>
          <a:noFill/>
        </p:spPr>
        <p:txBody>
          <a:bodyPr wrap="square" anchor="t" lIns="0" rIns="0" tIns="0" bIns="0">
            <a:spAutoFit/>
          </a:bodyPr>
          <a:lstStyle/>
          <a:p>
            <a:pPr algn="r"/>
            <a:r>
              <a:rPr sz="20000" b="1" i="0">
                <a:solidFill>
                  <a:srgbClr val="263149"/>
                </a:solidFill>
                <a:latin typeface="Calibri"/>
              </a:rPr>
              <a:t>2</a:t>
            </a:r>
          </a:p>
        </p:txBody>
      </p:sp>
      <p:sp>
        <p:nvSpPr>
          <p:cNvPr id="4" name="TextBox 3"/>
          <p:cNvSpPr txBox="1"/>
          <p:nvPr/>
        </p:nvSpPr>
        <p:spPr>
          <a:xfrm>
            <a:off x="777240" y="2148840"/>
            <a:ext cx="6949440" cy="457200"/>
          </a:xfrm>
          <a:prstGeom prst="rect">
            <a:avLst/>
          </a:prstGeom>
          <a:noFill/>
        </p:spPr>
        <p:txBody>
          <a:bodyPr wrap="square" anchor="t" lIns="0" rIns="0" tIns="0" bIns="0">
            <a:spAutoFit/>
          </a:bodyPr>
          <a:lstStyle/>
          <a:p>
            <a:pPr algn="l"/>
            <a:r>
              <a:rPr sz="1600" b="1" i="0">
                <a:solidFill>
                  <a:srgbClr val="FFC300"/>
                </a:solidFill>
                <a:latin typeface="Arial"/>
              </a:rPr>
              <a:t>PART 2</a:t>
            </a:r>
          </a:p>
        </p:txBody>
      </p:sp>
      <p:sp>
        <p:nvSpPr>
          <p:cNvPr id="5" name="TextBox 4"/>
          <p:cNvSpPr txBox="1"/>
          <p:nvPr/>
        </p:nvSpPr>
        <p:spPr>
          <a:xfrm>
            <a:off x="777240" y="2697480"/>
            <a:ext cx="7498079" cy="1097280"/>
          </a:xfrm>
          <a:prstGeom prst="rect">
            <a:avLst/>
          </a:prstGeom>
          <a:noFill/>
        </p:spPr>
        <p:txBody>
          <a:bodyPr wrap="square" anchor="t" lIns="0" rIns="0" tIns="0" bIns="0">
            <a:spAutoFit/>
          </a:bodyPr>
          <a:lstStyle/>
          <a:p>
            <a:pPr algn="l"/>
            <a:r>
              <a:rPr sz="4200" b="1" i="0">
                <a:solidFill>
                  <a:srgbClr val="FFFFFF"/>
                </a:solidFill>
                <a:latin typeface="Calibri"/>
              </a:rPr>
              <a:t>Household Circuit &amp; Energy</a:t>
            </a:r>
          </a:p>
        </p:txBody>
      </p:sp>
      <p:sp>
        <p:nvSpPr>
          <p:cNvPr id="6" name="TextBox 5"/>
          <p:cNvSpPr txBox="1"/>
          <p:nvPr/>
        </p:nvSpPr>
        <p:spPr>
          <a:xfrm>
            <a:off x="777240" y="4114800"/>
            <a:ext cx="7315200" cy="822960"/>
          </a:xfrm>
          <a:prstGeom prst="rect">
            <a:avLst/>
          </a:prstGeom>
          <a:noFill/>
        </p:spPr>
        <p:txBody>
          <a:bodyPr wrap="square" anchor="t" lIns="0" rIns="0" tIns="0" bIns="0">
            <a:spAutoFit/>
          </a:bodyPr>
          <a:lstStyle/>
          <a:p>
            <a:pPr algn="l"/>
            <a:r>
              <a:rPr sz="1800" b="0" i="0">
                <a:solidFill>
                  <a:srgbClr val="CADCFC"/>
                </a:solidFill>
                <a:latin typeface="Calibri"/>
              </a:rPr>
              <a:t>Fuses, the meter and the unit of energy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THE FUSE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The Fuse</a:t>
            </a:r>
          </a:p>
        </p:txBody>
      </p:sp>
      <p:sp>
        <p:nvSpPr>
          <p:cNvPr id="6" name="Rounded Rectangle 5"/>
          <p:cNvSpPr/>
          <p:nvPr/>
        </p:nvSpPr>
        <p:spPr>
          <a:xfrm>
            <a:off x="640080" y="1828800"/>
            <a:ext cx="10881360" cy="1371600"/>
          </a:xfrm>
          <a:prstGeom prst="roundRect">
            <a:avLst>
              <a:gd name="adj" fmla="val 6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A fuse is a short piece of thin wire that melts and breaks the circuit if the current grows dangerously large.</a:t>
            </a:r>
          </a:p>
        </p:txBody>
      </p:sp>
      <p:sp>
        <p:nvSpPr>
          <p:cNvPr id="8" name="TextBox 7"/>
          <p:cNvSpPr txBox="1"/>
          <p:nvPr/>
        </p:nvSpPr>
        <p:spPr>
          <a:xfrm>
            <a:off x="1005840" y="3474720"/>
            <a:ext cx="10058400" cy="2423160"/>
          </a:xfrm>
          <a:prstGeom prst="rect">
            <a:avLst/>
          </a:prstGeom>
          <a:noFill/>
        </p:spPr>
        <p:txBody>
          <a:bodyPr wrap="square" anchor="t" lIns="0" rIns="0" tIns="0" bIns="0">
            <a:spAutoFit/>
          </a:bodyPr>
          <a:lstStyle/>
          <a:p>
            <a:pPr algn="l">
              <a:spcAft>
                <a:spcPts val="900"/>
              </a:spcAft>
            </a:pPr>
            <a:r>
              <a:rPr sz="1500" b="1" i="0">
                <a:solidFill>
                  <a:srgbClr val="0A9396"/>
                </a:solidFill>
                <a:latin typeface="Calibri"/>
              </a:rPr>
              <a:t>•  </a:t>
            </a:r>
            <a:r>
              <a:rPr sz="1500" b="0" i="0">
                <a:solidFill>
                  <a:srgbClr val="1D2433"/>
                </a:solidFill>
                <a:latin typeface="Calibri"/>
              </a:rPr>
              <a:t>It is joined in the live wire of a circuit.</a:t>
            </a:r>
          </a:p>
          <a:p>
            <a:pPr algn="l">
              <a:spcAft>
                <a:spcPts val="900"/>
              </a:spcAft>
            </a:pPr>
            <a:r>
              <a:rPr sz="1500" b="1" i="0">
                <a:solidFill>
                  <a:srgbClr val="0A9396"/>
                </a:solidFill>
                <a:latin typeface="Calibri"/>
              </a:rPr>
              <a:t>•  </a:t>
            </a:r>
            <a:r>
              <a:rPr sz="1500" b="0" i="0">
                <a:solidFill>
                  <a:srgbClr val="1D2433"/>
                </a:solidFill>
                <a:latin typeface="Calibri"/>
              </a:rPr>
              <a:t>A large fault current heats the thin wire until it melts.</a:t>
            </a:r>
          </a:p>
          <a:p>
            <a:pPr algn="l">
              <a:spcAft>
                <a:spcPts val="900"/>
              </a:spcAft>
            </a:pPr>
            <a:r>
              <a:rPr sz="1500" b="1" i="0">
                <a:solidFill>
                  <a:srgbClr val="0A9396"/>
                </a:solidFill>
                <a:latin typeface="Calibri"/>
              </a:rPr>
              <a:t>•  </a:t>
            </a:r>
            <a:r>
              <a:rPr sz="1500" b="0" i="0">
                <a:solidFill>
                  <a:srgbClr val="1D2433"/>
                </a:solidFill>
                <a:latin typeface="Calibri"/>
              </a:rPr>
              <a:t>The broken circuit cuts off the supply, preventing fire.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HOUSEHOLD CIRCUIT</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A Simple Household Circuit</a:t>
            </a:r>
          </a:p>
        </p:txBody>
      </p:sp>
      <p:sp>
        <p:nvSpPr>
          <p:cNvPr id="6" name="Rounded Rectangle 5"/>
          <p:cNvSpPr/>
          <p:nvPr/>
        </p:nvSpPr>
        <p:spPr>
          <a:xfrm>
            <a:off x="64008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19" y="2212848"/>
            <a:ext cx="502920" cy="502920"/>
          </a:xfrm>
          <a:prstGeom prst="roundRect">
            <a:avLst>
              <a:gd name="adj" fmla="val 30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ark_FFFFFF.png"/>
          <p:cNvPicPr>
            <a:picLocks noChangeAspect="1"/>
          </p:cNvPicPr>
          <p:nvPr/>
        </p:nvPicPr>
        <p:blipFill>
          <a:blip r:embed="rId2"/>
          <a:stretch>
            <a:fillRect/>
          </a:stretch>
        </p:blipFill>
        <p:spPr>
          <a:xfrm>
            <a:off x="1070762" y="2323490"/>
            <a:ext cx="281635" cy="281635"/>
          </a:xfrm>
          <a:prstGeom prst="rect">
            <a:avLst/>
          </a:prstGeom>
        </p:spPr>
      </p:pic>
      <p:sp>
        <p:nvSpPr>
          <p:cNvPr id="9" name="TextBox 8"/>
          <p:cNvSpPr txBox="1"/>
          <p:nvPr/>
        </p:nvSpPr>
        <p:spPr>
          <a:xfrm>
            <a:off x="164592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From the meter</a:t>
            </a:r>
          </a:p>
        </p:txBody>
      </p:sp>
      <p:sp>
        <p:nvSpPr>
          <p:cNvPr id="10" name="TextBox 9"/>
          <p:cNvSpPr txBox="1"/>
          <p:nvPr/>
        </p:nvSpPr>
        <p:spPr>
          <a:xfrm>
            <a:off x="164592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Supply enters the house through the electricity meter and a main fuse.</a:t>
            </a:r>
          </a:p>
        </p:txBody>
      </p:sp>
      <p:sp>
        <p:nvSpPr>
          <p:cNvPr id="11" name="Rounded Rectangle 10"/>
          <p:cNvSpPr/>
          <p:nvPr/>
        </p:nvSpPr>
        <p:spPr>
          <a:xfrm>
            <a:off x="621792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37960" y="2212848"/>
            <a:ext cx="502920" cy="502920"/>
          </a:xfrm>
          <a:prstGeom prst="roundRect">
            <a:avLst>
              <a:gd name="adj" fmla="val 30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park_FFFFFF.png"/>
          <p:cNvPicPr>
            <a:picLocks noChangeAspect="1"/>
          </p:cNvPicPr>
          <p:nvPr/>
        </p:nvPicPr>
        <p:blipFill>
          <a:blip r:embed="rId2"/>
          <a:stretch>
            <a:fillRect/>
          </a:stretch>
        </p:blipFill>
        <p:spPr>
          <a:xfrm>
            <a:off x="6648602" y="2323490"/>
            <a:ext cx="281635" cy="281635"/>
          </a:xfrm>
          <a:prstGeom prst="rect">
            <a:avLst/>
          </a:prstGeom>
        </p:spPr>
      </p:pic>
      <p:sp>
        <p:nvSpPr>
          <p:cNvPr id="14" name="TextBox 13"/>
          <p:cNvSpPr txBox="1"/>
          <p:nvPr/>
        </p:nvSpPr>
        <p:spPr>
          <a:xfrm>
            <a:off x="722376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Parallel connection</a:t>
            </a:r>
          </a:p>
        </p:txBody>
      </p:sp>
      <p:sp>
        <p:nvSpPr>
          <p:cNvPr id="15" name="TextBox 14"/>
          <p:cNvSpPr txBox="1"/>
          <p:nvPr/>
        </p:nvSpPr>
        <p:spPr>
          <a:xfrm>
            <a:off x="722376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Lights and sockets are joined in parallel, so each works on its own.</a:t>
            </a:r>
          </a:p>
        </p:txBody>
      </p:sp>
      <p:sp>
        <p:nvSpPr>
          <p:cNvPr id="16" name="Rounded Rectangle 15"/>
          <p:cNvSpPr/>
          <p:nvPr/>
        </p:nvSpPr>
        <p:spPr>
          <a:xfrm>
            <a:off x="64008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19" y="4041648"/>
            <a:ext cx="502920" cy="502920"/>
          </a:xfrm>
          <a:prstGeom prst="roundRect">
            <a:avLst>
              <a:gd name="adj" fmla="val 3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lug_FFFFFF.png"/>
          <p:cNvPicPr>
            <a:picLocks noChangeAspect="1"/>
          </p:cNvPicPr>
          <p:nvPr/>
        </p:nvPicPr>
        <p:blipFill>
          <a:blip r:embed="rId3"/>
          <a:stretch>
            <a:fillRect/>
          </a:stretch>
        </p:blipFill>
        <p:spPr>
          <a:xfrm>
            <a:off x="1070762" y="4152290"/>
            <a:ext cx="281635" cy="281635"/>
          </a:xfrm>
          <a:prstGeom prst="rect">
            <a:avLst/>
          </a:prstGeom>
        </p:spPr>
      </p:pic>
      <p:sp>
        <p:nvSpPr>
          <p:cNvPr id="19" name="TextBox 18"/>
          <p:cNvSpPr txBox="1"/>
          <p:nvPr/>
        </p:nvSpPr>
        <p:spPr>
          <a:xfrm>
            <a:off x="164592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Switches in the live</a:t>
            </a:r>
          </a:p>
        </p:txBody>
      </p:sp>
      <p:sp>
        <p:nvSpPr>
          <p:cNvPr id="20" name="TextBox 19"/>
          <p:cNvSpPr txBox="1"/>
          <p:nvPr/>
        </p:nvSpPr>
        <p:spPr>
          <a:xfrm>
            <a:off x="164592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Switches are placed in the live wire to make appliances safe when off.</a:t>
            </a:r>
          </a:p>
        </p:txBody>
      </p:sp>
      <p:sp>
        <p:nvSpPr>
          <p:cNvPr id="21" name="Rounded Rectangle 20"/>
          <p:cNvSpPr/>
          <p:nvPr/>
        </p:nvSpPr>
        <p:spPr>
          <a:xfrm>
            <a:off x="621792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37960" y="4041648"/>
            <a:ext cx="502920" cy="502920"/>
          </a:xfrm>
          <a:prstGeom prst="roundRect">
            <a:avLst>
              <a:gd name="adj" fmla="val 3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bolt_FFFFFF.png"/>
          <p:cNvPicPr>
            <a:picLocks noChangeAspect="1"/>
          </p:cNvPicPr>
          <p:nvPr/>
        </p:nvPicPr>
        <p:blipFill>
          <a:blip r:embed="rId4"/>
          <a:stretch>
            <a:fillRect/>
          </a:stretch>
        </p:blipFill>
        <p:spPr>
          <a:xfrm>
            <a:off x="6648602" y="4152290"/>
            <a:ext cx="281635" cy="281635"/>
          </a:xfrm>
          <a:prstGeom prst="rect">
            <a:avLst/>
          </a:prstGeom>
        </p:spPr>
      </p:pic>
      <p:sp>
        <p:nvSpPr>
          <p:cNvPr id="24" name="TextBox 23"/>
          <p:cNvSpPr txBox="1"/>
          <p:nvPr/>
        </p:nvSpPr>
        <p:spPr>
          <a:xfrm>
            <a:off x="722376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Each circuit fused</a:t>
            </a:r>
          </a:p>
        </p:txBody>
      </p:sp>
      <p:sp>
        <p:nvSpPr>
          <p:cNvPr id="25" name="TextBox 24"/>
          <p:cNvSpPr txBox="1"/>
          <p:nvPr/>
        </p:nvSpPr>
        <p:spPr>
          <a:xfrm>
            <a:off x="722376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Separate circuits for lights and power each have their own fuse.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UNIT OF ENERGY</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Measuring Electrical Energy</a:t>
            </a:r>
          </a:p>
        </p:txBody>
      </p:sp>
      <p:sp>
        <p:nvSpPr>
          <p:cNvPr id="6" name="Rounded Rectangle 5"/>
          <p:cNvSpPr/>
          <p:nvPr/>
        </p:nvSpPr>
        <p:spPr>
          <a:xfrm>
            <a:off x="640080" y="1828800"/>
            <a:ext cx="10881360" cy="1371600"/>
          </a:xfrm>
          <a:prstGeom prst="roundRect">
            <a:avLst>
              <a:gd name="adj" fmla="val 6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An electricity meter records how much electrical energy a home uses, measured in kilowatt-hours (kWh).</a:t>
            </a:r>
          </a:p>
        </p:txBody>
      </p:sp>
      <p:sp>
        <p:nvSpPr>
          <p:cNvPr id="8" name="Rounded Rectangle 7"/>
          <p:cNvSpPr/>
          <p:nvPr/>
        </p:nvSpPr>
        <p:spPr>
          <a:xfrm>
            <a:off x="640080" y="3429000"/>
            <a:ext cx="10881360" cy="914400"/>
          </a:xfrm>
          <a:prstGeom prst="roundRect">
            <a:avLst>
              <a:gd name="adj" fmla="val 8000"/>
            </a:avLst>
          </a:prstGeom>
          <a:solidFill>
            <a:srgbClr val="FF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429000"/>
            <a:ext cx="10149840" cy="914400"/>
          </a:xfrm>
          <a:prstGeom prst="rect">
            <a:avLst/>
          </a:prstGeom>
          <a:noFill/>
        </p:spPr>
        <p:txBody>
          <a:bodyPr wrap="square" anchor="ctr" lIns="0" rIns="0" tIns="0" bIns="0">
            <a:spAutoFit/>
          </a:bodyPr>
          <a:lstStyle/>
          <a:p>
            <a:pPr algn="ctr"/>
            <a:r>
              <a:rPr sz="2400" b="1" i="0">
                <a:solidFill>
                  <a:srgbClr val="F4801A"/>
                </a:solidFill>
                <a:latin typeface="Calibri"/>
              </a:rPr>
              <a:t>1 unit = 1 kilowatt-hour (kWh) = energy used by a 1 kW appliance in 1 hour</a:t>
            </a:r>
          </a:p>
        </p:txBody>
      </p:sp>
      <p:sp>
        <p:nvSpPr>
          <p:cNvPr id="10" name="TextBox 9"/>
          <p:cNvSpPr txBox="1"/>
          <p:nvPr/>
        </p:nvSpPr>
        <p:spPr>
          <a:xfrm>
            <a:off x="1005840" y="4572000"/>
            <a:ext cx="10058400" cy="1325880"/>
          </a:xfrm>
          <a:prstGeom prst="rect">
            <a:avLst/>
          </a:prstGeom>
          <a:noFill/>
        </p:spPr>
        <p:txBody>
          <a:bodyPr wrap="square" anchor="t" lIns="0" rIns="0" tIns="0" bIns="0">
            <a:spAutoFit/>
          </a:bodyPr>
          <a:lstStyle/>
          <a:p>
            <a:pPr algn="l">
              <a:spcAft>
                <a:spcPts val="900"/>
              </a:spcAft>
            </a:pPr>
            <a:r>
              <a:rPr sz="1500" b="1" i="0">
                <a:solidFill>
                  <a:srgbClr val="0A9396"/>
                </a:solidFill>
                <a:latin typeface="Calibri"/>
              </a:rPr>
              <a:t>•  </a:t>
            </a:r>
            <a:r>
              <a:rPr sz="1500" b="0" i="0">
                <a:solidFill>
                  <a:srgbClr val="1D2433"/>
                </a:solidFill>
                <a:latin typeface="Calibri"/>
              </a:rPr>
              <a:t>The meter counts the units used over time.</a:t>
            </a:r>
          </a:p>
          <a:p>
            <a:pPr algn="l">
              <a:spcAft>
                <a:spcPts val="900"/>
              </a:spcAft>
            </a:pPr>
            <a:r>
              <a:rPr sz="1500" b="1" i="0">
                <a:solidFill>
                  <a:srgbClr val="0A9396"/>
                </a:solidFill>
                <a:latin typeface="Calibri"/>
              </a:rPr>
              <a:t>•  </a:t>
            </a:r>
            <a:r>
              <a:rPr sz="1500" b="0" i="0">
                <a:solidFill>
                  <a:srgbClr val="1D2433"/>
                </a:solidFill>
                <a:latin typeface="Calibri"/>
              </a:rPr>
              <a:t>The electricity bill charges for these units.</a:t>
            </a:r>
          </a:p>
          <a:p>
            <a:pPr algn="l">
              <a:spcAft>
                <a:spcPts val="900"/>
              </a:spcAft>
            </a:pPr>
            <a:r>
              <a:rPr sz="1500" b="1" i="0">
                <a:solidFill>
                  <a:srgbClr val="0A9396"/>
                </a:solidFill>
                <a:latin typeface="Calibri"/>
              </a:rPr>
              <a:t>•  </a:t>
            </a:r>
            <a:r>
              <a:rPr sz="1500" b="0" i="0">
                <a:solidFill>
                  <a:srgbClr val="1D2433"/>
                </a:solidFill>
                <a:latin typeface="Calibri"/>
              </a:rPr>
              <a:t>Using fewer, more efficient appliances lowers the bill.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FUSE VS MCB</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The Fuse and Its Modern Cousin</a:t>
            </a:r>
          </a:p>
        </p:txBody>
      </p:sp>
      <p:sp>
        <p:nvSpPr>
          <p:cNvPr id="6" name="Rounded Rectangle 5"/>
          <p:cNvSpPr/>
          <p:nvPr/>
        </p:nvSpPr>
        <p:spPr>
          <a:xfrm>
            <a:off x="640080" y="1828800"/>
            <a:ext cx="10881360" cy="411480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10058400" cy="411480"/>
          </a:xfrm>
          <a:prstGeom prst="rect">
            <a:avLst/>
          </a:prstGeom>
          <a:noFill/>
        </p:spPr>
        <p:txBody>
          <a:bodyPr wrap="square" anchor="t" lIns="0" rIns="0" tIns="0" bIns="0">
            <a:spAutoFit/>
          </a:bodyPr>
          <a:lstStyle/>
          <a:p>
            <a:pPr algn="l"/>
            <a:r>
              <a:rPr sz="1800" b="1" i="0">
                <a:solidFill>
                  <a:srgbClr val="0A9396"/>
                </a:solidFill>
                <a:latin typeface="Calibri"/>
              </a:rPr>
              <a:t>Choosing the right protection</a:t>
            </a:r>
          </a:p>
        </p:txBody>
      </p:sp>
      <p:sp>
        <p:nvSpPr>
          <p:cNvPr id="8" name="TextBox 7"/>
          <p:cNvSpPr txBox="1"/>
          <p:nvPr/>
        </p:nvSpPr>
        <p:spPr>
          <a:xfrm>
            <a:off x="1005840" y="2697480"/>
            <a:ext cx="10058400" cy="3063239"/>
          </a:xfrm>
          <a:prstGeom prst="rect">
            <a:avLst/>
          </a:prstGeom>
          <a:noFill/>
        </p:spPr>
        <p:txBody>
          <a:bodyPr wrap="square" anchor="t" lIns="0" rIns="0" tIns="0" bIns="0">
            <a:spAutoFit/>
          </a:bodyPr>
          <a:lstStyle/>
          <a:p>
            <a:pPr algn="l">
              <a:lnSpc>
                <a:spcPct val="105000"/>
              </a:lnSpc>
              <a:spcAft>
                <a:spcPts val="1100"/>
              </a:spcAft>
            </a:pPr>
            <a:r>
              <a:rPr sz="1600" b="1" i="0">
                <a:solidFill>
                  <a:srgbClr val="0A9396"/>
                </a:solidFill>
                <a:latin typeface="Calibri"/>
              </a:rPr>
              <a:t>•  </a:t>
            </a:r>
            <a:r>
              <a:rPr sz="1600" b="1" i="0">
                <a:solidFill>
                  <a:srgbClr val="1D2433"/>
                </a:solidFill>
                <a:latin typeface="Calibri"/>
              </a:rPr>
              <a:t>Rating  </a:t>
            </a:r>
            <a:r>
              <a:rPr sz="1500" b="0" i="0">
                <a:solidFill>
                  <a:srgbClr val="6B7280"/>
                </a:solidFill>
                <a:latin typeface="Calibri"/>
              </a:rPr>
              <a:t>A fuse is marked with a safe current, such as 5 A or 15 A.</a:t>
            </a:r>
          </a:p>
          <a:p>
            <a:pPr algn="l">
              <a:lnSpc>
                <a:spcPct val="105000"/>
              </a:lnSpc>
              <a:spcAft>
                <a:spcPts val="1100"/>
              </a:spcAft>
            </a:pPr>
            <a:r>
              <a:rPr sz="1600" b="1" i="0">
                <a:solidFill>
                  <a:srgbClr val="0A9396"/>
                </a:solidFill>
                <a:latin typeface="Calibri"/>
              </a:rPr>
              <a:t>•  </a:t>
            </a:r>
            <a:r>
              <a:rPr sz="1600" b="1" i="0">
                <a:solidFill>
                  <a:srgbClr val="1D2433"/>
                </a:solidFill>
                <a:latin typeface="Calibri"/>
              </a:rPr>
              <a:t>Right value  </a:t>
            </a:r>
            <a:r>
              <a:rPr sz="1500" b="0" i="0">
                <a:solidFill>
                  <a:srgbClr val="6B7280"/>
                </a:solidFill>
                <a:latin typeface="Calibri"/>
              </a:rPr>
              <a:t>A lighting circuit uses a low-rated fuse; a heater needs a higher one.</a:t>
            </a:r>
          </a:p>
          <a:p>
            <a:pPr algn="l">
              <a:lnSpc>
                <a:spcPct val="105000"/>
              </a:lnSpc>
              <a:spcAft>
                <a:spcPts val="1100"/>
              </a:spcAft>
            </a:pPr>
            <a:r>
              <a:rPr sz="1600" b="1" i="0">
                <a:solidFill>
                  <a:srgbClr val="0A9396"/>
                </a:solidFill>
                <a:latin typeface="Calibri"/>
              </a:rPr>
              <a:t>•  </a:t>
            </a:r>
            <a:r>
              <a:rPr sz="1600" b="1" i="0">
                <a:solidFill>
                  <a:srgbClr val="1D2433"/>
                </a:solidFill>
                <a:latin typeface="Calibri"/>
              </a:rPr>
              <a:t>After it blows  </a:t>
            </a:r>
            <a:r>
              <a:rPr sz="1500" b="0" i="0">
                <a:solidFill>
                  <a:srgbClr val="6B7280"/>
                </a:solidFill>
                <a:latin typeface="Calibri"/>
              </a:rPr>
              <a:t>A blown fuse wire must be replaced before the circuit works again.</a:t>
            </a:r>
          </a:p>
          <a:p>
            <a:pPr algn="l">
              <a:lnSpc>
                <a:spcPct val="105000"/>
              </a:lnSpc>
              <a:spcAft>
                <a:spcPts val="1100"/>
              </a:spcAft>
            </a:pPr>
            <a:r>
              <a:rPr sz="1600" b="1" i="0">
                <a:solidFill>
                  <a:srgbClr val="0A9396"/>
                </a:solidFill>
                <a:latin typeface="Calibri"/>
              </a:rPr>
              <a:t>•  </a:t>
            </a:r>
            <a:r>
              <a:rPr sz="1600" b="1" i="0">
                <a:solidFill>
                  <a:srgbClr val="1D2433"/>
                </a:solidFill>
                <a:latin typeface="Calibri"/>
              </a:rPr>
              <a:t>Circuit breaker (MCB)  </a:t>
            </a:r>
            <a:r>
              <a:rPr sz="1500" b="0" i="0">
                <a:solidFill>
                  <a:srgbClr val="6B7280"/>
                </a:solidFill>
                <a:latin typeface="Calibri"/>
              </a:rPr>
              <a:t>A switch that trips on a large current and can simply be switched back 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BE SAFE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Precautions While Using Electricity</a:t>
            </a:r>
          </a:p>
        </p:txBody>
      </p:sp>
      <p:sp>
        <p:nvSpPr>
          <p:cNvPr id="6" name="Rounded Rectangle 5"/>
          <p:cNvSpPr/>
          <p:nvPr/>
        </p:nvSpPr>
        <p:spPr>
          <a:xfrm>
            <a:off x="64008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19" y="2212848"/>
            <a:ext cx="502920" cy="502920"/>
          </a:xfrm>
          <a:prstGeom prst="roundRect">
            <a:avLst>
              <a:gd name="adj" fmla="val 30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ark_FFFFFF.png"/>
          <p:cNvPicPr>
            <a:picLocks noChangeAspect="1"/>
          </p:cNvPicPr>
          <p:nvPr/>
        </p:nvPicPr>
        <p:blipFill>
          <a:blip r:embed="rId2"/>
          <a:stretch>
            <a:fillRect/>
          </a:stretch>
        </p:blipFill>
        <p:spPr>
          <a:xfrm>
            <a:off x="1070762" y="2323490"/>
            <a:ext cx="281635" cy="281635"/>
          </a:xfrm>
          <a:prstGeom prst="rect">
            <a:avLst/>
          </a:prstGeom>
        </p:spPr>
      </p:pic>
      <p:sp>
        <p:nvSpPr>
          <p:cNvPr id="9" name="TextBox 8"/>
          <p:cNvSpPr txBox="1"/>
          <p:nvPr/>
        </p:nvSpPr>
        <p:spPr>
          <a:xfrm>
            <a:off x="164592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Dry hands</a:t>
            </a:r>
          </a:p>
        </p:txBody>
      </p:sp>
      <p:sp>
        <p:nvSpPr>
          <p:cNvPr id="10" name="TextBox 9"/>
          <p:cNvSpPr txBox="1"/>
          <p:nvPr/>
        </p:nvSpPr>
        <p:spPr>
          <a:xfrm>
            <a:off x="164592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Never touch switches or plugs with wet hands.</a:t>
            </a:r>
          </a:p>
        </p:txBody>
      </p:sp>
      <p:sp>
        <p:nvSpPr>
          <p:cNvPr id="11" name="Rounded Rectangle 10"/>
          <p:cNvSpPr/>
          <p:nvPr/>
        </p:nvSpPr>
        <p:spPr>
          <a:xfrm>
            <a:off x="621792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37960" y="2212848"/>
            <a:ext cx="502920" cy="502920"/>
          </a:xfrm>
          <a:prstGeom prst="roundRect">
            <a:avLst>
              <a:gd name="adj" fmla="val 30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lug_FFFFFF.png"/>
          <p:cNvPicPr>
            <a:picLocks noChangeAspect="1"/>
          </p:cNvPicPr>
          <p:nvPr/>
        </p:nvPicPr>
        <p:blipFill>
          <a:blip r:embed="rId3"/>
          <a:stretch>
            <a:fillRect/>
          </a:stretch>
        </p:blipFill>
        <p:spPr>
          <a:xfrm>
            <a:off x="6648602" y="2323490"/>
            <a:ext cx="281635" cy="281635"/>
          </a:xfrm>
          <a:prstGeom prst="rect">
            <a:avLst/>
          </a:prstGeom>
        </p:spPr>
      </p:pic>
      <p:sp>
        <p:nvSpPr>
          <p:cNvPr id="14" name="TextBox 13"/>
          <p:cNvSpPr txBox="1"/>
          <p:nvPr/>
        </p:nvSpPr>
        <p:spPr>
          <a:xfrm>
            <a:off x="722376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Good wiring</a:t>
            </a:r>
          </a:p>
        </p:txBody>
      </p:sp>
      <p:sp>
        <p:nvSpPr>
          <p:cNvPr id="15" name="TextBox 14"/>
          <p:cNvSpPr txBox="1"/>
          <p:nvPr/>
        </p:nvSpPr>
        <p:spPr>
          <a:xfrm>
            <a:off x="722376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Replace frayed wires and use correctly rated fuses.</a:t>
            </a:r>
          </a:p>
        </p:txBody>
      </p:sp>
      <p:sp>
        <p:nvSpPr>
          <p:cNvPr id="16" name="Rounded Rectangle 15"/>
          <p:cNvSpPr/>
          <p:nvPr/>
        </p:nvSpPr>
        <p:spPr>
          <a:xfrm>
            <a:off x="64008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19" y="4041648"/>
            <a:ext cx="502920" cy="502920"/>
          </a:xfrm>
          <a:prstGeom prst="roundRect">
            <a:avLst>
              <a:gd name="adj" fmla="val 3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park_FFFFFF.png"/>
          <p:cNvPicPr>
            <a:picLocks noChangeAspect="1"/>
          </p:cNvPicPr>
          <p:nvPr/>
        </p:nvPicPr>
        <p:blipFill>
          <a:blip r:embed="rId2"/>
          <a:stretch>
            <a:fillRect/>
          </a:stretch>
        </p:blipFill>
        <p:spPr>
          <a:xfrm>
            <a:off x="1070762" y="4152290"/>
            <a:ext cx="281635" cy="281635"/>
          </a:xfrm>
          <a:prstGeom prst="rect">
            <a:avLst/>
          </a:prstGeom>
        </p:spPr>
      </p:pic>
      <p:sp>
        <p:nvSpPr>
          <p:cNvPr id="19" name="TextBox 18"/>
          <p:cNvSpPr txBox="1"/>
          <p:nvPr/>
        </p:nvSpPr>
        <p:spPr>
          <a:xfrm>
            <a:off x="164592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Don't overload</a:t>
            </a:r>
          </a:p>
        </p:txBody>
      </p:sp>
      <p:sp>
        <p:nvSpPr>
          <p:cNvPr id="20" name="TextBox 19"/>
          <p:cNvSpPr txBox="1"/>
          <p:nvPr/>
        </p:nvSpPr>
        <p:spPr>
          <a:xfrm>
            <a:off x="164592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Avoid plugging many appliances into one socket.</a:t>
            </a:r>
          </a:p>
        </p:txBody>
      </p:sp>
      <p:sp>
        <p:nvSpPr>
          <p:cNvPr id="21" name="Rounded Rectangle 20"/>
          <p:cNvSpPr/>
          <p:nvPr/>
        </p:nvSpPr>
        <p:spPr>
          <a:xfrm>
            <a:off x="621792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37960" y="4041648"/>
            <a:ext cx="502920" cy="502920"/>
          </a:xfrm>
          <a:prstGeom prst="roundRect">
            <a:avLst>
              <a:gd name="adj" fmla="val 3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plug_FFFFFF.png"/>
          <p:cNvPicPr>
            <a:picLocks noChangeAspect="1"/>
          </p:cNvPicPr>
          <p:nvPr/>
        </p:nvPicPr>
        <p:blipFill>
          <a:blip r:embed="rId3"/>
          <a:stretch>
            <a:fillRect/>
          </a:stretch>
        </p:blipFill>
        <p:spPr>
          <a:xfrm>
            <a:off x="6648602" y="4152290"/>
            <a:ext cx="281635" cy="281635"/>
          </a:xfrm>
          <a:prstGeom prst="rect">
            <a:avLst/>
          </a:prstGeom>
        </p:spPr>
      </p:pic>
      <p:sp>
        <p:nvSpPr>
          <p:cNvPr id="24" name="TextBox 23"/>
          <p:cNvSpPr txBox="1"/>
          <p:nvPr/>
        </p:nvSpPr>
        <p:spPr>
          <a:xfrm>
            <a:off x="722376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Earth appliances</a:t>
            </a:r>
          </a:p>
        </p:txBody>
      </p:sp>
      <p:sp>
        <p:nvSpPr>
          <p:cNvPr id="25" name="TextBox 24"/>
          <p:cNvSpPr txBox="1"/>
          <p:nvPr/>
        </p:nvSpPr>
        <p:spPr>
          <a:xfrm>
            <a:off x="722376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Use three-pin plugs so metal-bodied appliances are earthed.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WRAP UP</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Quick Recap</a:t>
            </a:r>
          </a:p>
        </p:txBody>
      </p:sp>
      <p:sp>
        <p:nvSpPr>
          <p:cNvPr id="6" name="Rounded Rectangle 5"/>
          <p:cNvSpPr/>
          <p:nvPr/>
        </p:nvSpPr>
        <p:spPr>
          <a:xfrm>
            <a:off x="640080" y="1828800"/>
            <a:ext cx="10881360" cy="411480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48840"/>
            <a:ext cx="10058400" cy="3657600"/>
          </a:xfrm>
          <a:prstGeom prst="rect">
            <a:avLst/>
          </a:prstGeom>
          <a:noFill/>
        </p:spPr>
        <p:txBody>
          <a:bodyPr wrap="square" anchor="t" lIns="0" rIns="0" tIns="0" bIns="0">
            <a:spAutoFit/>
          </a:bodyPr>
          <a:lstStyle/>
          <a:p>
            <a:pPr algn="l">
              <a:lnSpc>
                <a:spcPct val="105000"/>
              </a:lnSpc>
              <a:spcAft>
                <a:spcPts val="1200"/>
              </a:spcAft>
            </a:pPr>
            <a:r>
              <a:rPr sz="1600" b="1" i="0">
                <a:solidFill>
                  <a:srgbClr val="2A9D8F"/>
                </a:solidFill>
                <a:latin typeface="Calibri"/>
              </a:rPr>
              <a:t>✓  </a:t>
            </a:r>
            <a:r>
              <a:rPr sz="1600" b="1" i="0">
                <a:solidFill>
                  <a:srgbClr val="1D2433"/>
                </a:solidFill>
                <a:latin typeface="Calibri"/>
              </a:rPr>
              <a:t>Circuit  —  </a:t>
            </a:r>
            <a:r>
              <a:rPr sz="1500" b="0" i="0">
                <a:solidFill>
                  <a:srgbClr val="6B7280"/>
                </a:solidFill>
                <a:latin typeface="Calibri"/>
              </a:rPr>
              <a:t>current flows in a complete, switched path</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Dangers  —  </a:t>
            </a:r>
            <a:r>
              <a:rPr sz="1500" b="0" i="0">
                <a:solidFill>
                  <a:srgbClr val="6B7280"/>
                </a:solidFill>
                <a:latin typeface="Calibri"/>
              </a:rPr>
              <a:t>shock, fire, bare wires, water</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Colour code  —  </a:t>
            </a:r>
            <a:r>
              <a:rPr sz="1500" b="0" i="0">
                <a:solidFill>
                  <a:srgbClr val="6B7280"/>
                </a:solidFill>
                <a:latin typeface="Calibri"/>
              </a:rPr>
              <a:t>live brown, neutral blue, earth green-yellow</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Earthing  —  </a:t>
            </a:r>
            <a:r>
              <a:rPr sz="1500" b="0" i="0">
                <a:solidFill>
                  <a:srgbClr val="6B7280"/>
                </a:solidFill>
                <a:latin typeface="Calibri"/>
              </a:rPr>
              <a:t>fault current goes safely to the ground</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Fuse  —  </a:t>
            </a:r>
            <a:r>
              <a:rPr sz="1500" b="0" i="0">
                <a:solidFill>
                  <a:srgbClr val="6B7280"/>
                </a:solidFill>
                <a:latin typeface="Calibri"/>
              </a:rPr>
              <a:t>thin wire melts to break a dangerous current</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Energy unit  —  </a:t>
            </a:r>
            <a:r>
              <a:rPr sz="1500" b="0" i="0">
                <a:solidFill>
                  <a:srgbClr val="6B7280"/>
                </a:solidFill>
                <a:latin typeface="Calibri"/>
              </a:rPr>
              <a:t>the kilowatt-hour (kWh) — the billed unit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778240" y="-1371600"/>
            <a:ext cx="4754880" cy="47548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011680"/>
            <a:ext cx="8229600" cy="457200"/>
          </a:xfrm>
          <a:prstGeom prst="rect">
            <a:avLst/>
          </a:prstGeom>
          <a:noFill/>
        </p:spPr>
        <p:txBody>
          <a:bodyPr wrap="square" anchor="t" lIns="0" rIns="0" tIns="0" bIns="0">
            <a:spAutoFit/>
          </a:bodyPr>
          <a:lstStyle/>
          <a:p>
            <a:pPr algn="l"/>
            <a:r>
              <a:rPr sz="1600" b="1" i="0">
                <a:solidFill>
                  <a:srgbClr val="FFC300"/>
                </a:solidFill>
                <a:latin typeface="Arial"/>
              </a:rPr>
              <a:t>QUIZ 2</a:t>
            </a:r>
          </a:p>
        </p:txBody>
      </p:sp>
      <p:sp>
        <p:nvSpPr>
          <p:cNvPr id="4" name="TextBox 3"/>
          <p:cNvSpPr txBox="1"/>
          <p:nvPr/>
        </p:nvSpPr>
        <p:spPr>
          <a:xfrm>
            <a:off x="777240" y="2560320"/>
            <a:ext cx="9601200" cy="1005840"/>
          </a:xfrm>
          <a:prstGeom prst="rect">
            <a:avLst/>
          </a:prstGeom>
          <a:noFill/>
        </p:spPr>
        <p:txBody>
          <a:bodyPr wrap="square" anchor="t" lIns="0" rIns="0" tIns="0" bIns="0">
            <a:spAutoFit/>
          </a:bodyPr>
          <a:lstStyle/>
          <a:p>
            <a:pPr algn="l"/>
            <a:r>
              <a:rPr sz="4400" b="1" i="0">
                <a:solidFill>
                  <a:srgbClr val="FFFFFF"/>
                </a:solidFill>
                <a:latin typeface="Calibri"/>
              </a:rPr>
              <a:t>Final Check — Electricity at Home</a:t>
            </a:r>
          </a:p>
        </p:txBody>
      </p:sp>
      <p:sp>
        <p:nvSpPr>
          <p:cNvPr id="5" name="TextBox 4"/>
          <p:cNvSpPr txBox="1"/>
          <p:nvPr/>
        </p:nvSpPr>
        <p:spPr>
          <a:xfrm>
            <a:off x="777240" y="3749039"/>
            <a:ext cx="9601200" cy="548640"/>
          </a:xfrm>
          <a:prstGeom prst="rect">
            <a:avLst/>
          </a:prstGeom>
          <a:noFill/>
        </p:spPr>
        <p:txBody>
          <a:bodyPr wrap="square" anchor="t" lIns="0" rIns="0" tIns="0" bIns="0">
            <a:spAutoFit/>
          </a:bodyPr>
          <a:lstStyle/>
          <a:p>
            <a:pPr algn="l"/>
            <a:r>
              <a:rPr sz="1800" b="0" i="0">
                <a:solidFill>
                  <a:srgbClr val="CADCFC"/>
                </a:solidFill>
                <a:latin typeface="Calibri"/>
              </a:rPr>
              <a:t>5 questions  •  think before the answer reveals on the next slide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Why a Fuse Melts</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fuse protects a circuit by melting when the current is too large. It is therefore connected:</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In the earth wire</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In the live wire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Across the bulb</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Outside the house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Why a Fuse Melts</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fuse protects a circuit by melting when the current is too large. It is therefore connected:</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In the earth wire</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In the live wire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Across the bulb</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Outside the house</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The fuse is placed in the live wire so that, when it melts, it cuts off the dangerous live supply to the whole circuit, stopping the excess current and preventing a fire.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One Unit</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One 'unit' on an electricity bill is the energy used by a 1 kilowatt appliance running for:</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One minute</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One hour</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One day</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One second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One Unit</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One 'unit' on an electricity bill is the energy used by a 1 kilowatt appliance running for:</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One minute</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One hour</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One day</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One second</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One unit is one kilowatt-hour: the energy a 1 kW appliance uses in 1 hour. The meter counts these units and the bill charges for them.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Parallel Homes</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House lights are wired in parallel so that:</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They share one switch</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Each can be switched on or off on its own</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They use less wire</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They glow dimmer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Parallel Homes</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House lights are wired in parallel so that:</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They share one switch</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Each can be switched on or off on its own</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They use less wire</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They glow dimmer</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In parallel, every light gets the full supply voltage and has its own path. So one lamp can be switched off without affecting the others — unlike a series chain.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Overloaded Socket</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Plugging many high-power appliances into one socket is dangerous because it draws a large current that can:</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Cool the wires</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Overheat the wiring and start a fire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Save energy</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Stop the meter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Overloaded Socket</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Plugging many high-power appliances into one socket is dangerous because it draws a large current that can:</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Cool the wires</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Overheat the wiring and start a fire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Save energy</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Stop the meter</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Each appliance adds to the current in the same wire. A very large current heats the wiring beyond its safe limit, which can melt insulation and start a fire — so we avoid overloading.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Q5 — Metal Body</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An earthed metal-bodied appliance is safer because, if a live wire touches the body, the current will:</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Stay in the body</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Flow harmlessly to earth through the earth wire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Light a bulb</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Increase the bill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Q5 — Metal Body</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An earthed metal-bodied appliance is safer because, if a live wire touches the body, the current will:</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Stay in the body</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Flow harmlessly to earth through the earth wire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Light a bulb</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Increase the bill</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The earth wire connects the body to the ground. A fault current takes this easy path to earth rather than passing through a person who touches the appliance, preventing a shock.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1463040" y="3108960"/>
            <a:ext cx="4754880" cy="47548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1645920"/>
            <a:ext cx="4206240" cy="420624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10515600" cy="1097280"/>
          </a:xfrm>
          <a:prstGeom prst="rect">
            <a:avLst/>
          </a:prstGeom>
          <a:noFill/>
        </p:spPr>
        <p:txBody>
          <a:bodyPr wrap="square" anchor="t" lIns="0" rIns="0" tIns="0" bIns="0">
            <a:spAutoFit/>
          </a:bodyPr>
          <a:lstStyle/>
          <a:p>
            <a:pPr algn="l"/>
            <a:r>
              <a:rPr sz="4600" b="1" i="0">
                <a:solidFill>
                  <a:srgbClr val="FFFFFF"/>
                </a:solidFill>
                <a:latin typeface="Calibri"/>
              </a:rPr>
              <a:t>Power Used Wisely</a:t>
            </a:r>
          </a:p>
        </p:txBody>
      </p:sp>
      <p:sp>
        <p:nvSpPr>
          <p:cNvPr id="5" name="TextBox 4"/>
          <p:cNvSpPr txBox="1"/>
          <p:nvPr/>
        </p:nvSpPr>
        <p:spPr>
          <a:xfrm>
            <a:off x="731520" y="3566160"/>
            <a:ext cx="10058400" cy="1097280"/>
          </a:xfrm>
          <a:prstGeom prst="rect">
            <a:avLst/>
          </a:prstGeom>
          <a:noFill/>
        </p:spPr>
        <p:txBody>
          <a:bodyPr wrap="square" anchor="t" lIns="0" rIns="0" tIns="0" bIns="0">
            <a:spAutoFit/>
          </a:bodyPr>
          <a:lstStyle/>
          <a:p>
            <a:pPr algn="l"/>
            <a:r>
              <a:rPr sz="1900" b="0" i="0">
                <a:solidFill>
                  <a:srgbClr val="CADCFC"/>
                </a:solidFill>
                <a:latin typeface="Calibri"/>
              </a:rPr>
              <a:t>From a single cell to the wiring of a whole house, electricity serves us best when it is understood — and treated with respect.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