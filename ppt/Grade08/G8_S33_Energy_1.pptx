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previewing these objectives so students know what they should be able to do by the end of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work precisely: force × distance in the force's direction. No movement → no work, even if you feel tired.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cases. The wall and standing-still examples surprise students: effort without movement is not work in physics.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joule links work and energy. 1 J = 1 N·m. Energy is measured in joules because it is the ability to do work.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find the force (the weight), then multiply by the height. A clean two-step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Energy = capacity to do work. Mechanical energy splits into kinetic (motion) and potential (position) — set up for the next slides.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 is stored energy from position or state. Raised objects and stretched springs are the key examples.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Everyday stores of potential energy. Each can later do work when released.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pendulum is the classic PE↔KE demo, leading into kinetic energy and conservation next lesson.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Rapid recap; W = F × d and the meaning of potential energy are the key ideas.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Oval 1"/>
          <p:cNvSpPr/>
          <p:nvPr/>
        </p:nvSpPr>
        <p:spPr>
          <a:xfrm>
            <a:off x="-1463040" y="3108960"/>
            <a:ext cx="4754880" cy="475488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058400" y="-1645920"/>
            <a:ext cx="4206240" cy="420624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8686800" cy="457200"/>
          </a:xfrm>
          <a:prstGeom prst="rect">
            <a:avLst/>
          </a:prstGeom>
          <a:noFill/>
        </p:spPr>
        <p:txBody>
          <a:bodyPr wrap="square" anchor="t" lIns="0" rIns="0" tIns="0" bIns="0">
            <a:spAutoFit/>
          </a:bodyPr>
          <a:lstStyle/>
          <a:p>
            <a:pPr algn="l"/>
            <a:r>
              <a:rPr sz="1600" b="1" i="0">
                <a:solidFill>
                  <a:srgbClr val="FFC300"/>
                </a:solidFill>
                <a:latin typeface="Arial"/>
              </a:rPr>
              <a:t>ICSE • CLASS 8 • ENERGY</a:t>
            </a:r>
          </a:p>
        </p:txBody>
      </p:sp>
      <p:sp>
        <p:nvSpPr>
          <p:cNvPr id="5" name="TextBox 4"/>
          <p:cNvSpPr txBox="1"/>
          <p:nvPr/>
        </p:nvSpPr>
        <p:spPr>
          <a:xfrm>
            <a:off x="731520" y="1828800"/>
            <a:ext cx="8046720" cy="1737360"/>
          </a:xfrm>
          <a:prstGeom prst="rect">
            <a:avLst/>
          </a:prstGeom>
          <a:noFill/>
        </p:spPr>
        <p:txBody>
          <a:bodyPr wrap="square" anchor="b" lIns="0" rIns="0" tIns="0" bIns="0">
            <a:spAutoFit/>
          </a:bodyPr>
          <a:lstStyle/>
          <a:p>
            <a:pPr algn="l"/>
            <a:r>
              <a:rPr sz="5000" b="1" i="0">
                <a:solidFill>
                  <a:srgbClr val="FFFFFF"/>
                </a:solidFill>
                <a:latin typeface="Calibri"/>
              </a:rPr>
              <a:t>Work &amp; Energy</a:t>
            </a:r>
          </a:p>
        </p:txBody>
      </p:sp>
      <p:sp>
        <p:nvSpPr>
          <p:cNvPr id="6" name="TextBox 5"/>
          <p:cNvSpPr txBox="1"/>
          <p:nvPr/>
        </p:nvSpPr>
        <p:spPr>
          <a:xfrm>
            <a:off x="731520" y="3703320"/>
            <a:ext cx="8046720" cy="1463040"/>
          </a:xfrm>
          <a:prstGeom prst="rect">
            <a:avLst/>
          </a:prstGeom>
          <a:noFill/>
        </p:spPr>
        <p:txBody>
          <a:bodyPr wrap="square" anchor="t" lIns="0" rIns="0" tIns="0" bIns="0">
            <a:spAutoFit/>
          </a:bodyPr>
          <a:lstStyle/>
          <a:p>
            <a:pPr algn="l"/>
            <a:r>
              <a:rPr sz="1900" b="0" i="0">
                <a:solidFill>
                  <a:srgbClr val="CADCFC"/>
                </a:solidFill>
                <a:latin typeface="Calibri"/>
              </a:rPr>
              <a:t>Work and its units  •  Energy  •  Mechanical energy  •  Potential energy</a:t>
            </a:r>
          </a:p>
        </p:txBody>
      </p:sp>
      <p:pic>
        <p:nvPicPr>
          <p:cNvPr id="7" name="Picture 6" descr="g8_energy_hero.png"/>
          <p:cNvPicPr>
            <a:picLocks noChangeAspect="1"/>
          </p:cNvPicPr>
          <p:nvPr/>
        </p:nvPicPr>
        <p:blipFill>
          <a:blip r:embed="rId2"/>
          <a:stretch>
            <a:fillRect/>
          </a:stretch>
        </p:blipFill>
        <p:spPr>
          <a:xfrm>
            <a:off x="9052560" y="2103120"/>
            <a:ext cx="2651760" cy="27432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F4801A"/>
                </a:solidFill>
                <a:latin typeface="Arial"/>
              </a:rPr>
              <a:t>INTRODUCTION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Learning Objectives</a:t>
            </a:r>
          </a:p>
        </p:txBody>
      </p:sp>
      <p:sp>
        <p:nvSpPr>
          <p:cNvPr id="6" name="Rounded Rectangle 5"/>
          <p:cNvSpPr/>
          <p:nvPr/>
        </p:nvSpPr>
        <p:spPr>
          <a:xfrm>
            <a:off x="640080" y="1874519"/>
            <a:ext cx="5349240" cy="1051560"/>
          </a:xfrm>
          <a:prstGeom prst="roundRect">
            <a:avLst>
              <a:gd name="adj" fmla="val 6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2167127"/>
            <a:ext cx="457200" cy="45720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167127"/>
            <a:ext cx="457200" cy="457200"/>
          </a:xfrm>
          <a:prstGeom prst="rect">
            <a:avLst/>
          </a:prstGeom>
          <a:noFill/>
        </p:spPr>
        <p:txBody>
          <a:bodyPr wrap="square" anchor="ctr" lIns="0" rIns="0" tIns="0" bIns="0">
            <a:spAutoFit/>
          </a:bodyPr>
          <a:lstStyle/>
          <a:p>
            <a:pPr algn="ctr"/>
            <a:r>
              <a:rPr sz="1600" b="1" i="0">
                <a:solidFill>
                  <a:srgbClr val="FFFFFF"/>
                </a:solidFill>
                <a:latin typeface="Calibri"/>
              </a:rPr>
              <a:t>1</a:t>
            </a:r>
          </a:p>
        </p:txBody>
      </p:sp>
      <p:sp>
        <p:nvSpPr>
          <p:cNvPr id="9" name="TextBox 8"/>
          <p:cNvSpPr txBox="1"/>
          <p:nvPr/>
        </p:nvSpPr>
        <p:spPr>
          <a:xfrm>
            <a:off x="1554480" y="2039112"/>
            <a:ext cx="4251959" cy="777239"/>
          </a:xfrm>
          <a:prstGeom prst="rect">
            <a:avLst/>
          </a:prstGeom>
          <a:noFill/>
        </p:spPr>
        <p:txBody>
          <a:bodyPr wrap="square" anchor="ctr" lIns="0" rIns="0" tIns="0" bIns="0">
            <a:spAutoFit/>
          </a:bodyPr>
          <a:lstStyle/>
          <a:p>
            <a:pPr algn="l"/>
            <a:r>
              <a:rPr sz="1450" b="0" i="0">
                <a:solidFill>
                  <a:srgbClr val="1D2433"/>
                </a:solidFill>
                <a:latin typeface="Calibri"/>
              </a:rPr>
              <a:t>Define work and state when work is done</a:t>
            </a:r>
          </a:p>
        </p:txBody>
      </p:sp>
      <p:sp>
        <p:nvSpPr>
          <p:cNvPr id="10" name="Rounded Rectangle 9"/>
          <p:cNvSpPr/>
          <p:nvPr/>
        </p:nvSpPr>
        <p:spPr>
          <a:xfrm>
            <a:off x="6172200" y="1874519"/>
            <a:ext cx="5349240" cy="1051560"/>
          </a:xfrm>
          <a:prstGeom prst="roundRect">
            <a:avLst>
              <a:gd name="adj" fmla="val 6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46520" y="2167127"/>
            <a:ext cx="457200" cy="45720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2167127"/>
            <a:ext cx="457200" cy="457200"/>
          </a:xfrm>
          <a:prstGeom prst="rect">
            <a:avLst/>
          </a:prstGeom>
          <a:noFill/>
        </p:spPr>
        <p:txBody>
          <a:bodyPr wrap="square" anchor="ctr" lIns="0" rIns="0" tIns="0" bIns="0">
            <a:spAutoFit/>
          </a:bodyPr>
          <a:lstStyle/>
          <a:p>
            <a:pPr algn="ctr"/>
            <a:r>
              <a:rPr sz="1600" b="1" i="0">
                <a:solidFill>
                  <a:srgbClr val="FFFFFF"/>
                </a:solidFill>
                <a:latin typeface="Calibri"/>
              </a:rPr>
              <a:t>2</a:t>
            </a:r>
          </a:p>
        </p:txBody>
      </p:sp>
      <p:sp>
        <p:nvSpPr>
          <p:cNvPr id="13" name="TextBox 12"/>
          <p:cNvSpPr txBox="1"/>
          <p:nvPr/>
        </p:nvSpPr>
        <p:spPr>
          <a:xfrm>
            <a:off x="7086600" y="2039112"/>
            <a:ext cx="4251959" cy="777239"/>
          </a:xfrm>
          <a:prstGeom prst="rect">
            <a:avLst/>
          </a:prstGeom>
          <a:noFill/>
        </p:spPr>
        <p:txBody>
          <a:bodyPr wrap="square" anchor="ctr" lIns="0" rIns="0" tIns="0" bIns="0">
            <a:spAutoFit/>
          </a:bodyPr>
          <a:lstStyle/>
          <a:p>
            <a:pPr algn="l"/>
            <a:r>
              <a:rPr sz="1450" b="0" i="0">
                <a:solidFill>
                  <a:srgbClr val="1D2433"/>
                </a:solidFill>
                <a:latin typeface="Calibri"/>
              </a:rPr>
              <a:t>Use the relation work = force × distance</a:t>
            </a:r>
          </a:p>
        </p:txBody>
      </p:sp>
      <p:sp>
        <p:nvSpPr>
          <p:cNvPr id="14" name="Rounded Rectangle 13"/>
          <p:cNvSpPr/>
          <p:nvPr/>
        </p:nvSpPr>
        <p:spPr>
          <a:xfrm>
            <a:off x="640080" y="3182111"/>
            <a:ext cx="5349240" cy="1051560"/>
          </a:xfrm>
          <a:prstGeom prst="roundRect">
            <a:avLst>
              <a:gd name="adj" fmla="val 6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14400" y="3474719"/>
            <a:ext cx="457200" cy="45720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474719"/>
            <a:ext cx="457200" cy="457200"/>
          </a:xfrm>
          <a:prstGeom prst="rect">
            <a:avLst/>
          </a:prstGeom>
          <a:noFill/>
        </p:spPr>
        <p:txBody>
          <a:bodyPr wrap="square" anchor="ctr" lIns="0" rIns="0" tIns="0" bIns="0">
            <a:spAutoFit/>
          </a:bodyPr>
          <a:lstStyle/>
          <a:p>
            <a:pPr algn="ctr"/>
            <a:r>
              <a:rPr sz="1600" b="1" i="0">
                <a:solidFill>
                  <a:srgbClr val="FFFFFF"/>
                </a:solidFill>
                <a:latin typeface="Calibri"/>
              </a:rPr>
              <a:t>3</a:t>
            </a:r>
          </a:p>
        </p:txBody>
      </p:sp>
      <p:sp>
        <p:nvSpPr>
          <p:cNvPr id="17" name="TextBox 16"/>
          <p:cNvSpPr txBox="1"/>
          <p:nvPr/>
        </p:nvSpPr>
        <p:spPr>
          <a:xfrm>
            <a:off x="1554480" y="3346703"/>
            <a:ext cx="4251959" cy="777239"/>
          </a:xfrm>
          <a:prstGeom prst="rect">
            <a:avLst/>
          </a:prstGeom>
          <a:noFill/>
        </p:spPr>
        <p:txBody>
          <a:bodyPr wrap="square" anchor="ctr" lIns="0" rIns="0" tIns="0" bIns="0">
            <a:spAutoFit/>
          </a:bodyPr>
          <a:lstStyle/>
          <a:p>
            <a:pPr algn="l"/>
            <a:r>
              <a:rPr sz="1450" b="0" i="0">
                <a:solidFill>
                  <a:srgbClr val="1D2433"/>
                </a:solidFill>
                <a:latin typeface="Calibri"/>
              </a:rPr>
              <a:t>State the units of work and energy</a:t>
            </a:r>
          </a:p>
        </p:txBody>
      </p:sp>
      <p:sp>
        <p:nvSpPr>
          <p:cNvPr id="18" name="Rounded Rectangle 17"/>
          <p:cNvSpPr/>
          <p:nvPr/>
        </p:nvSpPr>
        <p:spPr>
          <a:xfrm>
            <a:off x="6172200" y="3182111"/>
            <a:ext cx="5349240" cy="1051560"/>
          </a:xfrm>
          <a:prstGeom prst="roundRect">
            <a:avLst>
              <a:gd name="adj" fmla="val 6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446520" y="3474719"/>
            <a:ext cx="457200" cy="457200"/>
          </a:xfrm>
          <a:prstGeom prst="ellipse">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3474719"/>
            <a:ext cx="457200" cy="457200"/>
          </a:xfrm>
          <a:prstGeom prst="rect">
            <a:avLst/>
          </a:prstGeom>
          <a:noFill/>
        </p:spPr>
        <p:txBody>
          <a:bodyPr wrap="square" anchor="ctr" lIns="0" rIns="0" tIns="0" bIns="0">
            <a:spAutoFit/>
          </a:bodyPr>
          <a:lstStyle/>
          <a:p>
            <a:pPr algn="ctr"/>
            <a:r>
              <a:rPr sz="1600" b="1" i="0">
                <a:solidFill>
                  <a:srgbClr val="FFFFFF"/>
                </a:solidFill>
                <a:latin typeface="Calibri"/>
              </a:rPr>
              <a:t>4</a:t>
            </a:r>
          </a:p>
        </p:txBody>
      </p:sp>
      <p:sp>
        <p:nvSpPr>
          <p:cNvPr id="21" name="TextBox 20"/>
          <p:cNvSpPr txBox="1"/>
          <p:nvPr/>
        </p:nvSpPr>
        <p:spPr>
          <a:xfrm>
            <a:off x="7086600" y="3346703"/>
            <a:ext cx="4251959" cy="777239"/>
          </a:xfrm>
          <a:prstGeom prst="rect">
            <a:avLst/>
          </a:prstGeom>
          <a:noFill/>
        </p:spPr>
        <p:txBody>
          <a:bodyPr wrap="square" anchor="ctr" lIns="0" rIns="0" tIns="0" bIns="0">
            <a:spAutoFit/>
          </a:bodyPr>
          <a:lstStyle/>
          <a:p>
            <a:pPr algn="l"/>
            <a:r>
              <a:rPr sz="1450" b="0" i="0">
                <a:solidFill>
                  <a:srgbClr val="1D2433"/>
                </a:solidFill>
                <a:latin typeface="Calibri"/>
              </a:rPr>
              <a:t>Define energy and mechanical energy</a:t>
            </a:r>
          </a:p>
        </p:txBody>
      </p:sp>
      <p:sp>
        <p:nvSpPr>
          <p:cNvPr id="22" name="Rounded Rectangle 21"/>
          <p:cNvSpPr/>
          <p:nvPr/>
        </p:nvSpPr>
        <p:spPr>
          <a:xfrm>
            <a:off x="640080" y="4489704"/>
            <a:ext cx="5349240" cy="1051560"/>
          </a:xfrm>
          <a:prstGeom prst="roundRect">
            <a:avLst>
              <a:gd name="adj" fmla="val 6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14400" y="4782312"/>
            <a:ext cx="457200" cy="45720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4782312"/>
            <a:ext cx="457200" cy="457200"/>
          </a:xfrm>
          <a:prstGeom prst="rect">
            <a:avLst/>
          </a:prstGeom>
          <a:noFill/>
        </p:spPr>
        <p:txBody>
          <a:bodyPr wrap="square" anchor="ctr" lIns="0" rIns="0" tIns="0" bIns="0">
            <a:spAutoFit/>
          </a:bodyPr>
          <a:lstStyle/>
          <a:p>
            <a:pPr algn="ctr"/>
            <a:r>
              <a:rPr sz="1600" b="1" i="0">
                <a:solidFill>
                  <a:srgbClr val="FFFFFF"/>
                </a:solidFill>
                <a:latin typeface="Calibri"/>
              </a:rPr>
              <a:t>5</a:t>
            </a:r>
          </a:p>
        </p:txBody>
      </p:sp>
      <p:sp>
        <p:nvSpPr>
          <p:cNvPr id="25" name="TextBox 24"/>
          <p:cNvSpPr txBox="1"/>
          <p:nvPr/>
        </p:nvSpPr>
        <p:spPr>
          <a:xfrm>
            <a:off x="1554480" y="4654296"/>
            <a:ext cx="4251959" cy="777239"/>
          </a:xfrm>
          <a:prstGeom prst="rect">
            <a:avLst/>
          </a:prstGeom>
          <a:noFill/>
        </p:spPr>
        <p:txBody>
          <a:bodyPr wrap="square" anchor="ctr" lIns="0" rIns="0" tIns="0" bIns="0">
            <a:spAutoFit/>
          </a:bodyPr>
          <a:lstStyle/>
          <a:p>
            <a:pPr algn="l"/>
            <a:r>
              <a:rPr sz="1450" b="0" i="0">
                <a:solidFill>
                  <a:srgbClr val="1D2433"/>
                </a:solidFill>
                <a:latin typeface="Calibri"/>
              </a:rPr>
              <a:t>Define potential energy</a:t>
            </a:r>
          </a:p>
        </p:txBody>
      </p:sp>
      <p:sp>
        <p:nvSpPr>
          <p:cNvPr id="26" name="Rounded Rectangle 25"/>
          <p:cNvSpPr/>
          <p:nvPr/>
        </p:nvSpPr>
        <p:spPr>
          <a:xfrm>
            <a:off x="6172200" y="4489704"/>
            <a:ext cx="5349240" cy="1051560"/>
          </a:xfrm>
          <a:prstGeom prst="roundRect">
            <a:avLst>
              <a:gd name="adj" fmla="val 6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46520" y="4782312"/>
            <a:ext cx="457200" cy="45720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46520" y="4782312"/>
            <a:ext cx="457200" cy="457200"/>
          </a:xfrm>
          <a:prstGeom prst="rect">
            <a:avLst/>
          </a:prstGeom>
          <a:noFill/>
        </p:spPr>
        <p:txBody>
          <a:bodyPr wrap="square" anchor="ctr" lIns="0" rIns="0" tIns="0" bIns="0">
            <a:spAutoFit/>
          </a:bodyPr>
          <a:lstStyle/>
          <a:p>
            <a:pPr algn="ctr"/>
            <a:r>
              <a:rPr sz="1600" b="1" i="0">
                <a:solidFill>
                  <a:srgbClr val="FFFFFF"/>
                </a:solidFill>
                <a:latin typeface="Calibri"/>
              </a:rPr>
              <a:t>6</a:t>
            </a:r>
          </a:p>
        </p:txBody>
      </p:sp>
      <p:sp>
        <p:nvSpPr>
          <p:cNvPr id="29" name="TextBox 28"/>
          <p:cNvSpPr txBox="1"/>
          <p:nvPr/>
        </p:nvSpPr>
        <p:spPr>
          <a:xfrm>
            <a:off x="7086600" y="4654296"/>
            <a:ext cx="4251959" cy="777239"/>
          </a:xfrm>
          <a:prstGeom prst="rect">
            <a:avLst/>
          </a:prstGeom>
          <a:noFill/>
        </p:spPr>
        <p:txBody>
          <a:bodyPr wrap="square" anchor="ctr" lIns="0" rIns="0" tIns="0" bIns="0">
            <a:spAutoFit/>
          </a:bodyPr>
          <a:lstStyle/>
          <a:p>
            <a:pPr algn="l"/>
            <a:r>
              <a:rPr sz="1450" b="0" i="0">
                <a:solidFill>
                  <a:srgbClr val="1D2433"/>
                </a:solidFill>
                <a:latin typeface="Calibri"/>
              </a:rPr>
              <a:t>Give everyday examples of potential energy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Oval 1"/>
          <p:cNvSpPr/>
          <p:nvPr/>
        </p:nvSpPr>
        <p:spPr>
          <a:xfrm>
            <a:off x="8595360" y="-1463040"/>
            <a:ext cx="4937760" cy="493776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503920" y="3108960"/>
            <a:ext cx="3383280" cy="2743200"/>
          </a:xfrm>
          <a:prstGeom prst="rect">
            <a:avLst/>
          </a:prstGeom>
          <a:noFill/>
        </p:spPr>
        <p:txBody>
          <a:bodyPr wrap="square" anchor="t" lIns="0" rIns="0" tIns="0" bIns="0">
            <a:spAutoFit/>
          </a:bodyPr>
          <a:lstStyle/>
          <a:p>
            <a:pPr algn="r"/>
            <a:r>
              <a:rPr sz="20000" b="1" i="0">
                <a:solidFill>
                  <a:srgbClr val="263149"/>
                </a:solidFill>
                <a:latin typeface="Calibri"/>
              </a:rPr>
              <a:t>1</a:t>
            </a:r>
          </a:p>
        </p:txBody>
      </p:sp>
      <p:sp>
        <p:nvSpPr>
          <p:cNvPr id="4" name="TextBox 3"/>
          <p:cNvSpPr txBox="1"/>
          <p:nvPr/>
        </p:nvSpPr>
        <p:spPr>
          <a:xfrm>
            <a:off x="777240" y="2148840"/>
            <a:ext cx="6949440" cy="457200"/>
          </a:xfrm>
          <a:prstGeom prst="rect">
            <a:avLst/>
          </a:prstGeom>
          <a:noFill/>
        </p:spPr>
        <p:txBody>
          <a:bodyPr wrap="square" anchor="t" lIns="0" rIns="0" tIns="0" bIns="0">
            <a:spAutoFit/>
          </a:bodyPr>
          <a:lstStyle/>
          <a:p>
            <a:pPr algn="l"/>
            <a:r>
              <a:rPr sz="1600" b="1" i="0">
                <a:solidFill>
                  <a:srgbClr val="FFC300"/>
                </a:solidFill>
                <a:latin typeface="Arial"/>
              </a:rPr>
              <a:t>PART 1</a:t>
            </a:r>
          </a:p>
        </p:txBody>
      </p:sp>
      <p:sp>
        <p:nvSpPr>
          <p:cNvPr id="5" name="TextBox 4"/>
          <p:cNvSpPr txBox="1"/>
          <p:nvPr/>
        </p:nvSpPr>
        <p:spPr>
          <a:xfrm>
            <a:off x="777240" y="2697480"/>
            <a:ext cx="7498079" cy="1097280"/>
          </a:xfrm>
          <a:prstGeom prst="rect">
            <a:avLst/>
          </a:prstGeom>
          <a:noFill/>
        </p:spPr>
        <p:txBody>
          <a:bodyPr wrap="square" anchor="t" lIns="0" rIns="0" tIns="0" bIns="0">
            <a:spAutoFit/>
          </a:bodyPr>
          <a:lstStyle/>
          <a:p>
            <a:pPr algn="l"/>
            <a:r>
              <a:rPr sz="4200" b="1" i="0">
                <a:solidFill>
                  <a:srgbClr val="FFFFFF"/>
                </a:solidFill>
                <a:latin typeface="Calibri"/>
              </a:rPr>
              <a:t>Work and Its Units</a:t>
            </a:r>
          </a:p>
        </p:txBody>
      </p:sp>
      <p:sp>
        <p:nvSpPr>
          <p:cNvPr id="6" name="TextBox 5"/>
          <p:cNvSpPr txBox="1"/>
          <p:nvPr/>
        </p:nvSpPr>
        <p:spPr>
          <a:xfrm>
            <a:off x="777240" y="4114800"/>
            <a:ext cx="7315200" cy="822960"/>
          </a:xfrm>
          <a:prstGeom prst="rect">
            <a:avLst/>
          </a:prstGeom>
          <a:noFill/>
        </p:spPr>
        <p:txBody>
          <a:bodyPr wrap="square" anchor="t" lIns="0" rIns="0" tIns="0" bIns="0">
            <a:spAutoFit/>
          </a:bodyPr>
          <a:lstStyle/>
          <a:p>
            <a:pPr algn="l"/>
            <a:r>
              <a:rPr sz="1800" b="0" i="0">
                <a:solidFill>
                  <a:srgbClr val="CADCFC"/>
                </a:solidFill>
                <a:latin typeface="Calibri"/>
              </a:rPr>
              <a:t>What 'work' means in physics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F4801A"/>
                </a:solidFill>
                <a:latin typeface="Arial"/>
              </a:rPr>
              <a:t>WORK</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Work Done by a Force</a:t>
            </a:r>
          </a:p>
        </p:txBody>
      </p:sp>
      <p:sp>
        <p:nvSpPr>
          <p:cNvPr id="6" name="Rounded Rectangle 5"/>
          <p:cNvSpPr/>
          <p:nvPr/>
        </p:nvSpPr>
        <p:spPr>
          <a:xfrm>
            <a:off x="640080" y="1828800"/>
            <a:ext cx="10881360" cy="1371600"/>
          </a:xfrm>
          <a:prstGeom prst="roundRect">
            <a:avLst>
              <a:gd name="adj" fmla="val 6000"/>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10149840" cy="1371600"/>
          </a:xfrm>
          <a:prstGeom prst="rect">
            <a:avLst/>
          </a:prstGeom>
          <a:noFill/>
        </p:spPr>
        <p:txBody>
          <a:bodyPr wrap="square" anchor="ctr" lIns="0" rIns="0" tIns="0" bIns="0">
            <a:spAutoFit/>
          </a:bodyPr>
          <a:lstStyle/>
          <a:p>
            <a:pPr algn="l"/>
            <a:r>
              <a:rPr sz="1900" b="1" i="0">
                <a:solidFill>
                  <a:srgbClr val="FFFFFF"/>
                </a:solidFill>
                <a:latin typeface="Calibri"/>
              </a:rPr>
              <a:t>In physics, work is done when a force moves a body in the direction of the force.</a:t>
            </a:r>
          </a:p>
        </p:txBody>
      </p:sp>
      <p:sp>
        <p:nvSpPr>
          <p:cNvPr id="8" name="Rounded Rectangle 7"/>
          <p:cNvSpPr/>
          <p:nvPr/>
        </p:nvSpPr>
        <p:spPr>
          <a:xfrm>
            <a:off x="640080" y="3429000"/>
            <a:ext cx="10881360" cy="914400"/>
          </a:xfrm>
          <a:prstGeom prst="roundRect">
            <a:avLst>
              <a:gd name="adj" fmla="val 8000"/>
            </a:avLst>
          </a:prstGeom>
          <a:solidFill>
            <a:srgbClr val="FFF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429000"/>
            <a:ext cx="10149840" cy="914400"/>
          </a:xfrm>
          <a:prstGeom prst="rect">
            <a:avLst/>
          </a:prstGeom>
          <a:noFill/>
        </p:spPr>
        <p:txBody>
          <a:bodyPr wrap="square" anchor="ctr" lIns="0" rIns="0" tIns="0" bIns="0">
            <a:spAutoFit/>
          </a:bodyPr>
          <a:lstStyle/>
          <a:p>
            <a:pPr algn="ctr"/>
            <a:r>
              <a:rPr sz="2400" b="1" i="0">
                <a:solidFill>
                  <a:srgbClr val="F4801A"/>
                </a:solidFill>
                <a:latin typeface="Calibri"/>
              </a:rPr>
              <a:t>Work  W  =  Force × distance moved   (W = F × d)</a:t>
            </a:r>
          </a:p>
        </p:txBody>
      </p:sp>
      <p:sp>
        <p:nvSpPr>
          <p:cNvPr id="10" name="TextBox 9"/>
          <p:cNvSpPr txBox="1"/>
          <p:nvPr/>
        </p:nvSpPr>
        <p:spPr>
          <a:xfrm>
            <a:off x="1005840" y="4572000"/>
            <a:ext cx="10058400" cy="1325880"/>
          </a:xfrm>
          <a:prstGeom prst="rect">
            <a:avLst/>
          </a:prstGeom>
          <a:noFill/>
        </p:spPr>
        <p:txBody>
          <a:bodyPr wrap="square" anchor="t" lIns="0" rIns="0" tIns="0" bIns="0">
            <a:spAutoFit/>
          </a:bodyPr>
          <a:lstStyle/>
          <a:p>
            <a:pPr algn="l">
              <a:spcAft>
                <a:spcPts val="900"/>
              </a:spcAft>
            </a:pPr>
            <a:r>
              <a:rPr sz="1500" b="1" i="0">
                <a:solidFill>
                  <a:srgbClr val="F4801A"/>
                </a:solidFill>
                <a:latin typeface="Calibri"/>
              </a:rPr>
              <a:t>•  </a:t>
            </a:r>
            <a:r>
              <a:rPr sz="1500" b="0" i="0">
                <a:solidFill>
                  <a:srgbClr val="1D2433"/>
                </a:solidFill>
                <a:latin typeface="Calibri"/>
              </a:rPr>
              <a:t>Both a force AND movement are needed for work.</a:t>
            </a:r>
          </a:p>
          <a:p>
            <a:pPr algn="l">
              <a:spcAft>
                <a:spcPts val="900"/>
              </a:spcAft>
            </a:pPr>
            <a:r>
              <a:rPr sz="1500" b="1" i="0">
                <a:solidFill>
                  <a:srgbClr val="F4801A"/>
                </a:solidFill>
                <a:latin typeface="Calibri"/>
              </a:rPr>
              <a:t>•  </a:t>
            </a:r>
            <a:r>
              <a:rPr sz="1500" b="0" i="0">
                <a:solidFill>
                  <a:srgbClr val="1D2433"/>
                </a:solidFill>
                <a:latin typeface="Calibri"/>
              </a:rPr>
              <a:t>If there is no movement, no work is done.</a:t>
            </a:r>
          </a:p>
          <a:p>
            <a:pPr algn="l">
              <a:spcAft>
                <a:spcPts val="900"/>
              </a:spcAft>
            </a:pPr>
            <a:r>
              <a:rPr sz="1500" b="1" i="0">
                <a:solidFill>
                  <a:srgbClr val="F4801A"/>
                </a:solidFill>
                <a:latin typeface="Calibri"/>
              </a:rPr>
              <a:t>•  </a:t>
            </a:r>
            <a:r>
              <a:rPr sz="1500" b="0" i="0">
                <a:solidFill>
                  <a:srgbClr val="1D2433"/>
                </a:solidFill>
                <a:latin typeface="Calibri"/>
              </a:rPr>
              <a:t>Work is a scalar quantity.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F4801A"/>
                </a:solidFill>
                <a:latin typeface="Arial"/>
              </a:rPr>
              <a:t>WHEN?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When Is Work Done — and Not Done?</a:t>
            </a:r>
          </a:p>
        </p:txBody>
      </p:sp>
      <p:sp>
        <p:nvSpPr>
          <p:cNvPr id="6" name="Rounded Rectangle 5"/>
          <p:cNvSpPr/>
          <p:nvPr/>
        </p:nvSpPr>
        <p:spPr>
          <a:xfrm>
            <a:off x="640080" y="1920240"/>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60119" y="2212848"/>
            <a:ext cx="502920" cy="502920"/>
          </a:xfrm>
          <a:prstGeom prst="roundRect">
            <a:avLst>
              <a:gd name="adj" fmla="val 30000"/>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gear_FFFFFF.png"/>
          <p:cNvPicPr>
            <a:picLocks noChangeAspect="1"/>
          </p:cNvPicPr>
          <p:nvPr/>
        </p:nvPicPr>
        <p:blipFill>
          <a:blip r:embed="rId2"/>
          <a:stretch>
            <a:fillRect/>
          </a:stretch>
        </p:blipFill>
        <p:spPr>
          <a:xfrm>
            <a:off x="1070762" y="2323490"/>
            <a:ext cx="281635" cy="281635"/>
          </a:xfrm>
          <a:prstGeom prst="rect">
            <a:avLst/>
          </a:prstGeom>
        </p:spPr>
      </p:pic>
      <p:sp>
        <p:nvSpPr>
          <p:cNvPr id="9" name="TextBox 8"/>
          <p:cNvSpPr txBox="1"/>
          <p:nvPr/>
        </p:nvSpPr>
        <p:spPr>
          <a:xfrm>
            <a:off x="1645920" y="2176272"/>
            <a:ext cx="3931920" cy="457200"/>
          </a:xfrm>
          <a:prstGeom prst="rect">
            <a:avLst/>
          </a:prstGeom>
          <a:noFill/>
        </p:spPr>
        <p:txBody>
          <a:bodyPr wrap="square" anchor="t" lIns="0" rIns="0" tIns="0" bIns="0">
            <a:spAutoFit/>
          </a:bodyPr>
          <a:lstStyle/>
          <a:p>
            <a:pPr algn="l"/>
            <a:r>
              <a:rPr sz="1700" b="1" i="0">
                <a:solidFill>
                  <a:srgbClr val="1D2433"/>
                </a:solidFill>
                <a:latin typeface="Calibri"/>
              </a:rPr>
              <a:t>Work is done</a:t>
            </a:r>
          </a:p>
        </p:txBody>
      </p:sp>
      <p:sp>
        <p:nvSpPr>
          <p:cNvPr id="10" name="TextBox 9"/>
          <p:cNvSpPr txBox="1"/>
          <p:nvPr/>
        </p:nvSpPr>
        <p:spPr>
          <a:xfrm>
            <a:off x="1645920" y="2670048"/>
            <a:ext cx="3931920" cy="685800"/>
          </a:xfrm>
          <a:prstGeom prst="rect">
            <a:avLst/>
          </a:prstGeom>
          <a:noFill/>
        </p:spPr>
        <p:txBody>
          <a:bodyPr wrap="square" anchor="t" lIns="0" rIns="0" tIns="0" bIns="0">
            <a:spAutoFit/>
          </a:bodyPr>
          <a:lstStyle/>
          <a:p>
            <a:pPr algn="l"/>
            <a:r>
              <a:rPr sz="1350" b="0" i="0">
                <a:solidFill>
                  <a:srgbClr val="6B7280"/>
                </a:solidFill>
                <a:latin typeface="Calibri"/>
              </a:rPr>
              <a:t>Lifting a box: you apply a force and it moves upward.</a:t>
            </a:r>
          </a:p>
        </p:txBody>
      </p:sp>
      <p:sp>
        <p:nvSpPr>
          <p:cNvPr id="11" name="Rounded Rectangle 10"/>
          <p:cNvSpPr/>
          <p:nvPr/>
        </p:nvSpPr>
        <p:spPr>
          <a:xfrm>
            <a:off x="6217920" y="1920240"/>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537960" y="2212848"/>
            <a:ext cx="502920" cy="502920"/>
          </a:xfrm>
          <a:prstGeom prst="roundRect">
            <a:avLst>
              <a:gd name="adj" fmla="val 30000"/>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FFFFFF.png"/>
          <p:cNvPicPr>
            <a:picLocks noChangeAspect="1"/>
          </p:cNvPicPr>
          <p:nvPr/>
        </p:nvPicPr>
        <p:blipFill>
          <a:blip r:embed="rId3"/>
          <a:stretch>
            <a:fillRect/>
          </a:stretch>
        </p:blipFill>
        <p:spPr>
          <a:xfrm>
            <a:off x="6648602" y="2323490"/>
            <a:ext cx="281635" cy="281635"/>
          </a:xfrm>
          <a:prstGeom prst="rect">
            <a:avLst/>
          </a:prstGeom>
        </p:spPr>
      </p:pic>
      <p:sp>
        <p:nvSpPr>
          <p:cNvPr id="14" name="TextBox 13"/>
          <p:cNvSpPr txBox="1"/>
          <p:nvPr/>
        </p:nvSpPr>
        <p:spPr>
          <a:xfrm>
            <a:off x="7223760" y="2176272"/>
            <a:ext cx="3931920" cy="457200"/>
          </a:xfrm>
          <a:prstGeom prst="rect">
            <a:avLst/>
          </a:prstGeom>
          <a:noFill/>
        </p:spPr>
        <p:txBody>
          <a:bodyPr wrap="square" anchor="t" lIns="0" rIns="0" tIns="0" bIns="0">
            <a:spAutoFit/>
          </a:bodyPr>
          <a:lstStyle/>
          <a:p>
            <a:pPr algn="l"/>
            <a:r>
              <a:rPr sz="1700" b="1" i="0">
                <a:solidFill>
                  <a:srgbClr val="1D2433"/>
                </a:solidFill>
                <a:latin typeface="Calibri"/>
              </a:rPr>
              <a:t>Pushing a car</a:t>
            </a:r>
          </a:p>
        </p:txBody>
      </p:sp>
      <p:sp>
        <p:nvSpPr>
          <p:cNvPr id="15" name="TextBox 14"/>
          <p:cNvSpPr txBox="1"/>
          <p:nvPr/>
        </p:nvSpPr>
        <p:spPr>
          <a:xfrm>
            <a:off x="7223760" y="2670048"/>
            <a:ext cx="3931920" cy="685800"/>
          </a:xfrm>
          <a:prstGeom prst="rect">
            <a:avLst/>
          </a:prstGeom>
          <a:noFill/>
        </p:spPr>
        <p:txBody>
          <a:bodyPr wrap="square" anchor="t" lIns="0" rIns="0" tIns="0" bIns="0">
            <a:spAutoFit/>
          </a:bodyPr>
          <a:lstStyle/>
          <a:p>
            <a:pPr algn="l"/>
            <a:r>
              <a:rPr sz="1350" b="0" i="0">
                <a:solidFill>
                  <a:srgbClr val="6B7280"/>
                </a:solidFill>
                <a:latin typeface="Calibri"/>
              </a:rPr>
              <a:t>If the car moves, work is done on it.</a:t>
            </a:r>
          </a:p>
        </p:txBody>
      </p:sp>
      <p:sp>
        <p:nvSpPr>
          <p:cNvPr id="16" name="Rounded Rectangle 15"/>
          <p:cNvSpPr/>
          <p:nvPr/>
        </p:nvSpPr>
        <p:spPr>
          <a:xfrm>
            <a:off x="640080" y="3749039"/>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60119" y="4041648"/>
            <a:ext cx="502920" cy="502920"/>
          </a:xfrm>
          <a:prstGeom prst="roundRect">
            <a:avLst>
              <a:gd name="adj" fmla="val 3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gear_FFFFFF.png"/>
          <p:cNvPicPr>
            <a:picLocks noChangeAspect="1"/>
          </p:cNvPicPr>
          <p:nvPr/>
        </p:nvPicPr>
        <p:blipFill>
          <a:blip r:embed="rId2"/>
          <a:stretch>
            <a:fillRect/>
          </a:stretch>
        </p:blipFill>
        <p:spPr>
          <a:xfrm>
            <a:off x="1070762" y="4152290"/>
            <a:ext cx="281635" cy="281635"/>
          </a:xfrm>
          <a:prstGeom prst="rect">
            <a:avLst/>
          </a:prstGeom>
        </p:spPr>
      </p:pic>
      <p:sp>
        <p:nvSpPr>
          <p:cNvPr id="19" name="TextBox 18"/>
          <p:cNvSpPr txBox="1"/>
          <p:nvPr/>
        </p:nvSpPr>
        <p:spPr>
          <a:xfrm>
            <a:off x="1645920" y="4005072"/>
            <a:ext cx="3931920" cy="457200"/>
          </a:xfrm>
          <a:prstGeom prst="rect">
            <a:avLst/>
          </a:prstGeom>
          <a:noFill/>
        </p:spPr>
        <p:txBody>
          <a:bodyPr wrap="square" anchor="t" lIns="0" rIns="0" tIns="0" bIns="0">
            <a:spAutoFit/>
          </a:bodyPr>
          <a:lstStyle/>
          <a:p>
            <a:pPr algn="l"/>
            <a:r>
              <a:rPr sz="1700" b="1" i="0">
                <a:solidFill>
                  <a:srgbClr val="1D2433"/>
                </a:solidFill>
                <a:latin typeface="Calibri"/>
              </a:rPr>
              <a:t>No work</a:t>
            </a:r>
          </a:p>
        </p:txBody>
      </p:sp>
      <p:sp>
        <p:nvSpPr>
          <p:cNvPr id="20" name="TextBox 19"/>
          <p:cNvSpPr txBox="1"/>
          <p:nvPr/>
        </p:nvSpPr>
        <p:spPr>
          <a:xfrm>
            <a:off x="1645920" y="4498848"/>
            <a:ext cx="3931920" cy="685800"/>
          </a:xfrm>
          <a:prstGeom prst="rect">
            <a:avLst/>
          </a:prstGeom>
          <a:noFill/>
        </p:spPr>
        <p:txBody>
          <a:bodyPr wrap="square" anchor="t" lIns="0" rIns="0" tIns="0" bIns="0">
            <a:spAutoFit/>
          </a:bodyPr>
          <a:lstStyle/>
          <a:p>
            <a:pPr algn="l"/>
            <a:r>
              <a:rPr sz="1350" b="0" i="0">
                <a:solidFill>
                  <a:srgbClr val="6B7280"/>
                </a:solidFill>
                <a:latin typeface="Calibri"/>
              </a:rPr>
              <a:t>Pushing hard against a wall that does not move — no movement, no work.</a:t>
            </a:r>
          </a:p>
        </p:txBody>
      </p:sp>
      <p:sp>
        <p:nvSpPr>
          <p:cNvPr id="21" name="Rounded Rectangle 20"/>
          <p:cNvSpPr/>
          <p:nvPr/>
        </p:nvSpPr>
        <p:spPr>
          <a:xfrm>
            <a:off x="6217920" y="3749039"/>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537960" y="4041648"/>
            <a:ext cx="502920" cy="502920"/>
          </a:xfrm>
          <a:prstGeom prst="roundRect">
            <a:avLst>
              <a:gd name="adj" fmla="val 30000"/>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gear_FFFFFF.png"/>
          <p:cNvPicPr>
            <a:picLocks noChangeAspect="1"/>
          </p:cNvPicPr>
          <p:nvPr/>
        </p:nvPicPr>
        <p:blipFill>
          <a:blip r:embed="rId2"/>
          <a:stretch>
            <a:fillRect/>
          </a:stretch>
        </p:blipFill>
        <p:spPr>
          <a:xfrm>
            <a:off x="6648602" y="4152290"/>
            <a:ext cx="281635" cy="281635"/>
          </a:xfrm>
          <a:prstGeom prst="rect">
            <a:avLst/>
          </a:prstGeom>
        </p:spPr>
      </p:pic>
      <p:sp>
        <p:nvSpPr>
          <p:cNvPr id="24" name="TextBox 23"/>
          <p:cNvSpPr txBox="1"/>
          <p:nvPr/>
        </p:nvSpPr>
        <p:spPr>
          <a:xfrm>
            <a:off x="7223760" y="4005072"/>
            <a:ext cx="3931920" cy="457200"/>
          </a:xfrm>
          <a:prstGeom prst="rect">
            <a:avLst/>
          </a:prstGeom>
          <a:noFill/>
        </p:spPr>
        <p:txBody>
          <a:bodyPr wrap="square" anchor="t" lIns="0" rIns="0" tIns="0" bIns="0">
            <a:spAutoFit/>
          </a:bodyPr>
          <a:lstStyle/>
          <a:p>
            <a:pPr algn="l"/>
            <a:r>
              <a:rPr sz="1700" b="1" i="0">
                <a:solidFill>
                  <a:srgbClr val="1D2433"/>
                </a:solidFill>
                <a:latin typeface="Calibri"/>
              </a:rPr>
              <a:t>No work</a:t>
            </a:r>
          </a:p>
        </p:txBody>
      </p:sp>
      <p:sp>
        <p:nvSpPr>
          <p:cNvPr id="25" name="TextBox 24"/>
          <p:cNvSpPr txBox="1"/>
          <p:nvPr/>
        </p:nvSpPr>
        <p:spPr>
          <a:xfrm>
            <a:off x="7223760" y="4498848"/>
            <a:ext cx="3931920" cy="685800"/>
          </a:xfrm>
          <a:prstGeom prst="rect">
            <a:avLst/>
          </a:prstGeom>
          <a:noFill/>
        </p:spPr>
        <p:txBody>
          <a:bodyPr wrap="square" anchor="t" lIns="0" rIns="0" tIns="0" bIns="0">
            <a:spAutoFit/>
          </a:bodyPr>
          <a:lstStyle/>
          <a:p>
            <a:pPr algn="l"/>
            <a:r>
              <a:rPr sz="1350" b="0" i="0">
                <a:solidFill>
                  <a:srgbClr val="6B7280"/>
                </a:solidFill>
                <a:latin typeface="Calibri"/>
              </a:rPr>
              <a:t>Carrying a bag while standing still — it does not move in the force's direction.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F4801A"/>
                </a:solidFill>
                <a:latin typeface="Arial"/>
              </a:rPr>
              <a:t>UNITS</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Units of Work and Energy</a:t>
            </a:r>
          </a:p>
        </p:txBody>
      </p:sp>
      <p:sp>
        <p:nvSpPr>
          <p:cNvPr id="6" name="Rounded Rectangle 5"/>
          <p:cNvSpPr/>
          <p:nvPr/>
        </p:nvSpPr>
        <p:spPr>
          <a:xfrm>
            <a:off x="640080" y="1828800"/>
            <a:ext cx="10881360" cy="1371600"/>
          </a:xfrm>
          <a:prstGeom prst="roundRect">
            <a:avLst>
              <a:gd name="adj" fmla="val 6000"/>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10149840" cy="1371600"/>
          </a:xfrm>
          <a:prstGeom prst="rect">
            <a:avLst/>
          </a:prstGeom>
          <a:noFill/>
        </p:spPr>
        <p:txBody>
          <a:bodyPr wrap="square" anchor="ctr" lIns="0" rIns="0" tIns="0" bIns="0">
            <a:spAutoFit/>
          </a:bodyPr>
          <a:lstStyle/>
          <a:p>
            <a:pPr algn="l"/>
            <a:r>
              <a:rPr sz="1900" b="1" i="0">
                <a:solidFill>
                  <a:srgbClr val="FFFFFF"/>
                </a:solidFill>
                <a:latin typeface="Calibri"/>
              </a:rPr>
              <a:t>Work and energy are measured in the same unit, the joule.</a:t>
            </a:r>
          </a:p>
        </p:txBody>
      </p:sp>
      <p:sp>
        <p:nvSpPr>
          <p:cNvPr id="8" name="Rounded Rectangle 7"/>
          <p:cNvSpPr/>
          <p:nvPr/>
        </p:nvSpPr>
        <p:spPr>
          <a:xfrm>
            <a:off x="640080" y="3429000"/>
            <a:ext cx="10881360" cy="914400"/>
          </a:xfrm>
          <a:prstGeom prst="roundRect">
            <a:avLst>
              <a:gd name="adj" fmla="val 8000"/>
            </a:avLst>
          </a:prstGeom>
          <a:solidFill>
            <a:srgbClr val="FFF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429000"/>
            <a:ext cx="10149840" cy="914400"/>
          </a:xfrm>
          <a:prstGeom prst="rect">
            <a:avLst/>
          </a:prstGeom>
          <a:noFill/>
        </p:spPr>
        <p:txBody>
          <a:bodyPr wrap="square" anchor="ctr" lIns="0" rIns="0" tIns="0" bIns="0">
            <a:spAutoFit/>
          </a:bodyPr>
          <a:lstStyle/>
          <a:p>
            <a:pPr algn="ctr"/>
            <a:r>
              <a:rPr sz="2400" b="1" i="0">
                <a:solidFill>
                  <a:srgbClr val="F4801A"/>
                </a:solidFill>
                <a:latin typeface="Calibri"/>
              </a:rPr>
              <a:t>1 joule (J)  =  1 newton × 1 metre  (1 N·m)</a:t>
            </a:r>
          </a:p>
        </p:txBody>
      </p:sp>
      <p:sp>
        <p:nvSpPr>
          <p:cNvPr id="10" name="TextBox 9"/>
          <p:cNvSpPr txBox="1"/>
          <p:nvPr/>
        </p:nvSpPr>
        <p:spPr>
          <a:xfrm>
            <a:off x="1005840" y="4572000"/>
            <a:ext cx="10058400" cy="1325880"/>
          </a:xfrm>
          <a:prstGeom prst="rect">
            <a:avLst/>
          </a:prstGeom>
          <a:noFill/>
        </p:spPr>
        <p:txBody>
          <a:bodyPr wrap="square" anchor="t" lIns="0" rIns="0" tIns="0" bIns="0">
            <a:spAutoFit/>
          </a:bodyPr>
          <a:lstStyle/>
          <a:p>
            <a:pPr algn="l">
              <a:spcAft>
                <a:spcPts val="900"/>
              </a:spcAft>
            </a:pPr>
            <a:r>
              <a:rPr sz="1500" b="1" i="0">
                <a:solidFill>
                  <a:srgbClr val="F4801A"/>
                </a:solidFill>
                <a:latin typeface="Calibri"/>
              </a:rPr>
              <a:t>•  </a:t>
            </a:r>
            <a:r>
              <a:rPr sz="1500" b="0" i="0">
                <a:solidFill>
                  <a:srgbClr val="1D2433"/>
                </a:solidFill>
                <a:latin typeface="Calibri"/>
              </a:rPr>
              <a:t>1 joule of work is done when a force of 1 N moves a body 1 m.</a:t>
            </a:r>
          </a:p>
          <a:p>
            <a:pPr algn="l">
              <a:spcAft>
                <a:spcPts val="900"/>
              </a:spcAft>
            </a:pPr>
            <a:r>
              <a:rPr sz="1500" b="1" i="0">
                <a:solidFill>
                  <a:srgbClr val="F4801A"/>
                </a:solidFill>
                <a:latin typeface="Calibri"/>
              </a:rPr>
              <a:t>•  </a:t>
            </a:r>
            <a:r>
              <a:rPr sz="1500" b="0" i="0">
                <a:solidFill>
                  <a:srgbClr val="1D2433"/>
                </a:solidFill>
                <a:latin typeface="Calibri"/>
              </a:rPr>
              <a:t>Larger amounts are measured in kilojoules (kJ).</a:t>
            </a:r>
          </a:p>
          <a:p>
            <a:pPr algn="l">
              <a:spcAft>
                <a:spcPts val="900"/>
              </a:spcAft>
            </a:pPr>
            <a:r>
              <a:rPr sz="1500" b="1" i="0">
                <a:solidFill>
                  <a:srgbClr val="F4801A"/>
                </a:solidFill>
                <a:latin typeface="Calibri"/>
              </a:rPr>
              <a:t>•  </a:t>
            </a:r>
            <a:r>
              <a:rPr sz="1500" b="0" i="0">
                <a:solidFill>
                  <a:srgbClr val="1D2433"/>
                </a:solidFill>
                <a:latin typeface="Calibri"/>
              </a:rPr>
              <a:t>Energy is the capacity to do work, so it shares the same unit.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F4801A"/>
                </a:solidFill>
                <a:latin typeface="Arial"/>
              </a:rPr>
              <a:t>WORKED EXAMPLE</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Calculating Work</a:t>
            </a:r>
          </a:p>
        </p:txBody>
      </p:sp>
      <p:sp>
        <p:nvSpPr>
          <p:cNvPr id="6" name="Rounded Rectangle 5"/>
          <p:cNvSpPr/>
          <p:nvPr/>
        </p:nvSpPr>
        <p:spPr>
          <a:xfrm>
            <a:off x="640080" y="1828800"/>
            <a:ext cx="10881360" cy="1097280"/>
          </a:xfrm>
          <a:prstGeom prst="roundRect">
            <a:avLst>
              <a:gd name="adj" fmla="val 6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10149840" cy="1097280"/>
          </a:xfrm>
          <a:prstGeom prst="rect">
            <a:avLst/>
          </a:prstGeom>
          <a:noFill/>
        </p:spPr>
        <p:txBody>
          <a:bodyPr wrap="square" anchor="ctr" lIns="0" rIns="0" tIns="0" bIns="0">
            <a:spAutoFit/>
          </a:bodyPr>
          <a:lstStyle/>
          <a:p>
            <a:pPr algn="l"/>
            <a:r>
              <a:rPr sz="1600" b="1" i="0">
                <a:solidFill>
                  <a:srgbClr val="F4801A"/>
                </a:solidFill>
                <a:latin typeface="Calibri"/>
              </a:rPr>
              <a:t>Problem.  </a:t>
            </a:r>
            <a:r>
              <a:rPr sz="1600" b="0" i="0">
                <a:solidFill>
                  <a:srgbClr val="1D2433"/>
                </a:solidFill>
                <a:latin typeface="Calibri"/>
              </a:rPr>
              <a:t>A boy lifts a 5 kg bag through a height of 2 m. How much work does he do against gravity? (g = 10 m/s²)</a:t>
            </a:r>
          </a:p>
        </p:txBody>
      </p:sp>
      <p:sp>
        <p:nvSpPr>
          <p:cNvPr id="8" name="Rounded Rectangle 7"/>
          <p:cNvSpPr/>
          <p:nvPr/>
        </p:nvSpPr>
        <p:spPr>
          <a:xfrm>
            <a:off x="640080" y="3108960"/>
            <a:ext cx="10881360" cy="2651760"/>
          </a:xfrm>
          <a:prstGeom prst="roundRect">
            <a:avLst>
              <a:gd name="adj" fmla="val 3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337560"/>
            <a:ext cx="10149840" cy="1828800"/>
          </a:xfrm>
          <a:prstGeom prst="rect">
            <a:avLst/>
          </a:prstGeom>
          <a:noFill/>
        </p:spPr>
        <p:txBody>
          <a:bodyPr wrap="square" anchor="t" lIns="0" rIns="0" tIns="0" bIns="0">
            <a:spAutoFit/>
          </a:bodyPr>
          <a:lstStyle/>
          <a:p>
            <a:pPr algn="l">
              <a:lnSpc>
                <a:spcPct val="105000"/>
              </a:lnSpc>
              <a:spcAft>
                <a:spcPts val="700"/>
              </a:spcAft>
            </a:pPr>
            <a:r>
              <a:rPr sz="1600" b="0" i="0">
                <a:solidFill>
                  <a:srgbClr val="1D2433"/>
                </a:solidFill>
                <a:latin typeface="Calibri"/>
              </a:rPr>
              <a:t>Force needed = weight = m g = 5 × 10 = 50 N</a:t>
            </a:r>
          </a:p>
          <a:p>
            <a:pPr algn="l">
              <a:lnSpc>
                <a:spcPct val="105000"/>
              </a:lnSpc>
              <a:spcAft>
                <a:spcPts val="700"/>
              </a:spcAft>
            </a:pPr>
            <a:r>
              <a:rPr sz="1600" b="0" i="0">
                <a:solidFill>
                  <a:srgbClr val="1D2433"/>
                </a:solidFill>
                <a:latin typeface="Calibri"/>
              </a:rPr>
              <a:t>Work = Force × distance = 50 × 2</a:t>
            </a:r>
          </a:p>
          <a:p>
            <a:pPr algn="l">
              <a:lnSpc>
                <a:spcPct val="105000"/>
              </a:lnSpc>
              <a:spcAft>
                <a:spcPts val="700"/>
              </a:spcAft>
            </a:pPr>
            <a:r>
              <a:rPr sz="1600" b="0" i="0">
                <a:solidFill>
                  <a:srgbClr val="1D2433"/>
                </a:solidFill>
                <a:latin typeface="Calibri"/>
              </a:rPr>
              <a:t>Work = 100 J</a:t>
            </a:r>
          </a:p>
        </p:txBody>
      </p:sp>
      <p:sp>
        <p:nvSpPr>
          <p:cNvPr id="10" name="Rounded Rectangle 9"/>
          <p:cNvSpPr/>
          <p:nvPr/>
        </p:nvSpPr>
        <p:spPr>
          <a:xfrm>
            <a:off x="640080" y="5074920"/>
            <a:ext cx="10881360" cy="594360"/>
          </a:xfrm>
          <a:prstGeom prst="roundRect">
            <a:avLst>
              <a:gd name="adj" fmla="val 12000"/>
            </a:avLst>
          </a:prstGeom>
          <a:solidFill>
            <a:srgbClr val="E9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074920"/>
            <a:ext cx="10149840" cy="594360"/>
          </a:xfrm>
          <a:prstGeom prst="rect">
            <a:avLst/>
          </a:prstGeom>
          <a:noFill/>
        </p:spPr>
        <p:txBody>
          <a:bodyPr wrap="square" anchor="ctr" lIns="0" rIns="0" tIns="0" bIns="0">
            <a:spAutoFit/>
          </a:bodyPr>
          <a:lstStyle/>
          <a:p>
            <a:pPr algn="l"/>
            <a:r>
              <a:rPr sz="1600" b="1" i="0">
                <a:solidFill>
                  <a:srgbClr val="2A9D8F"/>
                </a:solidFill>
                <a:latin typeface="Calibri"/>
              </a:rPr>
              <a:t>Answer:  </a:t>
            </a:r>
            <a:r>
              <a:rPr sz="1600" b="1" i="0">
                <a:solidFill>
                  <a:srgbClr val="1D2433"/>
                </a:solidFill>
                <a:latin typeface="Calibri"/>
              </a:rPr>
              <a:t>Work done = 100 J</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Oval 1"/>
          <p:cNvSpPr/>
          <p:nvPr/>
        </p:nvSpPr>
        <p:spPr>
          <a:xfrm>
            <a:off x="8778240" y="-1371600"/>
            <a:ext cx="4754880" cy="475488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011680"/>
            <a:ext cx="8229600" cy="457200"/>
          </a:xfrm>
          <a:prstGeom prst="rect">
            <a:avLst/>
          </a:prstGeom>
          <a:noFill/>
        </p:spPr>
        <p:txBody>
          <a:bodyPr wrap="square" anchor="t" lIns="0" rIns="0" tIns="0" bIns="0">
            <a:spAutoFit/>
          </a:bodyPr>
          <a:lstStyle/>
          <a:p>
            <a:pPr algn="l"/>
            <a:r>
              <a:rPr sz="1600" b="1" i="0">
                <a:solidFill>
                  <a:srgbClr val="FFC300"/>
                </a:solidFill>
                <a:latin typeface="Arial"/>
              </a:rPr>
              <a:t>QUIZ 1</a:t>
            </a:r>
          </a:p>
        </p:txBody>
      </p:sp>
      <p:sp>
        <p:nvSpPr>
          <p:cNvPr id="4" name="TextBox 3"/>
          <p:cNvSpPr txBox="1"/>
          <p:nvPr/>
        </p:nvSpPr>
        <p:spPr>
          <a:xfrm>
            <a:off x="777240" y="2560320"/>
            <a:ext cx="9601200" cy="1005840"/>
          </a:xfrm>
          <a:prstGeom prst="rect">
            <a:avLst/>
          </a:prstGeom>
          <a:noFill/>
        </p:spPr>
        <p:txBody>
          <a:bodyPr wrap="square" anchor="t" lIns="0" rIns="0" tIns="0" bIns="0">
            <a:spAutoFit/>
          </a:bodyPr>
          <a:lstStyle/>
          <a:p>
            <a:pPr algn="l"/>
            <a:r>
              <a:rPr sz="4400" b="1" i="0">
                <a:solidFill>
                  <a:srgbClr val="FFFFFF"/>
                </a:solidFill>
                <a:latin typeface="Calibri"/>
              </a:rPr>
              <a:t>Check Your Understanding</a:t>
            </a:r>
          </a:p>
        </p:txBody>
      </p:sp>
      <p:sp>
        <p:nvSpPr>
          <p:cNvPr id="5" name="TextBox 4"/>
          <p:cNvSpPr txBox="1"/>
          <p:nvPr/>
        </p:nvSpPr>
        <p:spPr>
          <a:xfrm>
            <a:off x="777240" y="3749039"/>
            <a:ext cx="9601200" cy="548640"/>
          </a:xfrm>
          <a:prstGeom prst="rect">
            <a:avLst/>
          </a:prstGeom>
          <a:noFill/>
        </p:spPr>
        <p:txBody>
          <a:bodyPr wrap="square" anchor="t" lIns="0" rIns="0" tIns="0" bIns="0">
            <a:spAutoFit/>
          </a:bodyPr>
          <a:lstStyle/>
          <a:p>
            <a:pPr algn="l"/>
            <a:r>
              <a:rPr sz="1800" b="0" i="0">
                <a:solidFill>
                  <a:srgbClr val="CADCFC"/>
                </a:solidFill>
                <a:latin typeface="Calibri"/>
              </a:rPr>
              <a:t>5 questions  •  think before the answer reveals on the next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F4801A"/>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Q1 — Is Work Done?</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In which case is NO work done in the scientific sense?</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Lifting a book onto a shelf</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Pushing a trolley that rolls forward</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Pushing hard against a wall that does not move</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Kicking a football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Q1 — Is Work Done?</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In which case is NO work done in the scientific sense?</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Lifting a book onto a shelf</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Pushing a trolley that rolls forward</a:t>
            </a:r>
          </a:p>
        </p:txBody>
      </p:sp>
      <p:sp>
        <p:nvSpPr>
          <p:cNvPr id="16" name="Rounded Rectangle 15"/>
          <p:cNvSpPr/>
          <p:nvPr/>
        </p:nvSpPr>
        <p:spPr>
          <a:xfrm>
            <a:off x="640080" y="4370831"/>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1" i="0">
                <a:solidFill>
                  <a:srgbClr val="1D2433"/>
                </a:solidFill>
                <a:latin typeface="Calibri"/>
              </a:rPr>
              <a:t>Pushing hard against a wall that does not move</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Kicking a football</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Work needs movement in the direction of the force. However hard you push, if the wall does not move, the distance is zero and so the work done is zero.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F4801A"/>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Q2 — How Much Work?</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A force of 20 N moves a box 3 m in the direction of the force. The work done is: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6.7 J</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23 J</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60 J</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17 J</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Q2 — How Much Work?</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A force of 20 N moves a box 3 m in the direction of the force. The work done is: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6.7 J</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23 J</a:t>
            </a:r>
          </a:p>
        </p:txBody>
      </p:sp>
      <p:sp>
        <p:nvSpPr>
          <p:cNvPr id="16" name="Rounded Rectangle 15"/>
          <p:cNvSpPr/>
          <p:nvPr/>
        </p:nvSpPr>
        <p:spPr>
          <a:xfrm>
            <a:off x="640080" y="4370831"/>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1" i="0">
                <a:solidFill>
                  <a:srgbClr val="1D2433"/>
                </a:solidFill>
                <a:latin typeface="Calibri"/>
              </a:rPr>
              <a:t>60 J</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17 J</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Work = force × distance = 20 × 3 = 60 J. The joule is a newton-metre.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F4801A"/>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Q3 — Same Unit</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Work and energy are measured in the same unit because:</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They are both forces</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Energy is the capacity to do work</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They are both distances</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They are unrelated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Q3 — Same Unit</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Work and energy are measured in the same unit because:</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They are both forces</a:t>
            </a:r>
          </a:p>
        </p:txBody>
      </p:sp>
      <p:sp>
        <p:nvSpPr>
          <p:cNvPr id="12" name="Rounded Rectangle 11"/>
          <p:cNvSpPr/>
          <p:nvPr/>
        </p:nvSpPr>
        <p:spPr>
          <a:xfrm>
            <a:off x="6172200" y="3337560"/>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1" i="0">
                <a:solidFill>
                  <a:srgbClr val="1D2433"/>
                </a:solidFill>
                <a:latin typeface="Calibri"/>
              </a:rPr>
              <a:t>Energy is the capacity to do work</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They are both distances</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They are unrelated</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Energy is defined as the ability to do work, so it is naturally measured in the same unit as work — the joule.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F4801A"/>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Q4 — Carrying a Bag</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A girl walks along a level road holding a heavy bag at constant height. The work she does on the bag is: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Very large</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Zero, as the bag does not move in the direction of the force</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Equal to its weight</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Negative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Q4 — Carrying a Bag</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A girl walks along a level road holding a heavy bag at constant height. The work she does on the bag is: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Very large</a:t>
            </a:r>
          </a:p>
        </p:txBody>
      </p:sp>
      <p:sp>
        <p:nvSpPr>
          <p:cNvPr id="12" name="Rounded Rectangle 11"/>
          <p:cNvSpPr/>
          <p:nvPr/>
        </p:nvSpPr>
        <p:spPr>
          <a:xfrm>
            <a:off x="6172200" y="3337560"/>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1" i="0">
                <a:solidFill>
                  <a:srgbClr val="1D2433"/>
                </a:solidFill>
                <a:latin typeface="Calibri"/>
              </a:rPr>
              <a:t>Zero, as the bag does not move in the direction of the force</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Equal to its weight</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Negative</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She supports the bag with an upward force, but the bag moves horizontally, not upward. With no movement in the direction of the force, the work done on it is zero.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F4801A"/>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Q5 — More Work</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Doing the same job in less time means you use more:</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Work</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Power</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Force</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Distance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Q5 — More Work</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Doing the same job in less time means you use more:</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Work</a:t>
            </a:r>
          </a:p>
        </p:txBody>
      </p:sp>
      <p:sp>
        <p:nvSpPr>
          <p:cNvPr id="12" name="Rounded Rectangle 11"/>
          <p:cNvSpPr/>
          <p:nvPr/>
        </p:nvSpPr>
        <p:spPr>
          <a:xfrm>
            <a:off x="6172200" y="3337560"/>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1" i="0">
                <a:solidFill>
                  <a:srgbClr val="1D2433"/>
                </a:solidFill>
                <a:latin typeface="Calibri"/>
              </a:rPr>
              <a:t>Power</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Force</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Distance</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The work done is the same, but doing it faster means a higher rate of doing work — that rate is called power. Work depends only on force and distance, not on the time taken.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Oval 1"/>
          <p:cNvSpPr/>
          <p:nvPr/>
        </p:nvSpPr>
        <p:spPr>
          <a:xfrm>
            <a:off x="8595360" y="-1463040"/>
            <a:ext cx="4937760" cy="493776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503920" y="3108960"/>
            <a:ext cx="3383280" cy="2743200"/>
          </a:xfrm>
          <a:prstGeom prst="rect">
            <a:avLst/>
          </a:prstGeom>
          <a:noFill/>
        </p:spPr>
        <p:txBody>
          <a:bodyPr wrap="square" anchor="t" lIns="0" rIns="0" tIns="0" bIns="0">
            <a:spAutoFit/>
          </a:bodyPr>
          <a:lstStyle/>
          <a:p>
            <a:pPr algn="r"/>
            <a:r>
              <a:rPr sz="20000" b="1" i="0">
                <a:solidFill>
                  <a:srgbClr val="263149"/>
                </a:solidFill>
                <a:latin typeface="Calibri"/>
              </a:rPr>
              <a:t>2</a:t>
            </a:r>
          </a:p>
        </p:txBody>
      </p:sp>
      <p:sp>
        <p:nvSpPr>
          <p:cNvPr id="4" name="TextBox 3"/>
          <p:cNvSpPr txBox="1"/>
          <p:nvPr/>
        </p:nvSpPr>
        <p:spPr>
          <a:xfrm>
            <a:off x="777240" y="2148840"/>
            <a:ext cx="6949440" cy="457200"/>
          </a:xfrm>
          <a:prstGeom prst="rect">
            <a:avLst/>
          </a:prstGeom>
          <a:noFill/>
        </p:spPr>
        <p:txBody>
          <a:bodyPr wrap="square" anchor="t" lIns="0" rIns="0" tIns="0" bIns="0">
            <a:spAutoFit/>
          </a:bodyPr>
          <a:lstStyle/>
          <a:p>
            <a:pPr algn="l"/>
            <a:r>
              <a:rPr sz="1600" b="1" i="0">
                <a:solidFill>
                  <a:srgbClr val="FFC300"/>
                </a:solidFill>
                <a:latin typeface="Arial"/>
              </a:rPr>
              <a:t>PART 2</a:t>
            </a:r>
          </a:p>
        </p:txBody>
      </p:sp>
      <p:sp>
        <p:nvSpPr>
          <p:cNvPr id="5" name="TextBox 4"/>
          <p:cNvSpPr txBox="1"/>
          <p:nvPr/>
        </p:nvSpPr>
        <p:spPr>
          <a:xfrm>
            <a:off x="777240" y="2697480"/>
            <a:ext cx="7498079" cy="1097280"/>
          </a:xfrm>
          <a:prstGeom prst="rect">
            <a:avLst/>
          </a:prstGeom>
          <a:noFill/>
        </p:spPr>
        <p:txBody>
          <a:bodyPr wrap="square" anchor="t" lIns="0" rIns="0" tIns="0" bIns="0">
            <a:spAutoFit/>
          </a:bodyPr>
          <a:lstStyle/>
          <a:p>
            <a:pPr algn="l"/>
            <a:r>
              <a:rPr sz="4200" b="1" i="0">
                <a:solidFill>
                  <a:srgbClr val="FFFFFF"/>
                </a:solidFill>
                <a:latin typeface="Calibri"/>
              </a:rPr>
              <a:t>Energy &amp; Potential Energy</a:t>
            </a:r>
          </a:p>
        </p:txBody>
      </p:sp>
      <p:sp>
        <p:nvSpPr>
          <p:cNvPr id="6" name="TextBox 5"/>
          <p:cNvSpPr txBox="1"/>
          <p:nvPr/>
        </p:nvSpPr>
        <p:spPr>
          <a:xfrm>
            <a:off x="777240" y="4114800"/>
            <a:ext cx="7315200" cy="822960"/>
          </a:xfrm>
          <a:prstGeom prst="rect">
            <a:avLst/>
          </a:prstGeom>
          <a:noFill/>
        </p:spPr>
        <p:txBody>
          <a:bodyPr wrap="square" anchor="t" lIns="0" rIns="0" tIns="0" bIns="0">
            <a:spAutoFit/>
          </a:bodyPr>
          <a:lstStyle/>
          <a:p>
            <a:pPr algn="l"/>
            <a:r>
              <a:rPr sz="1800" b="0" i="0">
                <a:solidFill>
                  <a:srgbClr val="CADCFC"/>
                </a:solidFill>
                <a:latin typeface="Calibri"/>
              </a:rPr>
              <a:t>The capacity to do work, stored up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F4801A"/>
                </a:solidFill>
                <a:latin typeface="Arial"/>
              </a:rPr>
              <a:t>ENERGY</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Energy and Mechanical Energy</a:t>
            </a:r>
          </a:p>
        </p:txBody>
      </p:sp>
      <p:sp>
        <p:nvSpPr>
          <p:cNvPr id="6" name="Rounded Rectangle 5"/>
          <p:cNvSpPr/>
          <p:nvPr/>
        </p:nvSpPr>
        <p:spPr>
          <a:xfrm>
            <a:off x="640080" y="1828800"/>
            <a:ext cx="10881360" cy="1371600"/>
          </a:xfrm>
          <a:prstGeom prst="roundRect">
            <a:avLst>
              <a:gd name="adj" fmla="val 6000"/>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10149840" cy="1371600"/>
          </a:xfrm>
          <a:prstGeom prst="rect">
            <a:avLst/>
          </a:prstGeom>
          <a:noFill/>
        </p:spPr>
        <p:txBody>
          <a:bodyPr wrap="square" anchor="ctr" lIns="0" rIns="0" tIns="0" bIns="0">
            <a:spAutoFit/>
          </a:bodyPr>
          <a:lstStyle/>
          <a:p>
            <a:pPr algn="l"/>
            <a:r>
              <a:rPr sz="1900" b="1" i="0">
                <a:solidFill>
                  <a:srgbClr val="FFFFFF"/>
                </a:solidFill>
                <a:latin typeface="Calibri"/>
              </a:rPr>
              <a:t>Energy is the capacity to do work. Mechanical energy is the energy a body has due to its motion or its position.</a:t>
            </a:r>
          </a:p>
        </p:txBody>
      </p:sp>
      <p:sp>
        <p:nvSpPr>
          <p:cNvPr id="8" name="TextBox 7"/>
          <p:cNvSpPr txBox="1"/>
          <p:nvPr/>
        </p:nvSpPr>
        <p:spPr>
          <a:xfrm>
            <a:off x="1005840" y="3474720"/>
            <a:ext cx="10058400" cy="2423160"/>
          </a:xfrm>
          <a:prstGeom prst="rect">
            <a:avLst/>
          </a:prstGeom>
          <a:noFill/>
        </p:spPr>
        <p:txBody>
          <a:bodyPr wrap="square" anchor="t" lIns="0" rIns="0" tIns="0" bIns="0">
            <a:spAutoFit/>
          </a:bodyPr>
          <a:lstStyle/>
          <a:p>
            <a:pPr algn="l">
              <a:spcAft>
                <a:spcPts val="900"/>
              </a:spcAft>
            </a:pPr>
            <a:r>
              <a:rPr sz="1500" b="1" i="0">
                <a:solidFill>
                  <a:srgbClr val="F4801A"/>
                </a:solidFill>
                <a:latin typeface="Calibri"/>
              </a:rPr>
              <a:t>•  </a:t>
            </a:r>
            <a:r>
              <a:rPr sz="1500" b="0" i="0">
                <a:solidFill>
                  <a:srgbClr val="1D2433"/>
                </a:solidFill>
                <a:latin typeface="Calibri"/>
              </a:rPr>
              <a:t>A body that can do work possesses energy.</a:t>
            </a:r>
          </a:p>
          <a:p>
            <a:pPr algn="l">
              <a:spcAft>
                <a:spcPts val="900"/>
              </a:spcAft>
            </a:pPr>
            <a:r>
              <a:rPr sz="1500" b="1" i="0">
                <a:solidFill>
                  <a:srgbClr val="F4801A"/>
                </a:solidFill>
                <a:latin typeface="Calibri"/>
              </a:rPr>
              <a:t>•  </a:t>
            </a:r>
            <a:r>
              <a:rPr sz="1500" b="0" i="0">
                <a:solidFill>
                  <a:srgbClr val="1D2433"/>
                </a:solidFill>
                <a:latin typeface="Calibri"/>
              </a:rPr>
              <a:t>Mechanical energy comes in two forms: kinetic and potential.</a:t>
            </a:r>
          </a:p>
          <a:p>
            <a:pPr algn="l">
              <a:spcAft>
                <a:spcPts val="900"/>
              </a:spcAft>
            </a:pPr>
            <a:r>
              <a:rPr sz="1500" b="1" i="0">
                <a:solidFill>
                  <a:srgbClr val="F4801A"/>
                </a:solidFill>
                <a:latin typeface="Calibri"/>
              </a:rPr>
              <a:t>•  </a:t>
            </a:r>
            <a:r>
              <a:rPr sz="1500" b="0" i="0">
                <a:solidFill>
                  <a:srgbClr val="1D2433"/>
                </a:solidFill>
                <a:latin typeface="Calibri"/>
              </a:rPr>
              <a:t>Kinetic energy is due to motion; potential energy is due to position or state.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F4801A"/>
                </a:solidFill>
                <a:latin typeface="Arial"/>
              </a:rPr>
              <a:t>POTENTIAL ENERGY</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Potential Energy</a:t>
            </a:r>
          </a:p>
        </p:txBody>
      </p:sp>
      <p:sp>
        <p:nvSpPr>
          <p:cNvPr id="6" name="Rounded Rectangle 5"/>
          <p:cNvSpPr/>
          <p:nvPr/>
        </p:nvSpPr>
        <p:spPr>
          <a:xfrm>
            <a:off x="640080" y="1828800"/>
            <a:ext cx="10881360" cy="1371600"/>
          </a:xfrm>
          <a:prstGeom prst="roundRect">
            <a:avLst>
              <a:gd name="adj" fmla="val 6000"/>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10149840" cy="1371600"/>
          </a:xfrm>
          <a:prstGeom prst="rect">
            <a:avLst/>
          </a:prstGeom>
          <a:noFill/>
        </p:spPr>
        <p:txBody>
          <a:bodyPr wrap="square" anchor="ctr" lIns="0" rIns="0" tIns="0" bIns="0">
            <a:spAutoFit/>
          </a:bodyPr>
          <a:lstStyle/>
          <a:p>
            <a:pPr algn="l"/>
            <a:r>
              <a:rPr sz="1900" b="1" i="0">
                <a:solidFill>
                  <a:srgbClr val="FFFFFF"/>
                </a:solidFill>
                <a:latin typeface="Calibri"/>
              </a:rPr>
              <a:t>Potential energy is the energy a body has because of its position or its state (its condition).</a:t>
            </a:r>
          </a:p>
        </p:txBody>
      </p:sp>
      <p:sp>
        <p:nvSpPr>
          <p:cNvPr id="8" name="TextBox 7"/>
          <p:cNvSpPr txBox="1"/>
          <p:nvPr/>
        </p:nvSpPr>
        <p:spPr>
          <a:xfrm>
            <a:off x="1005840" y="3474720"/>
            <a:ext cx="10058400" cy="2423160"/>
          </a:xfrm>
          <a:prstGeom prst="rect">
            <a:avLst/>
          </a:prstGeom>
          <a:noFill/>
        </p:spPr>
        <p:txBody>
          <a:bodyPr wrap="square" anchor="t" lIns="0" rIns="0" tIns="0" bIns="0">
            <a:spAutoFit/>
          </a:bodyPr>
          <a:lstStyle/>
          <a:p>
            <a:pPr algn="l">
              <a:spcAft>
                <a:spcPts val="900"/>
              </a:spcAft>
            </a:pPr>
            <a:r>
              <a:rPr sz="1500" b="1" i="0">
                <a:solidFill>
                  <a:srgbClr val="F4801A"/>
                </a:solidFill>
                <a:latin typeface="Calibri"/>
              </a:rPr>
              <a:t>•  </a:t>
            </a:r>
            <a:r>
              <a:rPr sz="1500" b="0" i="0">
                <a:solidFill>
                  <a:srgbClr val="1D2433"/>
                </a:solidFill>
                <a:latin typeface="Calibri"/>
              </a:rPr>
              <a:t>A raised body has gravitational potential energy.</a:t>
            </a:r>
          </a:p>
          <a:p>
            <a:pPr algn="l">
              <a:spcAft>
                <a:spcPts val="900"/>
              </a:spcAft>
            </a:pPr>
            <a:r>
              <a:rPr sz="1500" b="1" i="0">
                <a:solidFill>
                  <a:srgbClr val="F4801A"/>
                </a:solidFill>
                <a:latin typeface="Calibri"/>
              </a:rPr>
              <a:t>•  </a:t>
            </a:r>
            <a:r>
              <a:rPr sz="1500" b="0" i="0">
                <a:solidFill>
                  <a:srgbClr val="1D2433"/>
                </a:solidFill>
                <a:latin typeface="Calibri"/>
              </a:rPr>
              <a:t>A stretched or compressed spring has elastic potential energy.</a:t>
            </a:r>
          </a:p>
          <a:p>
            <a:pPr algn="l">
              <a:spcAft>
                <a:spcPts val="900"/>
              </a:spcAft>
            </a:pPr>
            <a:r>
              <a:rPr sz="1500" b="1" i="0">
                <a:solidFill>
                  <a:srgbClr val="F4801A"/>
                </a:solidFill>
                <a:latin typeface="Calibri"/>
              </a:rPr>
              <a:t>•  </a:t>
            </a:r>
            <a:r>
              <a:rPr sz="1500" b="0" i="0">
                <a:solidFill>
                  <a:srgbClr val="1D2433"/>
                </a:solidFill>
                <a:latin typeface="Calibri"/>
              </a:rPr>
              <a:t>The energy is stored, ready to do work when released.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F4801A"/>
                </a:solidFill>
                <a:latin typeface="Arial"/>
              </a:rPr>
              <a:t>EXAMPLES</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Examples of Potential Energy</a:t>
            </a:r>
          </a:p>
        </p:txBody>
      </p:sp>
      <p:sp>
        <p:nvSpPr>
          <p:cNvPr id="6" name="Rounded Rectangle 5"/>
          <p:cNvSpPr/>
          <p:nvPr/>
        </p:nvSpPr>
        <p:spPr>
          <a:xfrm>
            <a:off x="640080" y="1920240"/>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60119" y="2212848"/>
            <a:ext cx="502920" cy="502920"/>
          </a:xfrm>
          <a:prstGeom prst="roundRect">
            <a:avLst>
              <a:gd name="adj" fmla="val 30000"/>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drop_FFFFFF.png"/>
          <p:cNvPicPr>
            <a:picLocks noChangeAspect="1"/>
          </p:cNvPicPr>
          <p:nvPr/>
        </p:nvPicPr>
        <p:blipFill>
          <a:blip r:embed="rId2"/>
          <a:stretch>
            <a:fillRect/>
          </a:stretch>
        </p:blipFill>
        <p:spPr>
          <a:xfrm>
            <a:off x="1070762" y="2323490"/>
            <a:ext cx="281635" cy="281635"/>
          </a:xfrm>
          <a:prstGeom prst="rect">
            <a:avLst/>
          </a:prstGeom>
        </p:spPr>
      </p:pic>
      <p:sp>
        <p:nvSpPr>
          <p:cNvPr id="9" name="TextBox 8"/>
          <p:cNvSpPr txBox="1"/>
          <p:nvPr/>
        </p:nvSpPr>
        <p:spPr>
          <a:xfrm>
            <a:off x="1645920" y="2176272"/>
            <a:ext cx="3931920" cy="457200"/>
          </a:xfrm>
          <a:prstGeom prst="rect">
            <a:avLst/>
          </a:prstGeom>
          <a:noFill/>
        </p:spPr>
        <p:txBody>
          <a:bodyPr wrap="square" anchor="t" lIns="0" rIns="0" tIns="0" bIns="0">
            <a:spAutoFit/>
          </a:bodyPr>
          <a:lstStyle/>
          <a:p>
            <a:pPr algn="l"/>
            <a:r>
              <a:rPr sz="1700" b="1" i="0">
                <a:solidFill>
                  <a:srgbClr val="1D2433"/>
                </a:solidFill>
                <a:latin typeface="Calibri"/>
              </a:rPr>
              <a:t>Water in a dam</a:t>
            </a:r>
          </a:p>
        </p:txBody>
      </p:sp>
      <p:sp>
        <p:nvSpPr>
          <p:cNvPr id="10" name="TextBox 9"/>
          <p:cNvSpPr txBox="1"/>
          <p:nvPr/>
        </p:nvSpPr>
        <p:spPr>
          <a:xfrm>
            <a:off x="1645920" y="2670048"/>
            <a:ext cx="3931920" cy="685800"/>
          </a:xfrm>
          <a:prstGeom prst="rect">
            <a:avLst/>
          </a:prstGeom>
          <a:noFill/>
        </p:spPr>
        <p:txBody>
          <a:bodyPr wrap="square" anchor="t" lIns="0" rIns="0" tIns="0" bIns="0">
            <a:spAutoFit/>
          </a:bodyPr>
          <a:lstStyle/>
          <a:p>
            <a:pPr algn="l"/>
            <a:r>
              <a:rPr sz="1350" b="0" i="0">
                <a:solidFill>
                  <a:srgbClr val="6B7280"/>
                </a:solidFill>
                <a:latin typeface="Calibri"/>
              </a:rPr>
              <a:t>Stored high up, ready to fall and turn turbines.</a:t>
            </a:r>
          </a:p>
        </p:txBody>
      </p:sp>
      <p:sp>
        <p:nvSpPr>
          <p:cNvPr id="11" name="Rounded Rectangle 10"/>
          <p:cNvSpPr/>
          <p:nvPr/>
        </p:nvSpPr>
        <p:spPr>
          <a:xfrm>
            <a:off x="6217920" y="1920240"/>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537960" y="2212848"/>
            <a:ext cx="502920" cy="502920"/>
          </a:xfrm>
          <a:prstGeom prst="roundRect">
            <a:avLst>
              <a:gd name="adj" fmla="val 30000"/>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FFFFFF.png"/>
          <p:cNvPicPr>
            <a:picLocks noChangeAspect="1"/>
          </p:cNvPicPr>
          <p:nvPr/>
        </p:nvPicPr>
        <p:blipFill>
          <a:blip r:embed="rId3"/>
          <a:stretch>
            <a:fillRect/>
          </a:stretch>
        </p:blipFill>
        <p:spPr>
          <a:xfrm>
            <a:off x="6648602" y="2323490"/>
            <a:ext cx="281635" cy="281635"/>
          </a:xfrm>
          <a:prstGeom prst="rect">
            <a:avLst/>
          </a:prstGeom>
        </p:spPr>
      </p:pic>
      <p:sp>
        <p:nvSpPr>
          <p:cNvPr id="14" name="TextBox 13"/>
          <p:cNvSpPr txBox="1"/>
          <p:nvPr/>
        </p:nvSpPr>
        <p:spPr>
          <a:xfrm>
            <a:off x="7223760" y="2176272"/>
            <a:ext cx="3931920" cy="457200"/>
          </a:xfrm>
          <a:prstGeom prst="rect">
            <a:avLst/>
          </a:prstGeom>
          <a:noFill/>
        </p:spPr>
        <p:txBody>
          <a:bodyPr wrap="square" anchor="t" lIns="0" rIns="0" tIns="0" bIns="0">
            <a:spAutoFit/>
          </a:bodyPr>
          <a:lstStyle/>
          <a:p>
            <a:pPr algn="l"/>
            <a:r>
              <a:rPr sz="1700" b="1" i="0">
                <a:solidFill>
                  <a:srgbClr val="1D2433"/>
                </a:solidFill>
                <a:latin typeface="Calibri"/>
              </a:rPr>
              <a:t>A stretched bow</a:t>
            </a:r>
          </a:p>
        </p:txBody>
      </p:sp>
      <p:sp>
        <p:nvSpPr>
          <p:cNvPr id="15" name="TextBox 14"/>
          <p:cNvSpPr txBox="1"/>
          <p:nvPr/>
        </p:nvSpPr>
        <p:spPr>
          <a:xfrm>
            <a:off x="7223760" y="2670048"/>
            <a:ext cx="3931920" cy="685800"/>
          </a:xfrm>
          <a:prstGeom prst="rect">
            <a:avLst/>
          </a:prstGeom>
          <a:noFill/>
        </p:spPr>
        <p:txBody>
          <a:bodyPr wrap="square" anchor="t" lIns="0" rIns="0" tIns="0" bIns="0">
            <a:spAutoFit/>
          </a:bodyPr>
          <a:lstStyle/>
          <a:p>
            <a:pPr algn="l"/>
            <a:r>
              <a:rPr sz="1350" b="0" i="0">
                <a:solidFill>
                  <a:srgbClr val="6B7280"/>
                </a:solidFill>
                <a:latin typeface="Calibri"/>
              </a:rPr>
              <a:t>A drawn bow stores elastic PE to launch the arrow.</a:t>
            </a:r>
          </a:p>
        </p:txBody>
      </p:sp>
      <p:sp>
        <p:nvSpPr>
          <p:cNvPr id="16" name="Rounded Rectangle 15"/>
          <p:cNvSpPr/>
          <p:nvPr/>
        </p:nvSpPr>
        <p:spPr>
          <a:xfrm>
            <a:off x="640080" y="3749039"/>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60119" y="4041648"/>
            <a:ext cx="502920" cy="502920"/>
          </a:xfrm>
          <a:prstGeom prst="roundRect">
            <a:avLst>
              <a:gd name="adj" fmla="val 3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park_FFFFFF.png"/>
          <p:cNvPicPr>
            <a:picLocks noChangeAspect="1"/>
          </p:cNvPicPr>
          <p:nvPr/>
        </p:nvPicPr>
        <p:blipFill>
          <a:blip r:embed="rId3"/>
          <a:stretch>
            <a:fillRect/>
          </a:stretch>
        </p:blipFill>
        <p:spPr>
          <a:xfrm>
            <a:off x="1070762" y="4152290"/>
            <a:ext cx="281635" cy="281635"/>
          </a:xfrm>
          <a:prstGeom prst="rect">
            <a:avLst/>
          </a:prstGeom>
        </p:spPr>
      </p:pic>
      <p:sp>
        <p:nvSpPr>
          <p:cNvPr id="19" name="TextBox 18"/>
          <p:cNvSpPr txBox="1"/>
          <p:nvPr/>
        </p:nvSpPr>
        <p:spPr>
          <a:xfrm>
            <a:off x="1645920" y="4005072"/>
            <a:ext cx="3931920" cy="457200"/>
          </a:xfrm>
          <a:prstGeom prst="rect">
            <a:avLst/>
          </a:prstGeom>
          <a:noFill/>
        </p:spPr>
        <p:txBody>
          <a:bodyPr wrap="square" anchor="t" lIns="0" rIns="0" tIns="0" bIns="0">
            <a:spAutoFit/>
          </a:bodyPr>
          <a:lstStyle/>
          <a:p>
            <a:pPr algn="l"/>
            <a:r>
              <a:rPr sz="1700" b="1" i="0">
                <a:solidFill>
                  <a:srgbClr val="1D2433"/>
                </a:solidFill>
                <a:latin typeface="Calibri"/>
              </a:rPr>
              <a:t>A wound spring</a:t>
            </a:r>
          </a:p>
        </p:txBody>
      </p:sp>
      <p:sp>
        <p:nvSpPr>
          <p:cNvPr id="20" name="TextBox 19"/>
          <p:cNvSpPr txBox="1"/>
          <p:nvPr/>
        </p:nvSpPr>
        <p:spPr>
          <a:xfrm>
            <a:off x="1645920" y="4498848"/>
            <a:ext cx="3931920" cy="685800"/>
          </a:xfrm>
          <a:prstGeom prst="rect">
            <a:avLst/>
          </a:prstGeom>
          <a:noFill/>
        </p:spPr>
        <p:txBody>
          <a:bodyPr wrap="square" anchor="t" lIns="0" rIns="0" tIns="0" bIns="0">
            <a:spAutoFit/>
          </a:bodyPr>
          <a:lstStyle/>
          <a:p>
            <a:pPr algn="l"/>
            <a:r>
              <a:rPr sz="1350" b="0" i="0">
                <a:solidFill>
                  <a:srgbClr val="6B7280"/>
                </a:solidFill>
                <a:latin typeface="Calibri"/>
              </a:rPr>
              <a:t>A wound clock spring stores energy to run the clock.</a:t>
            </a:r>
          </a:p>
        </p:txBody>
      </p:sp>
      <p:sp>
        <p:nvSpPr>
          <p:cNvPr id="21" name="Rounded Rectangle 20"/>
          <p:cNvSpPr/>
          <p:nvPr/>
        </p:nvSpPr>
        <p:spPr>
          <a:xfrm>
            <a:off x="6217920" y="3749039"/>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537960" y="4041648"/>
            <a:ext cx="502920" cy="502920"/>
          </a:xfrm>
          <a:prstGeom prst="roundRect">
            <a:avLst>
              <a:gd name="adj" fmla="val 30000"/>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spark_FFFFFF.png"/>
          <p:cNvPicPr>
            <a:picLocks noChangeAspect="1"/>
          </p:cNvPicPr>
          <p:nvPr/>
        </p:nvPicPr>
        <p:blipFill>
          <a:blip r:embed="rId3"/>
          <a:stretch>
            <a:fillRect/>
          </a:stretch>
        </p:blipFill>
        <p:spPr>
          <a:xfrm>
            <a:off x="6648602" y="4152290"/>
            <a:ext cx="281635" cy="281635"/>
          </a:xfrm>
          <a:prstGeom prst="rect">
            <a:avLst/>
          </a:prstGeom>
        </p:spPr>
      </p:pic>
      <p:sp>
        <p:nvSpPr>
          <p:cNvPr id="24" name="TextBox 23"/>
          <p:cNvSpPr txBox="1"/>
          <p:nvPr/>
        </p:nvSpPr>
        <p:spPr>
          <a:xfrm>
            <a:off x="7223760" y="4005072"/>
            <a:ext cx="3931920" cy="457200"/>
          </a:xfrm>
          <a:prstGeom prst="rect">
            <a:avLst/>
          </a:prstGeom>
          <a:noFill/>
        </p:spPr>
        <p:txBody>
          <a:bodyPr wrap="square" anchor="t" lIns="0" rIns="0" tIns="0" bIns="0">
            <a:spAutoFit/>
          </a:bodyPr>
          <a:lstStyle/>
          <a:p>
            <a:pPr algn="l"/>
            <a:r>
              <a:rPr sz="1700" b="1" i="0">
                <a:solidFill>
                  <a:srgbClr val="1D2433"/>
                </a:solidFill>
                <a:latin typeface="Calibri"/>
              </a:rPr>
              <a:t>A raised hammer</a:t>
            </a:r>
          </a:p>
        </p:txBody>
      </p:sp>
      <p:sp>
        <p:nvSpPr>
          <p:cNvPr id="25" name="TextBox 24"/>
          <p:cNvSpPr txBox="1"/>
          <p:nvPr/>
        </p:nvSpPr>
        <p:spPr>
          <a:xfrm>
            <a:off x="7223760" y="4498848"/>
            <a:ext cx="3931920" cy="685800"/>
          </a:xfrm>
          <a:prstGeom prst="rect">
            <a:avLst/>
          </a:prstGeom>
          <a:noFill/>
        </p:spPr>
        <p:txBody>
          <a:bodyPr wrap="square" anchor="t" lIns="0" rIns="0" tIns="0" bIns="0">
            <a:spAutoFit/>
          </a:bodyPr>
          <a:lstStyle/>
          <a:p>
            <a:pPr algn="l"/>
            <a:r>
              <a:rPr sz="1350" b="0" i="0">
                <a:solidFill>
                  <a:srgbClr val="6B7280"/>
                </a:solidFill>
                <a:latin typeface="Calibri"/>
              </a:rPr>
              <a:t>Lifted up, it stores PE to drive in a nail.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F4801A"/>
                </a:solidFill>
                <a:latin typeface="Arial"/>
              </a:rPr>
              <a:t>PE ⇄ KE</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Potential and Kinetic Energy</a:t>
            </a:r>
          </a:p>
        </p:txBody>
      </p:sp>
      <p:pic>
        <p:nvPicPr>
          <p:cNvPr id="6" name="Picture 5" descr="g8en_pendulum.png"/>
          <p:cNvPicPr>
            <a:picLocks noChangeAspect="1"/>
          </p:cNvPicPr>
          <p:nvPr/>
        </p:nvPicPr>
        <p:blipFill>
          <a:blip r:embed="rId2"/>
          <a:stretch>
            <a:fillRect/>
          </a:stretch>
        </p:blipFill>
        <p:spPr>
          <a:xfrm>
            <a:off x="822960" y="2057400"/>
            <a:ext cx="5303520" cy="3474720"/>
          </a:xfrm>
          <a:prstGeom prst="rect">
            <a:avLst/>
          </a:prstGeom>
        </p:spPr>
      </p:pic>
      <p:sp>
        <p:nvSpPr>
          <p:cNvPr id="7" name="TextBox 6"/>
          <p:cNvSpPr txBox="1"/>
          <p:nvPr/>
        </p:nvSpPr>
        <p:spPr>
          <a:xfrm>
            <a:off x="822960" y="5586983"/>
            <a:ext cx="5303520" cy="274320"/>
          </a:xfrm>
          <a:prstGeom prst="rect">
            <a:avLst/>
          </a:prstGeom>
          <a:noFill/>
        </p:spPr>
        <p:txBody>
          <a:bodyPr wrap="square" anchor="t" lIns="0" rIns="0" tIns="0" bIns="0">
            <a:spAutoFit/>
          </a:bodyPr>
          <a:lstStyle/>
          <a:p>
            <a:pPr algn="ctr"/>
            <a:r>
              <a:rPr sz="1100" b="0" i="1">
                <a:solidFill>
                  <a:srgbClr val="6B7280"/>
                </a:solidFill>
                <a:latin typeface="Calibri"/>
              </a:rPr>
              <a:t>Top: all PE.  Bottom: all KE.</a:t>
            </a:r>
          </a:p>
        </p:txBody>
      </p:sp>
      <p:sp>
        <p:nvSpPr>
          <p:cNvPr id="8" name="Rounded Rectangle 7"/>
          <p:cNvSpPr/>
          <p:nvPr/>
        </p:nvSpPr>
        <p:spPr>
          <a:xfrm>
            <a:off x="5699455" y="1828800"/>
            <a:ext cx="5669280" cy="393192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19495" y="2057400"/>
            <a:ext cx="5029200" cy="411480"/>
          </a:xfrm>
          <a:prstGeom prst="rect">
            <a:avLst/>
          </a:prstGeom>
          <a:noFill/>
        </p:spPr>
        <p:txBody>
          <a:bodyPr wrap="square" anchor="t" lIns="0" rIns="0" tIns="0" bIns="0">
            <a:spAutoFit/>
          </a:bodyPr>
          <a:lstStyle/>
          <a:p>
            <a:pPr algn="l"/>
            <a:r>
              <a:rPr sz="1800" b="1" i="0">
                <a:solidFill>
                  <a:srgbClr val="F4801A"/>
                </a:solidFill>
                <a:latin typeface="Calibri"/>
              </a:rPr>
              <a:t>Energy keeps changing form</a:t>
            </a:r>
          </a:p>
        </p:txBody>
      </p:sp>
      <p:sp>
        <p:nvSpPr>
          <p:cNvPr id="10" name="TextBox 9"/>
          <p:cNvSpPr txBox="1"/>
          <p:nvPr/>
        </p:nvSpPr>
        <p:spPr>
          <a:xfrm>
            <a:off x="6019495" y="2606040"/>
            <a:ext cx="5074920" cy="3063240"/>
          </a:xfrm>
          <a:prstGeom prst="rect">
            <a:avLst/>
          </a:prstGeom>
          <a:noFill/>
        </p:spPr>
        <p:txBody>
          <a:bodyPr wrap="square" anchor="t" lIns="0" rIns="0" tIns="0" bIns="0">
            <a:spAutoFit/>
          </a:bodyPr>
          <a:lstStyle/>
          <a:p>
            <a:pPr algn="l">
              <a:lnSpc>
                <a:spcPct val="105000"/>
              </a:lnSpc>
              <a:spcAft>
                <a:spcPts val="900"/>
              </a:spcAft>
            </a:pPr>
            <a:r>
              <a:rPr sz="1500" b="1" i="0">
                <a:solidFill>
                  <a:srgbClr val="F4801A"/>
                </a:solidFill>
                <a:latin typeface="Calibri"/>
              </a:rPr>
              <a:t>•  </a:t>
            </a:r>
            <a:r>
              <a:rPr sz="1500" b="0" i="0">
                <a:solidFill>
                  <a:srgbClr val="1D2433"/>
                </a:solidFill>
                <a:latin typeface="Calibri"/>
              </a:rPr>
              <a:t>A swinging pendulum shows energy changing form.</a:t>
            </a:r>
          </a:p>
          <a:p>
            <a:pPr algn="l">
              <a:lnSpc>
                <a:spcPct val="105000"/>
              </a:lnSpc>
              <a:spcAft>
                <a:spcPts val="900"/>
              </a:spcAft>
            </a:pPr>
            <a:r>
              <a:rPr sz="1500" b="1" i="0">
                <a:solidFill>
                  <a:srgbClr val="F4801A"/>
                </a:solidFill>
                <a:latin typeface="Calibri"/>
              </a:rPr>
              <a:t>•  </a:t>
            </a:r>
            <a:r>
              <a:rPr sz="1500" b="0" i="0">
                <a:solidFill>
                  <a:srgbClr val="1D2433"/>
                </a:solidFill>
                <a:latin typeface="Calibri"/>
              </a:rPr>
              <a:t>At the highest points it has maximum potential energy and is momentarily still.</a:t>
            </a:r>
          </a:p>
          <a:p>
            <a:pPr algn="l">
              <a:lnSpc>
                <a:spcPct val="105000"/>
              </a:lnSpc>
              <a:spcAft>
                <a:spcPts val="900"/>
              </a:spcAft>
            </a:pPr>
            <a:r>
              <a:rPr sz="1500" b="1" i="0">
                <a:solidFill>
                  <a:srgbClr val="F4801A"/>
                </a:solidFill>
                <a:latin typeface="Calibri"/>
              </a:rPr>
              <a:t>•  </a:t>
            </a:r>
            <a:r>
              <a:rPr sz="1500" b="0" i="0">
                <a:solidFill>
                  <a:srgbClr val="1D2433"/>
                </a:solidFill>
                <a:latin typeface="Calibri"/>
              </a:rPr>
              <a:t>At the lowest point it moves fastest — maximum kinetic energy.</a:t>
            </a:r>
          </a:p>
          <a:p>
            <a:pPr algn="l">
              <a:lnSpc>
                <a:spcPct val="105000"/>
              </a:lnSpc>
              <a:spcAft>
                <a:spcPts val="900"/>
              </a:spcAft>
            </a:pPr>
            <a:r>
              <a:rPr sz="1500" b="1" i="0">
                <a:solidFill>
                  <a:srgbClr val="F4801A"/>
                </a:solidFill>
                <a:latin typeface="Calibri"/>
              </a:rPr>
              <a:t>•  </a:t>
            </a:r>
            <a:r>
              <a:rPr sz="1500" b="0" i="0">
                <a:solidFill>
                  <a:srgbClr val="1D2433"/>
                </a:solidFill>
                <a:latin typeface="Calibri"/>
              </a:rPr>
              <a:t>Energy continually converts between PE and KE as it swings.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F4801A"/>
                </a:solidFill>
                <a:latin typeface="Arial"/>
              </a:rPr>
              <a:t>WRAP UP</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Quick Recap</a:t>
            </a:r>
          </a:p>
        </p:txBody>
      </p:sp>
      <p:sp>
        <p:nvSpPr>
          <p:cNvPr id="6" name="Rounded Rectangle 5"/>
          <p:cNvSpPr/>
          <p:nvPr/>
        </p:nvSpPr>
        <p:spPr>
          <a:xfrm>
            <a:off x="640080" y="1828800"/>
            <a:ext cx="10881360" cy="4114800"/>
          </a:xfrm>
          <a:prstGeom prst="roundRect">
            <a:avLst>
              <a:gd name="adj" fmla="val 3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148840"/>
            <a:ext cx="10058400" cy="3657600"/>
          </a:xfrm>
          <a:prstGeom prst="rect">
            <a:avLst/>
          </a:prstGeom>
          <a:noFill/>
        </p:spPr>
        <p:txBody>
          <a:bodyPr wrap="square" anchor="t" lIns="0" rIns="0" tIns="0" bIns="0">
            <a:spAutoFit/>
          </a:bodyPr>
          <a:lstStyle/>
          <a:p>
            <a:pPr algn="l">
              <a:lnSpc>
                <a:spcPct val="105000"/>
              </a:lnSpc>
              <a:spcAft>
                <a:spcPts val="1200"/>
              </a:spcAft>
            </a:pPr>
            <a:r>
              <a:rPr sz="1600" b="1" i="0">
                <a:solidFill>
                  <a:srgbClr val="2A9D8F"/>
                </a:solidFill>
                <a:latin typeface="Calibri"/>
              </a:rPr>
              <a:t>✓  </a:t>
            </a:r>
            <a:r>
              <a:rPr sz="1600" b="1" i="0">
                <a:solidFill>
                  <a:srgbClr val="1D2433"/>
                </a:solidFill>
                <a:latin typeface="Calibri"/>
              </a:rPr>
              <a:t>Work  —  </a:t>
            </a:r>
            <a:r>
              <a:rPr sz="1500" b="0" i="0">
                <a:solidFill>
                  <a:srgbClr val="6B7280"/>
                </a:solidFill>
                <a:latin typeface="Calibri"/>
              </a:rPr>
              <a:t>force × distance moved in the force's direction</a:t>
            </a:r>
          </a:p>
          <a:p>
            <a:pPr algn="l">
              <a:lnSpc>
                <a:spcPct val="105000"/>
              </a:lnSpc>
              <a:spcAft>
                <a:spcPts val="1200"/>
              </a:spcAft>
            </a:pPr>
            <a:r>
              <a:rPr sz="1600" b="1" i="0">
                <a:solidFill>
                  <a:srgbClr val="2A9D8F"/>
                </a:solidFill>
                <a:latin typeface="Calibri"/>
              </a:rPr>
              <a:t>✓  </a:t>
            </a:r>
            <a:r>
              <a:rPr sz="1600" b="1" i="0">
                <a:solidFill>
                  <a:srgbClr val="1D2433"/>
                </a:solidFill>
                <a:latin typeface="Calibri"/>
              </a:rPr>
              <a:t>No movement  —  </a:t>
            </a:r>
            <a:r>
              <a:rPr sz="1500" b="0" i="0">
                <a:solidFill>
                  <a:srgbClr val="6B7280"/>
                </a:solidFill>
                <a:latin typeface="Calibri"/>
              </a:rPr>
              <a:t>no work, however large the force</a:t>
            </a:r>
          </a:p>
          <a:p>
            <a:pPr algn="l">
              <a:lnSpc>
                <a:spcPct val="105000"/>
              </a:lnSpc>
              <a:spcAft>
                <a:spcPts val="1200"/>
              </a:spcAft>
            </a:pPr>
            <a:r>
              <a:rPr sz="1600" b="1" i="0">
                <a:solidFill>
                  <a:srgbClr val="2A9D8F"/>
                </a:solidFill>
                <a:latin typeface="Calibri"/>
              </a:rPr>
              <a:t>✓  </a:t>
            </a:r>
            <a:r>
              <a:rPr sz="1600" b="1" i="0">
                <a:solidFill>
                  <a:srgbClr val="1D2433"/>
                </a:solidFill>
                <a:latin typeface="Calibri"/>
              </a:rPr>
              <a:t>Unit  —  </a:t>
            </a:r>
            <a:r>
              <a:rPr sz="1500" b="0" i="0">
                <a:solidFill>
                  <a:srgbClr val="6B7280"/>
                </a:solidFill>
                <a:latin typeface="Calibri"/>
              </a:rPr>
              <a:t>the joule (J) = 1 newton-metre; same for energy</a:t>
            </a:r>
          </a:p>
          <a:p>
            <a:pPr algn="l">
              <a:lnSpc>
                <a:spcPct val="105000"/>
              </a:lnSpc>
              <a:spcAft>
                <a:spcPts val="1200"/>
              </a:spcAft>
            </a:pPr>
            <a:r>
              <a:rPr sz="1600" b="1" i="0">
                <a:solidFill>
                  <a:srgbClr val="2A9D8F"/>
                </a:solidFill>
                <a:latin typeface="Calibri"/>
              </a:rPr>
              <a:t>✓  </a:t>
            </a:r>
            <a:r>
              <a:rPr sz="1600" b="1" i="0">
                <a:solidFill>
                  <a:srgbClr val="1D2433"/>
                </a:solidFill>
                <a:latin typeface="Calibri"/>
              </a:rPr>
              <a:t>Energy  —  </a:t>
            </a:r>
            <a:r>
              <a:rPr sz="1500" b="0" i="0">
                <a:solidFill>
                  <a:srgbClr val="6B7280"/>
                </a:solidFill>
                <a:latin typeface="Calibri"/>
              </a:rPr>
              <a:t>the capacity to do work</a:t>
            </a:r>
          </a:p>
          <a:p>
            <a:pPr algn="l">
              <a:lnSpc>
                <a:spcPct val="105000"/>
              </a:lnSpc>
              <a:spcAft>
                <a:spcPts val="1200"/>
              </a:spcAft>
            </a:pPr>
            <a:r>
              <a:rPr sz="1600" b="1" i="0">
                <a:solidFill>
                  <a:srgbClr val="2A9D8F"/>
                </a:solidFill>
                <a:latin typeface="Calibri"/>
              </a:rPr>
              <a:t>✓  </a:t>
            </a:r>
            <a:r>
              <a:rPr sz="1600" b="1" i="0">
                <a:solidFill>
                  <a:srgbClr val="1D2433"/>
                </a:solidFill>
                <a:latin typeface="Calibri"/>
              </a:rPr>
              <a:t>Potential energy  —  </a:t>
            </a:r>
            <a:r>
              <a:rPr sz="1500" b="0" i="0">
                <a:solidFill>
                  <a:srgbClr val="6B7280"/>
                </a:solidFill>
                <a:latin typeface="Calibri"/>
              </a:rPr>
              <a:t>stored energy due to position or state</a:t>
            </a:r>
          </a:p>
          <a:p>
            <a:pPr algn="l">
              <a:lnSpc>
                <a:spcPct val="105000"/>
              </a:lnSpc>
              <a:spcAft>
                <a:spcPts val="1200"/>
              </a:spcAft>
            </a:pPr>
            <a:r>
              <a:rPr sz="1600" b="1" i="0">
                <a:solidFill>
                  <a:srgbClr val="2A9D8F"/>
                </a:solidFill>
                <a:latin typeface="Calibri"/>
              </a:rPr>
              <a:t>✓  </a:t>
            </a:r>
            <a:r>
              <a:rPr sz="1600" b="1" i="0">
                <a:solidFill>
                  <a:srgbClr val="1D2433"/>
                </a:solidFill>
                <a:latin typeface="Calibri"/>
              </a:rPr>
              <a:t>Examples  —  </a:t>
            </a:r>
            <a:r>
              <a:rPr sz="1500" b="0" i="0">
                <a:solidFill>
                  <a:srgbClr val="6B7280"/>
                </a:solidFill>
                <a:latin typeface="Calibri"/>
              </a:rPr>
              <a:t>dam water, stretched bow, wound spring, raised hammer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Oval 1"/>
          <p:cNvSpPr/>
          <p:nvPr/>
        </p:nvSpPr>
        <p:spPr>
          <a:xfrm>
            <a:off x="8778240" y="-1371600"/>
            <a:ext cx="4754880" cy="475488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011680"/>
            <a:ext cx="8229600" cy="457200"/>
          </a:xfrm>
          <a:prstGeom prst="rect">
            <a:avLst/>
          </a:prstGeom>
          <a:noFill/>
        </p:spPr>
        <p:txBody>
          <a:bodyPr wrap="square" anchor="t" lIns="0" rIns="0" tIns="0" bIns="0">
            <a:spAutoFit/>
          </a:bodyPr>
          <a:lstStyle/>
          <a:p>
            <a:pPr algn="l"/>
            <a:r>
              <a:rPr sz="1600" b="1" i="0">
                <a:solidFill>
                  <a:srgbClr val="FFC300"/>
                </a:solidFill>
                <a:latin typeface="Arial"/>
              </a:rPr>
              <a:t>QUIZ 2</a:t>
            </a:r>
          </a:p>
        </p:txBody>
      </p:sp>
      <p:sp>
        <p:nvSpPr>
          <p:cNvPr id="4" name="TextBox 3"/>
          <p:cNvSpPr txBox="1"/>
          <p:nvPr/>
        </p:nvSpPr>
        <p:spPr>
          <a:xfrm>
            <a:off x="777240" y="2560320"/>
            <a:ext cx="9601200" cy="1005840"/>
          </a:xfrm>
          <a:prstGeom prst="rect">
            <a:avLst/>
          </a:prstGeom>
          <a:noFill/>
        </p:spPr>
        <p:txBody>
          <a:bodyPr wrap="square" anchor="t" lIns="0" rIns="0" tIns="0" bIns="0">
            <a:spAutoFit/>
          </a:bodyPr>
          <a:lstStyle/>
          <a:p>
            <a:pPr algn="l"/>
            <a:r>
              <a:rPr sz="4400" b="1" i="0">
                <a:solidFill>
                  <a:srgbClr val="FFFFFF"/>
                </a:solidFill>
                <a:latin typeface="Calibri"/>
              </a:rPr>
              <a:t>Final Check — Energy &amp; PE</a:t>
            </a:r>
          </a:p>
        </p:txBody>
      </p:sp>
      <p:sp>
        <p:nvSpPr>
          <p:cNvPr id="5" name="TextBox 4"/>
          <p:cNvSpPr txBox="1"/>
          <p:nvPr/>
        </p:nvSpPr>
        <p:spPr>
          <a:xfrm>
            <a:off x="777240" y="3749039"/>
            <a:ext cx="9601200" cy="548640"/>
          </a:xfrm>
          <a:prstGeom prst="rect">
            <a:avLst/>
          </a:prstGeom>
          <a:noFill/>
        </p:spPr>
        <p:txBody>
          <a:bodyPr wrap="square" anchor="t" lIns="0" rIns="0" tIns="0" bIns="0">
            <a:spAutoFit/>
          </a:bodyPr>
          <a:lstStyle/>
          <a:p>
            <a:pPr algn="l"/>
            <a:r>
              <a:rPr sz="1800" b="0" i="0">
                <a:solidFill>
                  <a:srgbClr val="CADCFC"/>
                </a:solidFill>
                <a:latin typeface="Calibri"/>
              </a:rPr>
              <a:t>5 questions  •  think before the answer reveals on the next slide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F4801A"/>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Q1 — Stored Energy</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A stretched rubber band possesses: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Kinetic energy</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Elastic potential energy</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Heat energy</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No energy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Q1 — Stored Energy</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A stretched rubber band possesses: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Kinetic energy</a:t>
            </a:r>
          </a:p>
        </p:txBody>
      </p:sp>
      <p:sp>
        <p:nvSpPr>
          <p:cNvPr id="12" name="Rounded Rectangle 11"/>
          <p:cNvSpPr/>
          <p:nvPr/>
        </p:nvSpPr>
        <p:spPr>
          <a:xfrm>
            <a:off x="6172200" y="3337560"/>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1" i="0">
                <a:solidFill>
                  <a:srgbClr val="1D2433"/>
                </a:solidFill>
                <a:latin typeface="Calibri"/>
              </a:rPr>
              <a:t>Elastic potential energy</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Heat energy</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No energy</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Stretching the band stores energy in it because of its changed state. This elastic potential energy is released — doing work — when the band is let go.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F4801A"/>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Q2 — Water in a Tank</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Water stored in a tank on a roof has potential energy because of its: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Motion</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Temperature</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Raised position</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Colour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Q2 — Water in a Tank</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Water stored in a tank on a roof has potential energy because of its: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Motion</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Temperature</a:t>
            </a:r>
          </a:p>
        </p:txBody>
      </p:sp>
      <p:sp>
        <p:nvSpPr>
          <p:cNvPr id="16" name="Rounded Rectangle 15"/>
          <p:cNvSpPr/>
          <p:nvPr/>
        </p:nvSpPr>
        <p:spPr>
          <a:xfrm>
            <a:off x="640080" y="4370831"/>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1" i="0">
                <a:solidFill>
                  <a:srgbClr val="1D2433"/>
                </a:solidFill>
                <a:latin typeface="Calibri"/>
              </a:rPr>
              <a:t>Raised position</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Colour</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Being lifted to a height gives the water gravitational potential energy. As it falls it can do work — for example, providing water pressure or turning a small turbine.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F4801A"/>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Q3 — Pendulum Bottom</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At the lowest point of its swing, a pendulum bob has: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Maximum potential energy</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Maximum kinetic energy</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No energy</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Only heat energy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Q3 — Pendulum Bottom</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At the lowest point of its swing, a pendulum bob has: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Maximum potential energy</a:t>
            </a:r>
          </a:p>
        </p:txBody>
      </p:sp>
      <p:sp>
        <p:nvSpPr>
          <p:cNvPr id="12" name="Rounded Rectangle 11"/>
          <p:cNvSpPr/>
          <p:nvPr/>
        </p:nvSpPr>
        <p:spPr>
          <a:xfrm>
            <a:off x="6172200" y="3337560"/>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1" i="0">
                <a:solidFill>
                  <a:srgbClr val="1D2433"/>
                </a:solidFill>
                <a:latin typeface="Calibri"/>
              </a:rPr>
              <a:t>Maximum kinetic energy</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No energy</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Only heat energy</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At the bottom the bob moves fastest, so its kinetic energy is greatest. Its potential energy is least there, having been converted into motion.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F4801A"/>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Q4 — Lift It Higher</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Lifting the same box twice as high gives it potential energy that is: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Half as much</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The same</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Twice as much</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Four times as much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Q4 — Lift It Higher</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Lifting the same box twice as high gives it potential energy that is: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Half as much</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The same</a:t>
            </a:r>
          </a:p>
        </p:txBody>
      </p:sp>
      <p:sp>
        <p:nvSpPr>
          <p:cNvPr id="16" name="Rounded Rectangle 15"/>
          <p:cNvSpPr/>
          <p:nvPr/>
        </p:nvSpPr>
        <p:spPr>
          <a:xfrm>
            <a:off x="640080" y="4370831"/>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1" i="0">
                <a:solidFill>
                  <a:srgbClr val="1D2433"/>
                </a:solidFill>
                <a:latin typeface="Calibri"/>
              </a:rPr>
              <a:t>Twice as much</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Four times as much</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Gravitational potential energy increases in proportion to the height. Lifting the box twice as high stores twice the potential energy.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F4801A"/>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Q5 — Joule</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One joule of work is done when a force of:</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1 N moves a body 1 m</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1 N moves a body 10 m</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10 N moves a body 1 m</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1 N is applied without movement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Q5 — Joule</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One joule of work is done when a force of:</a:t>
            </a:r>
          </a:p>
        </p:txBody>
      </p:sp>
      <p:sp>
        <p:nvSpPr>
          <p:cNvPr id="8" name="Rounded Rectangle 7"/>
          <p:cNvSpPr/>
          <p:nvPr/>
        </p:nvSpPr>
        <p:spPr>
          <a:xfrm>
            <a:off x="640080" y="3337560"/>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1" i="0">
                <a:solidFill>
                  <a:srgbClr val="1D2433"/>
                </a:solidFill>
                <a:latin typeface="Calibri"/>
              </a:rPr>
              <a:t>1 N moves a body 1 m</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1 N moves a body 10 m</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10 N moves a body 1 m</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1 N is applied without movement</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By definition, 1 joule = 1 newton × 1 metre — the work done when a force of one newton moves a body one metre in its direction.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Oval 1"/>
          <p:cNvSpPr/>
          <p:nvPr/>
        </p:nvSpPr>
        <p:spPr>
          <a:xfrm>
            <a:off x="-1463040" y="3108960"/>
            <a:ext cx="4754880" cy="475488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058400" y="-1645920"/>
            <a:ext cx="4206240" cy="420624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377440"/>
            <a:ext cx="10515600" cy="1097280"/>
          </a:xfrm>
          <a:prstGeom prst="rect">
            <a:avLst/>
          </a:prstGeom>
          <a:noFill/>
        </p:spPr>
        <p:txBody>
          <a:bodyPr wrap="square" anchor="t" lIns="0" rIns="0" tIns="0" bIns="0">
            <a:spAutoFit/>
          </a:bodyPr>
          <a:lstStyle/>
          <a:p>
            <a:pPr algn="l"/>
            <a:r>
              <a:rPr sz="4600" b="1" i="0">
                <a:solidFill>
                  <a:srgbClr val="FFFFFF"/>
                </a:solidFill>
                <a:latin typeface="Calibri"/>
              </a:rPr>
              <a:t>The Energy to Do Work</a:t>
            </a:r>
          </a:p>
        </p:txBody>
      </p:sp>
      <p:sp>
        <p:nvSpPr>
          <p:cNvPr id="5" name="TextBox 4"/>
          <p:cNvSpPr txBox="1"/>
          <p:nvPr/>
        </p:nvSpPr>
        <p:spPr>
          <a:xfrm>
            <a:off x="731520" y="3566160"/>
            <a:ext cx="10058400" cy="1097280"/>
          </a:xfrm>
          <a:prstGeom prst="rect">
            <a:avLst/>
          </a:prstGeom>
          <a:noFill/>
        </p:spPr>
        <p:txBody>
          <a:bodyPr wrap="square" anchor="t" lIns="0" rIns="0" tIns="0" bIns="0">
            <a:spAutoFit/>
          </a:bodyPr>
          <a:lstStyle/>
          <a:p>
            <a:pPr algn="l"/>
            <a:r>
              <a:rPr sz="1900" b="0" i="0">
                <a:solidFill>
                  <a:srgbClr val="CADCFC"/>
                </a:solidFill>
                <a:latin typeface="Calibri"/>
              </a:rPr>
              <a:t>Work moves things; energy is the power to do it — and stored potential energy is just waiting to be released.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