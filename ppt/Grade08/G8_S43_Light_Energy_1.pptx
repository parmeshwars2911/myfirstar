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by previewing these objectives so students know what they should be able to do by the end of the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Light is fastest in vacuum, slower in denser media. The change of speed is the cause of bending.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Define refraction and the toward/away rule. Bending only happens at the surface.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the terms and the two laws. Angles always from the normal.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Everyday refraction effects. The bent pencil and mirage are memorable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Through a glass block: parallel emergent ray, only shifted sideways. Contrast with the prism next.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Dispersion: white light splits into VIBGYOR because each colour refracts differently. A rainbow is natural dispersion.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Dispersion facts: cause, VIBGYOR order, the rainbow, and recombination proving white is a mixture.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Rapid recap; the toward/away rule and dispersion are the key ideas.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8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463040" y="3108960"/>
            <a:ext cx="4754880" cy="47548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-1645920"/>
            <a:ext cx="4206240" cy="420624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ICSE • CLASS 8 • LIGHT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8046720" cy="173736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5000" b="1" i="0">
                <a:solidFill>
                  <a:srgbClr val="FFFFFF"/>
                </a:solidFill>
                <a:latin typeface="Calibri"/>
              </a:rPr>
              <a:t>Refraction of Light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80467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0" i="0">
                <a:solidFill>
                  <a:srgbClr val="CADCFC"/>
                </a:solidFill>
                <a:latin typeface="Calibri"/>
              </a:rPr>
              <a:t>Speed of light  •  Refraction &amp; its laws  •  The glass block  •  Dispersion</a:t>
            </a:r>
          </a:p>
        </p:txBody>
      </p:sp>
      <p:pic>
        <p:nvPicPr>
          <p:cNvPr id="7" name="Picture 6" descr="g8_light_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560" y="2103120"/>
            <a:ext cx="265176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Learning Objectives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74519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4400" y="2167127"/>
            <a:ext cx="457200" cy="45720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67127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039112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Compare the speed of light in different media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874519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46520" y="2167127"/>
            <a:ext cx="457200" cy="45720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2167127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86600" y="2039112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Define refraction and the terms used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182111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14400" y="3474719"/>
            <a:ext cx="457200" cy="45720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474719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3346703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State the laws of refraction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3182111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46520" y="3474719"/>
            <a:ext cx="457200" cy="45720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3474719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6600" y="3346703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Explain everyday effects of refraction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489704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14400" y="4782312"/>
            <a:ext cx="457200" cy="45720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78231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4654296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Trace light through a glass block and a prism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72200" y="4489704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46520" y="4782312"/>
            <a:ext cx="457200" cy="45720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478231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86600" y="4654296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Describe the dispersion of white light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-1463040"/>
            <a:ext cx="4937760" cy="493776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3920" y="3108960"/>
            <a:ext cx="338328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0000" b="1" i="0">
                <a:solidFill>
                  <a:srgbClr val="263149"/>
                </a:solidFill>
                <a:latin typeface="Calibri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148840"/>
            <a:ext cx="6949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697480"/>
            <a:ext cx="749807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Refraction of Light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114800"/>
            <a:ext cx="7315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Why light bends when it changes medium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SPEED OF LIGHT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Speed of Light in Different Media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19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762" y="2323490"/>
            <a:ext cx="281635" cy="28163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4592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Fastest in vacuum/air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Light travels at 3 × 10⁸ m/s in a vacuum.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37960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drop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8602" y="2323490"/>
            <a:ext cx="281635" cy="28163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22376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Slower in water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Light slows down on entering water.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60119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762" y="4152290"/>
            <a:ext cx="281635" cy="28163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4592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Slower still in glass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Denser media slow light down more.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37960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8602" y="4152290"/>
            <a:ext cx="281635" cy="28163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22376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Why it matters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This change of speed is what causes refraction.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REFRACTION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What Is Refraction?</a:t>
            </a:r>
          </a:p>
        </p:txBody>
      </p:sp>
      <p:pic>
        <p:nvPicPr>
          <p:cNvPr id="6" name="Picture 5" descr="g8li_b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0975" y="2057400"/>
            <a:ext cx="4937760" cy="34747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30975" y="5586983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6B7280"/>
                </a:solidFill>
                <a:latin typeface="Calibri"/>
              </a:rPr>
              <a:t>Air → glass: bends toward the normal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828800"/>
            <a:ext cx="5669280" cy="3931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057400"/>
            <a:ext cx="5029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0A9396"/>
                </a:solidFill>
                <a:latin typeface="Calibri"/>
              </a:rPr>
              <a:t>Bending at the boundary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606040"/>
            <a:ext cx="5074920" cy="3063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Refraction is the bending of light as it passes from one medium into another.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It happens because light changes speed at the boundary.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Going into a denser medium (air → glass), light bends toward the normal.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Going into a rarer medium (glass → air), it bends away from the normal.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TERMS &amp; LAWS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Terms and Laws of Refraction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0312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0A9396"/>
                </a:solidFill>
                <a:latin typeface="Calibri"/>
              </a:rPr>
              <a:t>The rules of bending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97480"/>
            <a:ext cx="10058400" cy="30632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Incident &amp; refracted ray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the ray arriving at, and the ray leaving, the surface.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Angle of incidence (i) &amp; refraction (r)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measured from the normal.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Law 1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the incident ray, refracted ray and normal lie in one plane.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Law 2 (Snell's law)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sin i / sin r is a constant for two given media.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EFFECTS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Everyday Effects of Refraction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19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762" y="2323490"/>
            <a:ext cx="281635" cy="28163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4592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Bent pencil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A pencil in water looks bent at the surface.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37960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8602" y="2323490"/>
            <a:ext cx="281635" cy="28163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22376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Shallow pool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Water looks shallower than it really is.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60119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sun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762" y="4152290"/>
            <a:ext cx="281635" cy="28163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4592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Early sunrise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We see the Sun a little before it rises, as light bends through the air.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37960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8602" y="4152290"/>
            <a:ext cx="281635" cy="28163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22376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Mirage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Hot air over a road bends light, showing a watery shimmer.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-1371600"/>
            <a:ext cx="4754880" cy="47548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01168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QUIZ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560320"/>
            <a:ext cx="9601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Check Your Understanding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749039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5 questions  •  think before the answer reveals on the next slide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— Why Bend?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Light bends when it passes from air into water because it: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Changes colour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Changes speed at the boundary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Gets brighter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Stops momentarily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— Why Bend?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Light bends when it passes from air into water because it: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Changes colour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Changes speed at the boundary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Gets brighter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Stops momentarily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Refraction happens because light travels at different speeds in different media. The change of speed at the surface makes the ray bend.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— Which Way?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ray of light passing from air into glass bends: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Away from the normal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Toward the normal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Along the surface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Straight back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— Which Way?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ray of light passing from air into glass bends: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Away from the normal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Toward the normal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Along the surface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Straight back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Glass is denser than air, so light slows down on entering it and bends toward the normal — the angle of refraction is smaller than the angle of incidence.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— Bent Pencil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pencil dipped in a glass of water looks bent at the water surface because of: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Reflection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Refraction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Dispersion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Shadow formation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— Bent Pencil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pencil dipped in a glass of water looks bent at the water surface because of: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Reflection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Refraction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Dispersion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Shadow formation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Light from the underwater part of the pencil bends as it leaves the water, so the pencil appears broken or bent at the surface — an effect of refraction.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— Measured From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The angle of incidence and the angle of refraction are both measured from the: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Surface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Normal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Refracted ray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Horizontal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— Measured From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The angle of incidence and the angle of refraction are both measured from the: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Surface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Normal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Refracted ray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Horizontal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Both angles are measured between the ray and the normal (the line at 90° to the surface) — never from the surface itself.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Q5 — Shallow Pool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swimming pool always looks shallower than it really is because of: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Reflection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Refraction of light from the bottom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Dispersion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The colour of the water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Q5 — Shallow Pool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swimming pool always looks shallower than it really is because of: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Reflection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Refraction of light from the bottom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Dispersion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The colour of the water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Light from the pool floor bends away from the normal as it leaves the water, so our eyes trace it back to a raised position. The bottom looks nearer the surface — the pool seems shallower.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-1463040"/>
            <a:ext cx="4937760" cy="493776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3920" y="3108960"/>
            <a:ext cx="338328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0000" b="1" i="0">
                <a:solidFill>
                  <a:srgbClr val="263149"/>
                </a:solidFill>
                <a:latin typeface="Calibri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148840"/>
            <a:ext cx="6949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697480"/>
            <a:ext cx="749807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Glass Block, Prism &amp; Dispersion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114800"/>
            <a:ext cx="7315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Light through glass, and the colours within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GLASS BLOCK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Light Through a Glass Block</a:t>
            </a:r>
          </a:p>
        </p:txBody>
      </p:sp>
      <p:pic>
        <p:nvPicPr>
          <p:cNvPr id="6" name="Picture 5" descr="g8li_blo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057400"/>
            <a:ext cx="5120640" cy="34747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5586983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6B7280"/>
                </a:solidFill>
                <a:latin typeface="Calibri"/>
              </a:rPr>
              <a:t>Parallel emergent ray, shifted sideways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99455" y="1828800"/>
            <a:ext cx="5669280" cy="3931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19495" y="2057400"/>
            <a:ext cx="5029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0A9396"/>
                </a:solidFill>
                <a:latin typeface="Calibri"/>
              </a:rPr>
              <a:t>Emergent ray is parallel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19495" y="2606040"/>
            <a:ext cx="5074920" cy="3063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Light refracts twice — entering and leaving the block.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It bends toward the normal on entering and away on leaving.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The two faces are parallel, so the emergent ray is parallel to the incident ray.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The ray is simply shifted sideways (lateral displacement).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DISPERSION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Dispersion of White Light</a:t>
            </a:r>
          </a:p>
        </p:txBody>
      </p:sp>
      <p:pic>
        <p:nvPicPr>
          <p:cNvPr id="6" name="Picture 5" descr="g8li_dis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5215" y="2057400"/>
            <a:ext cx="5303520" cy="34747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65215" y="5586983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6B7280"/>
                </a:solidFill>
                <a:latin typeface="Calibri"/>
              </a:rPr>
              <a:t>Violet bends most, red least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828800"/>
            <a:ext cx="5669280" cy="3931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057400"/>
            <a:ext cx="5029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0A9396"/>
                </a:solidFill>
                <a:latin typeface="Calibri"/>
              </a:rPr>
              <a:t>White light → a spectrum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606040"/>
            <a:ext cx="5074920" cy="3063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A prism splits white light into seven colours.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Each colour bends by a slightly different amount.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Violet bends most and red bends least.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The band of colours produced is called the spectrum (VIBGYOR).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DISPERSION FACTS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Understanding Dispersion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19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762" y="2323490"/>
            <a:ext cx="281635" cy="28163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4592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Why it splits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White light is a mixture of seven colours that bend by different amounts.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37960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8602" y="2323490"/>
            <a:ext cx="281635" cy="28163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22376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Order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Violet, Indigo, Blue, Green, Yellow, Orange, Red (VIBGYOR).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60119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762" y="4152290"/>
            <a:ext cx="281635" cy="28163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4592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Rainbow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Raindrops act as tiny prisms to make a rainbow.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37960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8602" y="4152290"/>
            <a:ext cx="281635" cy="28163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22376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Recombine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A second prism can recombine the colours into white light.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WRAP 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Quick Recap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48840"/>
            <a:ext cx="1005840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Speed of light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fastest in vacuum; slower in denser media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Refraction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bending when light changes speed between media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Toward/away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toward the normal into denser; away into rarer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Laws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rays &amp; normal in one plane; sin i / sin r constant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Glass block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emergent ray parallel, shifted sideways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Dispersion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prism splits white light into VIBGYOR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-1371600"/>
            <a:ext cx="4754880" cy="47548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01168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QUIZ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560320"/>
            <a:ext cx="9601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Final Check — Glass Block &amp; Dispersion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749039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5 questions  •  think before the answer reveals on the next slide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— Emergent Ray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After passing through a parallel-sided glass block, the emergent ray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Bent toward the normal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Parallel to the incident ray but shifted sideways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Turned back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Split into colours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— Emergent Ray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After passing through a parallel-sided glass block, the emergent ray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Bent toward the normal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Parallel to the incident ray but shifted sideways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Turned back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Split into colours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Because the block's faces are parallel, the bending on entering is undone on leaving. The emergent ray comes out parallel to the incident ray, only displaced sideways.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— Most Bent Colour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When white light passes through a prism, the colour that bends the most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Red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Green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Yellow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Violet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— Most Bent Colour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When white light passes through a prism, the colour that bends the most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Red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Green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Yellow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Violet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Violet light is slowed and bent the most by the prism, so it emerges nearest the base. Red bends the least.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— Rainbow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rainbow in the sky is formed when sunlight is dispersed by: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Clouds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Raindrops acting as tiny prisms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The Moon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Dust only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— Rainbow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rainbow in the sky is formed when sunlight is dispersed by: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Clouds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Raindrops acting as tiny prisms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The Moon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Dust only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Each raindrop refracts and disperses sunlight into its colours and reflects them back, so millions of drops together produce the arc of a rainbow.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— White Again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Passing the spectrum from one prism through a second, inverted prism produces: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More colours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White light again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Only red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Darkness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— White Again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Passing the spectrum from one prism through a second, inverted prism produces: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More colours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White light again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Only red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Darkness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The second prism recombines the seven colours back into white light, proving that white light was a mixture of those colours all along.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Q5 — Block vs Prism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Unlike a glass block, a prism makes the emergent light: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Parallel to the incident ray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Change direction (deviate) and spread into colours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Disappear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Travel faster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Q5 — Block vs Prism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Unlike a glass block, a prism makes the emergent light: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Parallel to the incident ray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Change direction (deviate) and spread into colours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Disappear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Travel faster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A prism's faces are inclined, not parallel, so the light is bent into a new direction and, being white, is also dispersed into a spectrum.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463040" y="3108960"/>
            <a:ext cx="4754880" cy="47548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-1645920"/>
            <a:ext cx="4206240" cy="420624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Calibri"/>
              </a:rPr>
              <a:t>Bending and Splitting Light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56616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0" i="0">
                <a:solidFill>
                  <a:srgbClr val="CADCFC"/>
                </a:solidFill>
                <a:latin typeface="Calibri"/>
              </a:rPr>
              <a:t>Refraction bends light and reveals the rainbow of colours hidden inside ordinary white light.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