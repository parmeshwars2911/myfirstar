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by previewing these objectives so students know what they should be able to do by the end of the session.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by asking why we cannot see in the dark. Establish that seeing needs light entering the eye, and that light is a form of energy. Keep the speed as an awe-fact.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Sort sources into natural and artificial. Stress the Sun's importance. Mention that not all light needs great heat — the firefly is a 'cool' light.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Define luminous (own light) vs non-luminous (seen by reflected light). The Moon is the classic trick example — it looks bright but only reflects the Sun's light.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Three-way sort by how much light passes. Hold up examples: a clear bottle (transparent), tracing paper (translucent), a book (opaque). Link opaque objects to shadows for later.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the chain source → object → eye. This explains why we see non-luminous things by reflected light, and why a dark room leaves us blind even though the objects are still there.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Define ray, beam and medium. Draw a ray with an arrow on the board, then show parallel, convergent and divergent beams with your fingers. These words recur in every light chapter.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Give a clear everyday example of each beam type. Foreshadow that lenses and mirrors (later grades) change one beam into another.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Describe the classic three-cardboard experiment. The key conclusion: light goes straight, so it is blocked the moment the holes no longer line 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List the four everyday proofs; we study shadows, pinhole cameras and eclipses in detail next lesson. Sunbeams through trees are the most visible everyday proof.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Connect the physics to things students have seen — sunbeams, lasers, headlights. End on the everyday consequence: we cannot see around a corner.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Give a sense of scale: seven times round the Earth in a second, 8 minutes from the Sun. Note light slows a little in glass or water — a hook for later grades.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Rapid recap. Cold-call students for each, especially luminous vs non-luminous and the meaning of rectilinear propagation.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8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9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10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463040" y="3108960"/>
            <a:ext cx="4754880" cy="47548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058400" y="-1645920"/>
            <a:ext cx="4206240" cy="420624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OPTICS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8046720" cy="173736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5000" b="1" i="0">
                <a:solidFill>
                  <a:srgbClr val="FFFFFF"/>
                </a:solidFill>
                <a:latin typeface="Calibri"/>
              </a:rPr>
              <a:t>Light —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03320"/>
            <a:ext cx="80467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 i="0">
                <a:solidFill>
                  <a:srgbClr val="CADCFC"/>
                </a:solidFill>
                <a:latin typeface="Calibri"/>
              </a:rPr>
              <a:t>What light is  •  Sources of light  •  Luminous &amp; non-luminous  •  How light travels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94360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8FA3C4"/>
                </a:solidFill>
                <a:latin typeface="Arial"/>
              </a:rPr>
              <a:t/>
            </a:r>
          </a:p>
        </p:txBody>
      </p:sp>
      <p:pic>
        <p:nvPicPr>
          <p:cNvPr id="8" name="Picture 7" descr="g6_sunbeams_phot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2560" y="2103120"/>
            <a:ext cx="2651760" cy="27432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INTRODUCTION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Learning Objectives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Arial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Arial"/>
              </a:rPr>
              <a:t>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74519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14400" y="2167127"/>
            <a:ext cx="457200" cy="45720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167127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2039112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Explain that light is a form of energy that lets us see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874519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446520" y="2167127"/>
            <a:ext cx="457200" cy="45720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46520" y="2167127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86600" y="2039112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Name natural and artificial sources of light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182111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14400" y="3474719"/>
            <a:ext cx="457200" cy="45720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3474719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54480" y="3346703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Tell luminous bodies apart from non-luminous bodies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72200" y="3182111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446520" y="3474719"/>
            <a:ext cx="457200" cy="457200"/>
          </a:xfrm>
          <a:prstGeom prst="ellipse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46520" y="3474719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86600" y="3346703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Classify objects as transparent, translucent or opaque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" y="4489704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14400" y="4782312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4782312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54480" y="4654296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Use the terms ray, beam and medium correctly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72200" y="4489704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446520" y="4782312"/>
            <a:ext cx="457200" cy="45720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46520" y="4782312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86600" y="4654296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State that light travels in straight lines and give proofs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595360" y="-1463040"/>
            <a:ext cx="4937760" cy="493776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503920" y="3108960"/>
            <a:ext cx="338328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0000" b="1" i="0">
                <a:solidFill>
                  <a:srgbClr val="263149"/>
                </a:solidFill>
                <a:latin typeface="Calibri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148840"/>
            <a:ext cx="694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PART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697480"/>
            <a:ext cx="749807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What Light 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114800"/>
            <a:ext cx="7315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A form of energy, and where it comes from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FA3C4"/>
                </a:solidFill>
                <a:latin typeface="Arial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FA3C4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LIGHT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What Is Light?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Arial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Arial"/>
              </a:rPr>
              <a:t>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28800"/>
            <a:ext cx="10881360" cy="1371600"/>
          </a:xfrm>
          <a:prstGeom prst="roundRect">
            <a:avLst>
              <a:gd name="adj" fmla="val 6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828800"/>
            <a:ext cx="1014984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/>
              </a:rPr>
              <a:t>Light is a form of energy that produces in us the sensation of sight — it lets us see things.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474720"/>
            <a:ext cx="10058400" cy="2423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We see an object only when light from it enters our eyes.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Some objects give out their own light; most objects are seen by the light they reflect.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Light travels extremely fast — about 3 × 10⁸ metres per second.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In a dark room with no light, we cannot see anything at all.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SOURCES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Sources of Light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Arial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Arial"/>
              </a:rPr>
              <a:t>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60119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con_bul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" y="2304288"/>
            <a:ext cx="320040" cy="3200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64592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Natural sources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2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Light that comes from nature — the Sun, the stars, lightning, fireflies and glowing deep-sea creatures.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537960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icon_bol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9400" y="2304288"/>
            <a:ext cx="320040" cy="32004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22376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Artificial sources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2376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Light made by humans — an electric bulb, a tube light, a candle, a torch and a kerosene lamp.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60119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icon_bul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" y="4133087"/>
            <a:ext cx="320040" cy="32004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64592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The Sun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4592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Our most important natural source; almost all light on Earth comes first from the Sun.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1792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537960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icon_bul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4133087"/>
            <a:ext cx="320040" cy="32004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22376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Hot vs cool light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Some sources glow because they are very hot (bulb, flame); others glow without much heat (a firefly).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LUMINOUS OR NOT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Luminous and Non-luminous Bodies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Arial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Arial"/>
              </a:rPr>
              <a:t>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60119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con_bul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" y="2304288"/>
            <a:ext cx="320040" cy="3200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64592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Luminous bodies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2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Give out their own light — the Sun, stars, a lit bulb, a burning candle and red-hot iron.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537960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icon_bul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2304288"/>
            <a:ext cx="320040" cy="32004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22376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Non-luminous bodies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2376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Do not make their own light — a book, a table, a wall, and most things around us.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60119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icon_bul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" y="4133087"/>
            <a:ext cx="320040" cy="32004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64592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How we see them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4592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We see non-luminous bodies only by the light they reflect from a luminous source into our eyes.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1792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537960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icon_bul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4133087"/>
            <a:ext cx="320040" cy="32004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22376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The Moon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The Moon is non-luminous; it shines only by reflecting sunlight — it makes no light of its own.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LET LIGHT THROUGH?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Transparent, Translucent &amp; Opaque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Arial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Arial"/>
              </a:rPr>
              <a:t>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60119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con_bul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" y="2304288"/>
            <a:ext cx="320040" cy="3200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64592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Transparent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2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Let almost all light pass through, so we can see clearly through them — clear glass, water and air.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537960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icon_bul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2304288"/>
            <a:ext cx="320040" cy="32004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22376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Translucent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2376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Let only some light pass, and scatter it, so we see blurred shapes — frosted glass, butter paper, oiled paper.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60119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icon_bul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" y="4133087"/>
            <a:ext cx="320040" cy="32004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64592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Opaque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4592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Let no light pass through at all — wood, stone, metal and cardboard. These cast clear shadows.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1792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537960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icon_bul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4133087"/>
            <a:ext cx="320040" cy="32004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22376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Why it matters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How much light passes decides whether we can see through an object and whether it makes a sharp shadow.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HOW WE SEE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How We See Things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Arial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Arial"/>
              </a:rPr>
              <a:t>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28800"/>
            <a:ext cx="108813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103120"/>
            <a:ext cx="10058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A9396"/>
                </a:solidFill>
                <a:latin typeface="Calibri"/>
              </a:rPr>
              <a:t>Source → object → eye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697480"/>
            <a:ext cx="10058400" cy="3063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Light leaves a source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Light starts at a luminous source such as the Sun or a lamp.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It falls on the object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The light travels out and lands on the object we are looking at.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It reflects to our eyes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The object reflects some light, which travels in a straight line into our eyes.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The eye senses it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Our eyes receive the light and the brain lets us 'see' the object.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No light, no sight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In total darkness no light reaches our eyes, so we cannot see anything.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778240" y="-1371600"/>
            <a:ext cx="4754880" cy="47548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011680"/>
            <a:ext cx="8229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QUIZ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560320"/>
            <a:ext cx="96012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Quick Check — Light &amp; Its Sources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749039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4 questions  •  think before the answer reveals on the next slide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FA3C4"/>
                </a:solidFill>
                <a:latin typeface="Arial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FA3C4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Q1 - Light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Arial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Arial"/>
              </a:rPr>
              <a:t>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828800"/>
            <a:ext cx="1014984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D2433"/>
                </a:solidFill>
                <a:latin typeface="Calibri"/>
              </a:rPr>
              <a:t>Light is best described as: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14400" y="3977639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 kind of matter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46520" y="3977639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088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 form of energy that lets us see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14400" y="5010912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0876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 type of force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446520" y="5010912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 liquid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Q1 - Light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Arial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Arial"/>
              </a:rPr>
              <a:t>11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828800"/>
            <a:ext cx="1014984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D2433"/>
                </a:solidFill>
                <a:latin typeface="Calibri"/>
              </a:rPr>
              <a:t>Light is best described as: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14400" y="3977639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 kind of matter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3175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46520" y="3977639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088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A form of energy that lets us see</a:t>
            </a:r>
          </a:p>
        </p:txBody>
      </p:sp>
      <p:sp>
        <p:nvSpPr>
          <p:cNvPr id="17" name="Oval 16"/>
          <p:cNvSpPr/>
          <p:nvPr/>
        </p:nvSpPr>
        <p:spPr>
          <a:xfrm>
            <a:off x="10972800" y="3995927"/>
            <a:ext cx="365760" cy="36576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72800" y="3950207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14400" y="5010912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0876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 type of force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7220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46520" y="5010912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4652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4088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 liquid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0080" y="5779008"/>
            <a:ext cx="10881360" cy="566928"/>
          </a:xfrm>
          <a:prstGeom prst="roundRect">
            <a:avLst>
              <a:gd name="adj" fmla="val 10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5779008"/>
            <a:ext cx="103327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2A9D8F"/>
                </a:solidFill>
                <a:latin typeface="Arial"/>
              </a:rPr>
              <a:t>Why  </a:t>
            </a:r>
            <a:r>
              <a:rPr sz="1200" b="0" i="0">
                <a:solidFill>
                  <a:srgbClr val="1D2433"/>
                </a:solidFill>
                <a:latin typeface="Calibri"/>
              </a:rPr>
              <a:t>Light is a form of energy. We see an object only when light from it enters our eyes; in complete darkness we cannot see anything.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Q2 - Luminous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Arial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Arial"/>
              </a:rPr>
              <a:t>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828800"/>
            <a:ext cx="1014984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D2433"/>
                </a:solidFill>
                <a:latin typeface="Calibri"/>
              </a:rPr>
              <a:t>Which of these is a luminous body?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14400" y="3977639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The Moon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46520" y="3977639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088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 mirror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14400" y="5010912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0876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The Sun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446520" y="5010912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 white wall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Q2 - Luminous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Arial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Arial"/>
              </a:rPr>
              <a:t>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828800"/>
            <a:ext cx="1014984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D2433"/>
                </a:solidFill>
                <a:latin typeface="Calibri"/>
              </a:rPr>
              <a:t>Which of these is a luminous body?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14400" y="3977639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The Moon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46520" y="3977639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088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 mirror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3175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14400" y="5010912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0876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The Sun</a:t>
            </a:r>
          </a:p>
        </p:txBody>
      </p:sp>
      <p:sp>
        <p:nvSpPr>
          <p:cNvPr id="21" name="Oval 20"/>
          <p:cNvSpPr/>
          <p:nvPr/>
        </p:nvSpPr>
        <p:spPr>
          <a:xfrm>
            <a:off x="5440680" y="5029200"/>
            <a:ext cx="365760" cy="36576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40680" y="4983479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7220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46520" y="5010912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4652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4088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 white wall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0080" y="5779008"/>
            <a:ext cx="10881360" cy="566928"/>
          </a:xfrm>
          <a:prstGeom prst="roundRect">
            <a:avLst>
              <a:gd name="adj" fmla="val 10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5779008"/>
            <a:ext cx="103327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2A9D8F"/>
                </a:solidFill>
                <a:latin typeface="Arial"/>
              </a:rPr>
              <a:t>Why  </a:t>
            </a:r>
            <a:r>
              <a:rPr sz="1200" b="0" i="0">
                <a:solidFill>
                  <a:srgbClr val="1D2433"/>
                </a:solidFill>
                <a:latin typeface="Calibri"/>
              </a:rPr>
              <a:t>The Sun gives out its own light, so it is luminous. The Moon, a mirror and a wall are non-luminous — they are seen only by reflected light.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Q3 - Materials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Arial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Arial"/>
              </a:rPr>
              <a:t>14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828800"/>
            <a:ext cx="1014984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D2433"/>
                </a:solidFill>
                <a:latin typeface="Calibri"/>
              </a:rPr>
              <a:t>An object you can see through clearly is said to be: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14400" y="3977639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Opaque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46520" y="3977639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088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Translucent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14400" y="5010912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0876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Transparent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446520" y="5010912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Luminous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Q3 - Materials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Arial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Arial"/>
              </a:rPr>
              <a:t>15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828800"/>
            <a:ext cx="1014984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D2433"/>
                </a:solidFill>
                <a:latin typeface="Calibri"/>
              </a:rPr>
              <a:t>An object you can see through clearly is said to be: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14400" y="3977639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Opaque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46520" y="3977639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088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Translucent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3175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14400" y="5010912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0876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Transparent</a:t>
            </a:r>
          </a:p>
        </p:txBody>
      </p:sp>
      <p:sp>
        <p:nvSpPr>
          <p:cNvPr id="21" name="Oval 20"/>
          <p:cNvSpPr/>
          <p:nvPr/>
        </p:nvSpPr>
        <p:spPr>
          <a:xfrm>
            <a:off x="5440680" y="5029200"/>
            <a:ext cx="365760" cy="36576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40680" y="4983479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7220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46520" y="5010912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4652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4088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Luminous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0080" y="5779008"/>
            <a:ext cx="10881360" cy="566928"/>
          </a:xfrm>
          <a:prstGeom prst="roundRect">
            <a:avLst>
              <a:gd name="adj" fmla="val 10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5779008"/>
            <a:ext cx="103327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2A9D8F"/>
                </a:solidFill>
                <a:latin typeface="Arial"/>
              </a:rPr>
              <a:t>Why  </a:t>
            </a:r>
            <a:r>
              <a:rPr sz="1200" b="0" i="0">
                <a:solidFill>
                  <a:srgbClr val="1D2433"/>
                </a:solidFill>
                <a:latin typeface="Calibri"/>
              </a:rPr>
              <a:t>Transparent materials such as clear glass and water let almost all light pass through, so we can see clearly through them.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Q4 - Materials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Arial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Arial"/>
              </a:rPr>
              <a:t>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828800"/>
            <a:ext cx="1014984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D2433"/>
                </a:solidFill>
                <a:latin typeface="Calibri"/>
              </a:rPr>
              <a:t>Frosted (ground) glass is an example of a material that is: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14400" y="3977639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Transparent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46520" y="3977639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088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Translucent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14400" y="5010912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0876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Opaque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446520" y="5010912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Luminous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Q4 - Materials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Arial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Arial"/>
              </a:rPr>
              <a:t>17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828800"/>
            <a:ext cx="1014984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D2433"/>
                </a:solidFill>
                <a:latin typeface="Calibri"/>
              </a:rPr>
              <a:t>Frosted (ground) glass is an example of a material that is: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14400" y="3977639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Transparent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3175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46520" y="3977639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088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Translucent</a:t>
            </a:r>
          </a:p>
        </p:txBody>
      </p:sp>
      <p:sp>
        <p:nvSpPr>
          <p:cNvPr id="17" name="Oval 16"/>
          <p:cNvSpPr/>
          <p:nvPr/>
        </p:nvSpPr>
        <p:spPr>
          <a:xfrm>
            <a:off x="10972800" y="3995927"/>
            <a:ext cx="365760" cy="36576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72800" y="3950207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14400" y="5010912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0876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Opaque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7220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46520" y="5010912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4652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4088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Luminous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0080" y="5779008"/>
            <a:ext cx="10881360" cy="566928"/>
          </a:xfrm>
          <a:prstGeom prst="roundRect">
            <a:avLst>
              <a:gd name="adj" fmla="val 10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5779008"/>
            <a:ext cx="103327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2A9D8F"/>
                </a:solidFill>
                <a:latin typeface="Arial"/>
              </a:rPr>
              <a:t>Why  </a:t>
            </a:r>
            <a:r>
              <a:rPr sz="1200" b="0" i="0">
                <a:solidFill>
                  <a:srgbClr val="1D2433"/>
                </a:solidFill>
                <a:latin typeface="Calibri"/>
              </a:rPr>
              <a:t>Frosted glass lets only part of the light through and scatters it, so we see only blurred shapes — that makes it translucent.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595360" y="-1463040"/>
            <a:ext cx="4937760" cy="493776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503920" y="3108960"/>
            <a:ext cx="338328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0000" b="1" i="0">
                <a:solidFill>
                  <a:srgbClr val="263149"/>
                </a:solidFill>
                <a:latin typeface="Calibri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148840"/>
            <a:ext cx="694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PART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697480"/>
            <a:ext cx="749807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How Light Travels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114800"/>
            <a:ext cx="7315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Rays, beams and straight-line travel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FA3C4"/>
                </a:solidFill>
                <a:latin typeface="Arial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FA3C4"/>
                </a:solidFill>
                <a:latin typeface="Arial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KEY TERMS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Rays, Beams and Medium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Arial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Arial"/>
              </a:rPr>
              <a:t>19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28800"/>
            <a:ext cx="108813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103120"/>
            <a:ext cx="10058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A9396"/>
                </a:solidFill>
                <a:latin typeface="Calibri"/>
              </a:rPr>
              <a:t>The language of light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697480"/>
            <a:ext cx="10058400" cy="3063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Ray of light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The straight-line path along which light travels, shown by a line with an arrow.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Beam of light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A bunch of light rays travelling together.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Parallel beam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Rays that travel side by side, like the beam from a torch far away or the Sun's rays.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Convergent / divergent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A convergent beam comes together to a point; a divergent beam spreads out from a point.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Medium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The substance through which light travels, such as air, water or glass.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BEAMS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Three Kinds of Beam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Arial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Arial"/>
              </a:rPr>
              <a:t>20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60119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con_bul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" y="2304288"/>
            <a:ext cx="320040" cy="3200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64592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Parallel beam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2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Rays travel side by side and never meet — like the Sun's rays reaching the Earth or a searchlight.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537960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icon_bul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2304288"/>
            <a:ext cx="320040" cy="32004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22376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Convergent beam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2376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Rays come together to a single point — like light passing through a magnifying glass.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60119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icon_bul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" y="4133087"/>
            <a:ext cx="320040" cy="32004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64592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Divergent beam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4592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Rays spread out from a point — like light spreading from a small bulb or a candle flame.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1792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537960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icon_ey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9400" y="4133087"/>
            <a:ext cx="320040" cy="32004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22376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Why it matters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Lenses and mirrors work by turning one kind of beam into another.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STRAIGHT LINES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Light Travels in a Straight 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Arial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Arial"/>
              </a:rPr>
              <a:t>21</a:t>
            </a:r>
          </a:p>
        </p:txBody>
      </p:sp>
      <p:pic>
        <p:nvPicPr>
          <p:cNvPr id="7" name="Picture 6" descr="g6l1_rect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965960"/>
            <a:ext cx="5120640" cy="36576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" y="5678424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1">
                <a:solidFill>
                  <a:srgbClr val="6B7280"/>
                </a:solidFill>
                <a:latin typeface="Calibri"/>
              </a:rPr>
              <a:t>The lamp is seen only when the holes line up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99455" y="1828800"/>
            <a:ext cx="566928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19495" y="2057400"/>
            <a:ext cx="5029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A9396"/>
                </a:solidFill>
                <a:latin typeface="Calibri"/>
              </a:rPr>
              <a:t>Rectilinear propagation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19495" y="2606040"/>
            <a:ext cx="5074920" cy="3063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In a single clear medium, light always travels in straight lines.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This is called the rectilinear propagation of light.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You can check it: light from a lamp is seen through three holes only when the holes are in one straight line.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Move one card sideways and the light is blocked — proof that light does not bend around corners.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PROOFS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Everyday Proofs of Straight-Line Travel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Arial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Arial"/>
              </a:rPr>
              <a:t>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60119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con_bul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" y="2304288"/>
            <a:ext cx="320040" cy="3200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64592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Shadows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2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An opaque object blocks light and casts a shadow with the same outline — light cannot bend around it.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537960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icon_camer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9400" y="2304288"/>
            <a:ext cx="320040" cy="32004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22376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Pinhole images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2376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A pinhole camera forms an image because rays travel straight through the hole.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60119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icon_bul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" y="4133087"/>
            <a:ext cx="320040" cy="32004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64592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Eclipses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4592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Solar and lunar eclipses happen because light from the Sun travels straight and is blocked.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1792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537960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icon_bul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4133087"/>
            <a:ext cx="320040" cy="32004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22376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Sunbeams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Straight shafts of sunlight through clouds or trees show the rays travelling in straight lines.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AROUND 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Seeing Straight-Line Light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Arial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Arial"/>
              </a:rPr>
              <a:t>23</a:t>
            </a:r>
          </a:p>
        </p:txBody>
      </p:sp>
      <p:pic>
        <p:nvPicPr>
          <p:cNvPr id="7" name="Picture 6" descr="g6_sunbeams_phot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0975" y="2057400"/>
            <a:ext cx="4937760" cy="34747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30975" y="5586983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1">
                <a:solidFill>
                  <a:srgbClr val="6B7280"/>
                </a:solidFill>
                <a:latin typeface="Calibri"/>
              </a:rPr>
              <a:t>Sunbeams travel in straight lines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1828800"/>
            <a:ext cx="566928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2057400"/>
            <a:ext cx="5029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A9396"/>
                </a:solidFill>
                <a:latin typeface="Calibri"/>
              </a:rPr>
              <a:t>Light around us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606040"/>
            <a:ext cx="5074920" cy="3063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Shafts of sunlight breaking through clouds or trees are straight, never curved.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A laser pointer makes a perfectly straight bright line.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Car headlights and a torch send out straight beams.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Because light goes straight, we cannot see around corners.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FAST!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The Speed of Light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Arial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Arial"/>
              </a:rPr>
              <a:t>24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28800"/>
            <a:ext cx="10881360" cy="1371600"/>
          </a:xfrm>
          <a:prstGeom prst="roundRect">
            <a:avLst>
              <a:gd name="adj" fmla="val 6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828800"/>
            <a:ext cx="1014984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/>
              </a:rPr>
              <a:t>Light is the fastest thing in the universe — nothing travels faster than light.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429000"/>
            <a:ext cx="10881360" cy="914400"/>
          </a:xfrm>
          <a:prstGeom prst="roundRect">
            <a:avLst>
              <a:gd name="adj" fmla="val 8000"/>
            </a:avLst>
          </a:prstGeom>
          <a:solidFill>
            <a:srgbClr val="FFF6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3429000"/>
            <a:ext cx="101498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F4801A"/>
                </a:solidFill>
                <a:latin typeface="Calibri"/>
              </a:rPr>
              <a:t>Speed of light  ≈  3 × 10⁸ metres per second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4572000"/>
            <a:ext cx="10058400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At this speed light could go around the Earth about seven times in one second.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Sunlight takes about 8 minutes to reach the Earth.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Light travels fastest in vacuum (empty space) and a little slower in air, water or glass.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WRAP 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Quick Recap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Arial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Arial"/>
              </a:rPr>
              <a:t>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28800"/>
            <a:ext cx="108813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148840"/>
            <a:ext cx="1005840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Light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a form of energy that lets us see; travels very fast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Sources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natural (Sun, stars) and artificial (bulb, candle)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Luminous / non-luminous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make own light vs seen by reflected light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Materials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transparent, translucent or opaque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Ray &amp; beam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straight path of light; a bundle of rays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Rectilinear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light travels in straight lines — shadows, pinhole, eclipses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778240" y="-1371600"/>
            <a:ext cx="4754880" cy="47548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011680"/>
            <a:ext cx="8229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QUIZ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560320"/>
            <a:ext cx="96012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Final Check — How Light Travels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749039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4 questions  •  think before the answer reveals on the next slide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FA3C4"/>
                </a:solidFill>
                <a:latin typeface="Arial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FA3C4"/>
                </a:solidFill>
                <a:latin typeface="Arial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Q1 - Propagation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Arial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Arial"/>
              </a:rPr>
              <a:t>27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828800"/>
            <a:ext cx="1014984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D2433"/>
                </a:solidFill>
                <a:latin typeface="Calibri"/>
              </a:rPr>
              <a:t>Light travelling in straight lines is called: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14400" y="3977639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Reflection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46520" y="3977639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088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Rectilinear propagation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14400" y="5010912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0876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Refraction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446520" y="5010912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Dispersion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Q1 - Propagation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Arial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Arial"/>
              </a:rPr>
              <a:t>28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828800"/>
            <a:ext cx="1014984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D2433"/>
                </a:solidFill>
                <a:latin typeface="Calibri"/>
              </a:rPr>
              <a:t>Light travelling in straight lines is called: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14400" y="3977639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Reflection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3175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46520" y="3977639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088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Rectilinear propagation</a:t>
            </a:r>
          </a:p>
        </p:txBody>
      </p:sp>
      <p:sp>
        <p:nvSpPr>
          <p:cNvPr id="17" name="Oval 16"/>
          <p:cNvSpPr/>
          <p:nvPr/>
        </p:nvSpPr>
        <p:spPr>
          <a:xfrm>
            <a:off x="10972800" y="3995927"/>
            <a:ext cx="365760" cy="36576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72800" y="3950207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14400" y="5010912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0876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Refraction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7220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46520" y="5010912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4652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4088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Dispersion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0080" y="5779008"/>
            <a:ext cx="10881360" cy="566928"/>
          </a:xfrm>
          <a:prstGeom prst="roundRect">
            <a:avLst>
              <a:gd name="adj" fmla="val 10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5779008"/>
            <a:ext cx="103327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2A9D8F"/>
                </a:solidFill>
                <a:latin typeface="Arial"/>
              </a:rPr>
              <a:t>Why  </a:t>
            </a:r>
            <a:r>
              <a:rPr sz="1200" b="0" i="0">
                <a:solidFill>
                  <a:srgbClr val="1D2433"/>
                </a:solidFill>
                <a:latin typeface="Calibri"/>
              </a:rPr>
              <a:t>The straight-line travel of light is called rectilinear propagation. It is shown by shadows, pinhole images and eclipses.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Q2 - Beams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Arial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Arial"/>
              </a:rPr>
              <a:t>29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828800"/>
            <a:ext cx="1014984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D2433"/>
                </a:solidFill>
                <a:latin typeface="Calibri"/>
              </a:rPr>
              <a:t>A beam of light in which the rays come together to a point is a: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14400" y="3977639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Parallel beam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46520" y="3977639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088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Divergent beam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14400" y="5010912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0876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Convergent beam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446520" y="5010912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Reflected beam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Q2 - Beams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Arial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Arial"/>
              </a:rPr>
              <a:t>30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828800"/>
            <a:ext cx="1014984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D2433"/>
                </a:solidFill>
                <a:latin typeface="Calibri"/>
              </a:rPr>
              <a:t>A beam of light in which the rays come together to a point is a: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14400" y="3977639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Parallel beam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46520" y="3977639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088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Divergent beam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3175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14400" y="5010912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0876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Convergent beam</a:t>
            </a:r>
          </a:p>
        </p:txBody>
      </p:sp>
      <p:sp>
        <p:nvSpPr>
          <p:cNvPr id="21" name="Oval 20"/>
          <p:cNvSpPr/>
          <p:nvPr/>
        </p:nvSpPr>
        <p:spPr>
          <a:xfrm>
            <a:off x="5440680" y="5029200"/>
            <a:ext cx="365760" cy="36576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40680" y="4983479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7220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46520" y="5010912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4652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4088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Reflected beam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0080" y="5779008"/>
            <a:ext cx="10881360" cy="566928"/>
          </a:xfrm>
          <a:prstGeom prst="roundRect">
            <a:avLst>
              <a:gd name="adj" fmla="val 10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5779008"/>
            <a:ext cx="103327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2A9D8F"/>
                </a:solidFill>
                <a:latin typeface="Arial"/>
              </a:rPr>
              <a:t>Why  </a:t>
            </a:r>
            <a:r>
              <a:rPr sz="1200" b="0" i="0">
                <a:solidFill>
                  <a:srgbClr val="1D2433"/>
                </a:solidFill>
                <a:latin typeface="Calibri"/>
              </a:rPr>
              <a:t>In a convergent beam the rays come together to a point. A divergent beam spreads out, and a parallel beam stays side by side.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Q3 - Reasoning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Arial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Arial"/>
              </a:rPr>
              <a:t>31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828800"/>
            <a:ext cx="1014984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D2433"/>
                </a:solidFill>
                <a:latin typeface="Calibri"/>
              </a:rPr>
              <a:t>We cannot see around corners because light: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14400" y="3977639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Travels in straight lines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46520" y="3977639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088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Travels in curves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14400" y="5010912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0876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Is too slow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446520" y="5010912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Is a form of matter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Q3 - Reasoning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Arial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Arial"/>
              </a:rPr>
              <a:t>32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828800"/>
            <a:ext cx="1014984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D2433"/>
                </a:solidFill>
                <a:latin typeface="Calibri"/>
              </a:rPr>
              <a:t>We cannot see around corners because light: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3175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14400" y="3977639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Travels in straight lines</a:t>
            </a:r>
          </a:p>
        </p:txBody>
      </p:sp>
      <p:sp>
        <p:nvSpPr>
          <p:cNvPr id="13" name="Oval 12"/>
          <p:cNvSpPr/>
          <p:nvPr/>
        </p:nvSpPr>
        <p:spPr>
          <a:xfrm>
            <a:off x="5440680" y="3995927"/>
            <a:ext cx="365760" cy="36576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40680" y="3950207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46520" y="3977639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4652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4088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Travels in curves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14400" y="5010912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0876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Is too slow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7220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46520" y="5010912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4652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4088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Is a form of matter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0080" y="5779008"/>
            <a:ext cx="10881360" cy="566928"/>
          </a:xfrm>
          <a:prstGeom prst="roundRect">
            <a:avLst>
              <a:gd name="adj" fmla="val 10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5779008"/>
            <a:ext cx="103327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2A9D8F"/>
                </a:solidFill>
                <a:latin typeface="Arial"/>
              </a:rPr>
              <a:t>Why  </a:t>
            </a:r>
            <a:r>
              <a:rPr sz="1200" b="0" i="0">
                <a:solidFill>
                  <a:srgbClr val="1D2433"/>
                </a:solidFill>
                <a:latin typeface="Calibri"/>
              </a:rPr>
              <a:t>Since light travels in straight lines and cannot bend around an obstacle, we cannot see objects hidden around a corner.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Q4 - Speed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Arial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Arial"/>
              </a:rPr>
              <a:t>33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828800"/>
            <a:ext cx="1014984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D2433"/>
                </a:solidFill>
                <a:latin typeface="Calibri"/>
              </a:rPr>
              <a:t>The speed of light is about: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14400" y="3977639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3 × 10³ m/s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46520" y="3977639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088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3 × 10⁵ m/s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14400" y="5010912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0876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3 × 10⁸ m/s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446520" y="5010912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3 × 10¹⁰ m/s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Q4 - Speed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Arial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Arial"/>
              </a:rPr>
              <a:t>34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828800"/>
            <a:ext cx="1014984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D2433"/>
                </a:solidFill>
                <a:latin typeface="Calibri"/>
              </a:rPr>
              <a:t>The speed of light is about: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14400" y="3977639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3 × 10³ m/s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46520" y="3977639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088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3 × 10⁵ m/s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3175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14400" y="5010912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0876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3 × 10⁸ m/s</a:t>
            </a:r>
          </a:p>
        </p:txBody>
      </p:sp>
      <p:sp>
        <p:nvSpPr>
          <p:cNvPr id="21" name="Oval 20"/>
          <p:cNvSpPr/>
          <p:nvPr/>
        </p:nvSpPr>
        <p:spPr>
          <a:xfrm>
            <a:off x="5440680" y="5029200"/>
            <a:ext cx="365760" cy="36576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40680" y="4983479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7220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46520" y="5010912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4652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4088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3 × 10¹⁰ m/s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0080" y="5779008"/>
            <a:ext cx="10881360" cy="566928"/>
          </a:xfrm>
          <a:prstGeom prst="roundRect">
            <a:avLst>
              <a:gd name="adj" fmla="val 10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5779008"/>
            <a:ext cx="103327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2A9D8F"/>
                </a:solidFill>
                <a:latin typeface="Arial"/>
              </a:rPr>
              <a:t>Why  </a:t>
            </a:r>
            <a:r>
              <a:rPr sz="1200" b="0" i="0">
                <a:solidFill>
                  <a:srgbClr val="1D2433"/>
                </a:solidFill>
                <a:latin typeface="Calibri"/>
              </a:rPr>
              <a:t>Light travels at about 3 × 10⁸ metres per second in vacuum — the fastest speed in the universe. Sunlight takes about 8 minutes to reach us.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463040" y="3108960"/>
            <a:ext cx="4754880" cy="47548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058400" y="-1645920"/>
            <a:ext cx="4206240" cy="420624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37744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Calibri"/>
              </a:rPr>
              <a:t>Light Travels Straight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56616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 i="0">
                <a:solidFill>
                  <a:srgbClr val="CADCFC"/>
                </a:solidFill>
                <a:latin typeface="Calibri"/>
              </a:rPr>
              <a:t>Light is energy that lets us see — and it always travels in straight lines, which is why we get shadows, images and eclipses.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94360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8FA3C4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