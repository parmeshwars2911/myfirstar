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by previewing these objectives so students know what they should be able to do by the end of the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Start from the everyday meaning of 'work', then sharpen it. Use the pushing-a-wall example to show force alone is not enough — there must be movement. Keep the unit (joule) concrete with the 1 N × 1 m picture.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Link energy directly to work: anything that can do work has energy, and both share the joule. Give a few stores of energy the children already know — food, fuel, a wound spring.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Define machine in plain terms — it makes our work easier. Introduce the two key words effort (input) and load (output) here; they recur all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through the four ways machines help. Stress that not every machine multiplies force — some trade force for speed, some just change direction or the point of application.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Define MA as load over effort. Make the 'how many times' idea concrete with the worked number. Note MA has no unit because it is force divided by force.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efficiency as the fraction of input work that is useful. Connect the 'lost' part to friction and the weight of the machine. Lead into the ideal-vs-actual comparison next.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Contrast the perfect (ideal) machine with real ones. The key reason real machines fall short is friction plus the weight of their own parts.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Identify load and effort first, then substitute into MA = load / effort. Reinforce that MA has no unit and that MA = 4 means the effort is multiplied four times.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Introduce the lever and its three points — fulcrum, load, effort. Point each one out on the diagram. These labels decide the lever's class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State the principle (the law of moments in words). The practical message: the longer the effort arm, the less effort needed — this is why a long crowbar is so helpful.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Class 1: fulcrum in the middle. Have students mime a seesaw. Note the MA can be anything depending on where the fulcrum sits.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Class 2: load in the middle. Because the effort arm is always longer, these always multiply force (MA &gt; 1). A wheelbarrow is the classic example.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Class 3: effort in the middle. Here effort is greater than load (MA &lt; 1) but we gain speed and a wider range of movement — like the forearm flicking the hand.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Give a quick method: locate F, L and E, then ask which is in the middle — that names the class. Practise with a few tools held up in class.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Apply the lever principle. The lesson: tripling the effort arm cuts the effort to a third. This is why we sit far from the pivot on a seesaw.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Rapid recap. Cold-call students to give each point, especially the lever principle and how the three classes differ.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4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15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3108960"/>
            <a:ext cx="4754880" cy="47548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645920"/>
            <a:ext cx="4206240" cy="420624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MECHANICS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8046720" cy="17373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5000" b="1" i="0">
                <a:solidFill>
                  <a:srgbClr val="FFFFFF"/>
                </a:solidFill>
                <a:latin typeface="Calibri"/>
              </a:rPr>
              <a:t>Simple Machines —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8046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Work and energy  •  What a machine does  •  Mechanical advantage  •  Efficiency  •  Levers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94360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8FA3C4"/>
                </a:solidFill>
                <a:latin typeface="Arial"/>
              </a:rPr>
              <a:t/>
            </a:r>
          </a:p>
        </p:txBody>
      </p:sp>
      <p:pic>
        <p:nvPicPr>
          <p:cNvPr id="8" name="Picture 7" descr="g6sm1_princi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0" y="2103120"/>
            <a:ext cx="265176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Learning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74519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14400" y="2167127"/>
            <a:ext cx="457200" cy="45720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16712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039112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Explain what work means in science and give its unit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874519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46520" y="2167127"/>
            <a:ext cx="457200" cy="45720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216712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86600" y="2039112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Say what a machine is and the jobs a machine can do for us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182111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14400" y="3474719"/>
            <a:ext cx="457200" cy="45720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4747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3346703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Define mechanical advantage and use MA = load / effort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2200" y="3182111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46520" y="3474719"/>
            <a:ext cx="457200" cy="457200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6520" y="34747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86600" y="3346703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Explain efficiency and why no real machine is perfect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4489704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14400" y="4782312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47823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54480" y="4654296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Tell an ideal machine apart from an actual machine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4489704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446520" y="4782312"/>
            <a:ext cx="457200" cy="45720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46520" y="47823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600" y="4654296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Identify the three orders (classes) of levers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Work, Energy &amp; Machines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What 'work' really means and how a machine helps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FA3C4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FA3C4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What Is Work?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1014984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Work is done only when a force makes a body move in the direction of the force.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42900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FFF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3429000"/>
            <a:ext cx="10149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F4801A"/>
                </a:solidFill>
                <a:latin typeface="Calibri"/>
              </a:rPr>
              <a:t>Work  =  Force  ×  distance moved   (W = F × d)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572000"/>
            <a:ext cx="1005840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If you push a wall and it does not move, no work is done — there is force but no movement.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SI unit of work is the joule (J).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1 joule of work is done when a force of 1 newton moves a body through 1 metre.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Both a force AND movement in the force's direction are needed for work to be done.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ENERGY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Energy — the Ability to Do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con_bo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2304288"/>
            <a:ext cx="320040" cy="3200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What energy 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Energy is the capacity (ability) to do work. A body that can do work is said to have energy.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con_rul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0" y="2304288"/>
            <a:ext cx="320040" cy="3200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Same unit as work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Energy is also measured in joules (J), because doing work transfers energy.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con_bo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4133087"/>
            <a:ext cx="320040" cy="32004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Everyday energy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Food gives our muscles energy; petrol gives a car energy; a stretched rubber band stores energy.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icon_bo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4133087"/>
            <a:ext cx="320040" cy="32004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Work needs energy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To do work, a body must spend energy. The more work done, the more energy used.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MACHINES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What Is a Machine?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6</a:t>
            </a:r>
          </a:p>
        </p:txBody>
      </p:sp>
      <p:pic>
        <p:nvPicPr>
          <p:cNvPr id="7" name="Picture 6" descr="g6sm1_princi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965960"/>
            <a:ext cx="4754880" cy="3657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5678424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A machine turns a small effort into a large load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99455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19495" y="2057400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A9396"/>
                </a:solidFill>
                <a:latin typeface="Calibri"/>
              </a:rPr>
              <a:t>Effort and load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19495" y="2606040"/>
            <a:ext cx="5074920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 machine is a device that lets us do work more easily or more conveniently.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We apply a small force called the effort; the machine moves a large load.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effort is the force we put in; the load is the resistance the machine overcomes.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Simple machines like the lever, pulley and ramp are the building blocks of bigger machines.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FUNCTIONS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Four Jobs a Machine Can 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con_for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2304288"/>
            <a:ext cx="320040" cy="3200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Lift a big load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It lets a small effort move a large load — a force multiplier, like a crowbar lifting a rock.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con_compa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0" y="2304288"/>
            <a:ext cx="320040" cy="3200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Change direction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It can change the direction of the force — a fixed pulley lets us pull down to lift a load up.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con_gau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1560" y="4133087"/>
            <a:ext cx="320040" cy="32004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Change the speed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It can make something move faster — the wheels of a bicycle are a speed multiplier.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icon_sta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29400" y="4133087"/>
            <a:ext cx="320040" cy="32004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Reach a better point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It can apply the force at a more convenient place, like the pedals of a bicycle.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MECHANICAL ADVANTAGE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Mechanical Advantage (MA)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1014984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Mechanical advantage tells us how many times a machine multiplies our effort.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42900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FFF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3429000"/>
            <a:ext cx="10149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F4801A"/>
                </a:solidFill>
                <a:latin typeface="Calibri"/>
              </a:rPr>
              <a:t>MA  =  Load  /  Effort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572000"/>
            <a:ext cx="1005840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MA is just a ratio of two forces, so it has no unit.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If MA is more than 1, the machine is a force multiplier — the load is bigger than the effort.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If MA is less than 1, we gain speed or distance instead of force.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Example: lifting a 100 N load with a 25 N effort gives MA = 100 / 25 = 4.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EFFICIENCY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Efficiency of a Machine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1014984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Efficiency tells us how much of the work we put in actually comes out as useful work.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42900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FFF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3429000"/>
            <a:ext cx="10149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F4801A"/>
                </a:solidFill>
                <a:latin typeface="Calibri"/>
              </a:rPr>
              <a:t>Efficiency  =  (useful work output / work input) × 100%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572000"/>
            <a:ext cx="1005840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Some effort is always wasted against friction and in moving the machine's own parts.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So the useful work we get out is always less than the work we put in.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 real machine therefore always has an efficiency less than 100%.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Oiling the parts reduces friction and raises the efficiency.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IDEAL VS ACTUAL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Ideal Machine vs Actual Machine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con_gau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2304288"/>
            <a:ext cx="320040" cy="3200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Ideal machine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An imaginary machine with no friction and weightless parts. Its efficiency would be 100%.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con_gau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2304288"/>
            <a:ext cx="320040" cy="3200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Actual machine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 real machine has friction and its parts have weight, so its efficiency is always below 100%.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con_g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4133087"/>
            <a:ext cx="320040" cy="32004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Where work goes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In a real machine some input work is wasted against friction and in lifting the moving parts.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icon_g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0" y="4133087"/>
            <a:ext cx="320040" cy="32004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Getting closer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Good design and regular oiling cut friction and make a real machine behave more like an ideal one.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WORKED EXAMPLE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Finding Mechanical Advantage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881360" cy="109728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1014984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A9396"/>
                </a:solidFill>
                <a:latin typeface="Calibri"/>
              </a:rPr>
              <a:t>Problem.  </a:t>
            </a:r>
            <a:r>
              <a:rPr sz="1600" b="0" i="0">
                <a:solidFill>
                  <a:srgbClr val="1D2433"/>
                </a:solidFill>
                <a:latin typeface="Calibri"/>
              </a:rPr>
              <a:t>A boy uses a crowbar to lift a stone of weight 200 N by applying an effort of 50 N. Find the mechanical advantage.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108960"/>
            <a:ext cx="10881360" cy="26517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3337560"/>
            <a:ext cx="101498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MA = Load / Effort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Load = 200 N,  Effort = 50 N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MA = 200 / 50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MA = 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5074920"/>
            <a:ext cx="10881360" cy="59436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5074920"/>
            <a:ext cx="101498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A9D8F"/>
                </a:solidFill>
                <a:latin typeface="Calibri"/>
              </a:rPr>
              <a:t>Answer: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MA = 4  (the crowbar multiplies the effort 4 times)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371600"/>
            <a:ext cx="4754880" cy="47548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QUIZ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Quick Check — Work &amp; Machines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4 questions  •  think before the answer reveals on the next slide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FA3C4"/>
                </a:solidFill>
                <a:latin typeface="Arial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FA3C4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Q1 -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Work is said to be done only when: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force is applied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body moves in the direction of the force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body is at rest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Energy is stored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Q1 -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Work is said to be done only when: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force is applied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317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A body moves in the direction of the force</a:t>
            </a:r>
          </a:p>
        </p:txBody>
      </p:sp>
      <p:sp>
        <p:nvSpPr>
          <p:cNvPr id="17" name="Oval 16"/>
          <p:cNvSpPr/>
          <p:nvPr/>
        </p:nvSpPr>
        <p:spPr>
          <a:xfrm>
            <a:off x="10972800" y="3995927"/>
            <a:ext cx="365760" cy="36576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0" y="3950207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body is at rest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Energy is stored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5779008"/>
            <a:ext cx="10881360" cy="566928"/>
          </a:xfrm>
          <a:prstGeom prst="roundRect">
            <a:avLst>
              <a:gd name="adj" fmla="val 10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5779008"/>
            <a:ext cx="103327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Arial"/>
              </a:rPr>
              <a:t>Why  </a:t>
            </a:r>
            <a:r>
              <a:rPr sz="1200" b="0" i="0">
                <a:solidFill>
                  <a:srgbClr val="1D2433"/>
                </a:solidFill>
                <a:latin typeface="Calibri"/>
              </a:rPr>
              <a:t>Work needs both a force and movement in the direction of that force. Pushing a wall that does not move means no work is done, however hard you push.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Q2 - Units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The SI unit of work and energy is the: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Newton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Joule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Watt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Metre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Q2 - Units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The SI unit of work and energy is the: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Newton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317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Joule</a:t>
            </a:r>
          </a:p>
        </p:txBody>
      </p:sp>
      <p:sp>
        <p:nvSpPr>
          <p:cNvPr id="17" name="Oval 16"/>
          <p:cNvSpPr/>
          <p:nvPr/>
        </p:nvSpPr>
        <p:spPr>
          <a:xfrm>
            <a:off x="10972800" y="3995927"/>
            <a:ext cx="365760" cy="36576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0" y="3950207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Watt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Metre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5779008"/>
            <a:ext cx="10881360" cy="566928"/>
          </a:xfrm>
          <a:prstGeom prst="roundRect">
            <a:avLst>
              <a:gd name="adj" fmla="val 10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5779008"/>
            <a:ext cx="103327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Arial"/>
              </a:rPr>
              <a:t>Why  </a:t>
            </a:r>
            <a:r>
              <a:rPr sz="1200" b="0" i="0">
                <a:solidFill>
                  <a:srgbClr val="1D2433"/>
                </a:solidFill>
                <a:latin typeface="Calibri"/>
              </a:rPr>
              <a:t>Work and energy are both measured in joules (J). One joule is the work done when a force of one newton moves a body one metre.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Q3 - Mechanical Advantage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17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Mechanical advantage is the ratio: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Effort / Load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Load / Effort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Work out / Work in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Speed / Force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Q3 - Mechanical Advantage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Mechanical advantage is the ratio: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Effort / Load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317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Load / Effort</a:t>
            </a:r>
          </a:p>
        </p:txBody>
      </p:sp>
      <p:sp>
        <p:nvSpPr>
          <p:cNvPr id="17" name="Oval 16"/>
          <p:cNvSpPr/>
          <p:nvPr/>
        </p:nvSpPr>
        <p:spPr>
          <a:xfrm>
            <a:off x="10972800" y="3995927"/>
            <a:ext cx="365760" cy="36576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0" y="3950207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Work out / Work in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Speed / Force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5779008"/>
            <a:ext cx="10881360" cy="566928"/>
          </a:xfrm>
          <a:prstGeom prst="roundRect">
            <a:avLst>
              <a:gd name="adj" fmla="val 10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5779008"/>
            <a:ext cx="103327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Arial"/>
              </a:rPr>
              <a:t>Why  </a:t>
            </a:r>
            <a:r>
              <a:rPr sz="1200" b="0" i="0">
                <a:solidFill>
                  <a:srgbClr val="1D2433"/>
                </a:solidFill>
                <a:latin typeface="Calibri"/>
              </a:rPr>
              <a:t>MA = Load / Effort. It tells us how many times a machine multiplies our effort. Because it is force ÷ force, MA has no unit.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Q4 - Efficiency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19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The efficiency of a real machine is always: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Equal to 100%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More than 100%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Less than 100%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Exactly zero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Q4 - Efficiency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20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The efficiency of a real machine is always: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Equal to 100%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More than 100%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317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Less than 100%</a:t>
            </a:r>
          </a:p>
        </p:txBody>
      </p:sp>
      <p:sp>
        <p:nvSpPr>
          <p:cNvPr id="21" name="Oval 20"/>
          <p:cNvSpPr/>
          <p:nvPr/>
        </p:nvSpPr>
        <p:spPr>
          <a:xfrm>
            <a:off x="5440680" y="5029200"/>
            <a:ext cx="365760" cy="36576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40680" y="4983479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Exactly zero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5779008"/>
            <a:ext cx="10881360" cy="566928"/>
          </a:xfrm>
          <a:prstGeom prst="roundRect">
            <a:avLst>
              <a:gd name="adj" fmla="val 10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5779008"/>
            <a:ext cx="103327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Arial"/>
              </a:rPr>
              <a:t>Why  </a:t>
            </a:r>
            <a:r>
              <a:rPr sz="1200" b="0" i="0">
                <a:solidFill>
                  <a:srgbClr val="1D2433"/>
                </a:solidFill>
                <a:latin typeface="Calibri"/>
              </a:rPr>
              <a:t>Some input work is always wasted against friction and in moving the machine's own parts, so a real machine can never be 100% efficient.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Levers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The simplest machine, and its three orders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FA3C4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FA3C4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LEVER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What Is a Lever?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22</a:t>
            </a:r>
          </a:p>
        </p:txBody>
      </p:sp>
      <p:pic>
        <p:nvPicPr>
          <p:cNvPr id="7" name="Picture 6" descr="g6sm1_princi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3855" y="1965960"/>
            <a:ext cx="4754880" cy="3657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613855" y="5678424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Every lever has a fulcrum, a load and an effort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2057400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A9396"/>
                </a:solidFill>
                <a:latin typeface="Calibri"/>
              </a:rPr>
              <a:t>Three points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606040"/>
            <a:ext cx="5074920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 lever is a rigid bar that can turn freely about a fixed point.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fixed point about which it turns is called the fulcrum.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load is the resistance to be overcome; the effort is the force we apply.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 lever is the simplest of all machines.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PRINCIPLE OF A LEVER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The Principle of a Lever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23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1014984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When a lever is balanced, the turning effect of the load equals the turning effect of the effort.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42900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FFF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3429000"/>
            <a:ext cx="10149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F4801A"/>
                </a:solidFill>
                <a:latin typeface="Calibri"/>
              </a:rPr>
              <a:t>Load × load-arm  =  Effort × effort-arm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572000"/>
            <a:ext cx="1005840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load-arm is the distance from the fulcrum to the load.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effort-arm is the distance from the fulcrum to the effort.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 longer effort-arm lets a smaller effort balance a bigger load.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For a lever, MA = effort-arm / load-arm.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CLASS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First-Order Levers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24</a:t>
            </a:r>
          </a:p>
        </p:txBody>
      </p:sp>
      <p:pic>
        <p:nvPicPr>
          <p:cNvPr id="7" name="Picture 6" descr="g6sm1_lever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965960"/>
            <a:ext cx="5120640" cy="3657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5678424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Class 1: fulcrum in the middle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99455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19495" y="2057400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A9396"/>
                </a:solidFill>
                <a:latin typeface="Calibri"/>
              </a:rPr>
              <a:t>F between L and 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19495" y="2606040"/>
            <a:ext cx="5074920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fulcrum lies between the load and the effort.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Pressing down on the effort side lifts the load on the other side.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mechanical advantage can be more than, equal to, or less than 1.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Examples: a seesaw, a pair of scissors, pliers and a crowbar.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CLASS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Second-Order Levers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25</a:t>
            </a:r>
          </a:p>
        </p:txBody>
      </p:sp>
      <p:pic>
        <p:nvPicPr>
          <p:cNvPr id="7" name="Picture 6" descr="g6sm1_lever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8095" y="1965960"/>
            <a:ext cx="5120640" cy="3657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48095" y="5678424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Class 2: load in the middle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2057400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A9396"/>
                </a:solidFill>
                <a:latin typeface="Calibri"/>
              </a:rPr>
              <a:t>L between F and 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606040"/>
            <a:ext cx="5074920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load lies between the fulcrum and the effort.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effort-arm is always longer than the load-arm.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So the mechanical advantage is always more than 1 — a force multiplier.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Examples: a wheelbarrow, a nutcracker and a bottle opener.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CLASS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Third-Order Levers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26</a:t>
            </a:r>
          </a:p>
        </p:txBody>
      </p:sp>
      <p:pic>
        <p:nvPicPr>
          <p:cNvPr id="7" name="Picture 6" descr="g6sm1_lever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965960"/>
            <a:ext cx="5120640" cy="3657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5678424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Class 3: effort in the middle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99455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19495" y="2057400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A9396"/>
                </a:solidFill>
                <a:latin typeface="Calibri"/>
              </a:rPr>
              <a:t>E between F and 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19495" y="2606040"/>
            <a:ext cx="5074920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effort lies between the fulcrum and the load.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effort-arm is always shorter than the load-arm.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So the mechanical advantage is always less than 1 — we gain speed, not force.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Examples: the human forearm, sugar tongs and a fishing rod.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EXAMPLES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Spotting the Class of a Lever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27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con_ey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2304288"/>
            <a:ext cx="320040" cy="3200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Class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Seesaw, scissors, pliers, beam balance, a crowbar — fulcrum in the middle.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con_wh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0" y="2304288"/>
            <a:ext cx="320040" cy="3200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Class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Wheelbarrow, nutcracker, bottle opener, lemon squeezer — load in the middle.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con_for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1560" y="4133087"/>
            <a:ext cx="320040" cy="32004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Class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Forearm, sugar tongs, fishing rod, a broom — effort in the middle.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icon_for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400" y="4133087"/>
            <a:ext cx="320040" cy="32004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How to decide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Find the fulcrum, the load and the effort, then see which one is in the middle.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WORKED EXAMPLE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Balancing a Lever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28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881360" cy="109728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1014984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A9396"/>
                </a:solidFill>
                <a:latin typeface="Calibri"/>
              </a:rPr>
              <a:t>Problem.  </a:t>
            </a:r>
            <a:r>
              <a:rPr sz="1600" b="0" i="0">
                <a:solidFill>
                  <a:srgbClr val="1D2433"/>
                </a:solidFill>
                <a:latin typeface="Calibri"/>
              </a:rPr>
              <a:t>On a seesaw, a load of 300 N sits 1 m from the fulcrum. How much effort is needed 3 m from the fulcrum to balance it?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108960"/>
            <a:ext cx="10881360" cy="26517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3337560"/>
            <a:ext cx="101498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Principle: Load × load-arm = Effort × effort-arm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300 × 1 = Effort × 3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300 = Effort × 3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Effort = 300 / 3 = 100 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5074920"/>
            <a:ext cx="10881360" cy="59436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5074920"/>
            <a:ext cx="101498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A9D8F"/>
                </a:solidFill>
                <a:latin typeface="Calibri"/>
              </a:rPr>
              <a:t>Answer: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Effort = 100 N  (a longer effort-arm needs less effort)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WRAP 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Quick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29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148840"/>
            <a:ext cx="1005840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Work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done only when a force moves a body; unit is the joule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Machine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makes work easier — small effort moves a large load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Functions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multiply force or speed, change direction or point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MA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Load / Effort, no unit; efficiency is always below 100%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Lever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rigid bar turning about a fulcrum; load × load-arm = effort × effort-arm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Three classes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by what lies in the middle: fulcrum, load or effort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371600"/>
            <a:ext cx="4754880" cy="47548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QUIZ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Final Check — Machines &amp; Levers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4 questions  •  think before the answer reveals on the next slide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FA3C4"/>
                </a:solidFill>
                <a:latin typeface="Arial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FA3C4"/>
                </a:solidFill>
                <a:latin typeface="Arial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Q1 - Levers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31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In a first-order lever, what lies between the load and the effort?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load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effort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fulcrum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Nothing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Q1 - Levers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32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In a first-order lever, what lies between the load and the effort?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load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effort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317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The fulcrum</a:t>
            </a:r>
          </a:p>
        </p:txBody>
      </p:sp>
      <p:sp>
        <p:nvSpPr>
          <p:cNvPr id="21" name="Oval 20"/>
          <p:cNvSpPr/>
          <p:nvPr/>
        </p:nvSpPr>
        <p:spPr>
          <a:xfrm>
            <a:off x="5440680" y="5029200"/>
            <a:ext cx="365760" cy="36576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40680" y="4983479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Nothing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5779008"/>
            <a:ext cx="10881360" cy="566928"/>
          </a:xfrm>
          <a:prstGeom prst="roundRect">
            <a:avLst>
              <a:gd name="adj" fmla="val 10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5779008"/>
            <a:ext cx="103327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Arial"/>
              </a:rPr>
              <a:t>Why  </a:t>
            </a:r>
            <a:r>
              <a:rPr sz="1200" b="0" i="0">
                <a:solidFill>
                  <a:srgbClr val="1D2433"/>
                </a:solidFill>
                <a:latin typeface="Calibri"/>
              </a:rPr>
              <a:t>A first-order (class 1) lever has the fulcrum in the middle, between the load and the effort — like a seesaw or a pair of scissors.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Q2 - Class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33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Which of these is a second-order lever?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seesaw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wheelbarrow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Sugar tongs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fishing rod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Q2 - Class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34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Which of these is a second-order lever?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seesaw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317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A wheelbarrow</a:t>
            </a:r>
          </a:p>
        </p:txBody>
      </p:sp>
      <p:sp>
        <p:nvSpPr>
          <p:cNvPr id="17" name="Oval 16"/>
          <p:cNvSpPr/>
          <p:nvPr/>
        </p:nvSpPr>
        <p:spPr>
          <a:xfrm>
            <a:off x="10972800" y="3995927"/>
            <a:ext cx="365760" cy="36576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0" y="3950207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Sugar tongs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fishing rod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5779008"/>
            <a:ext cx="10881360" cy="566928"/>
          </a:xfrm>
          <a:prstGeom prst="roundRect">
            <a:avLst>
              <a:gd name="adj" fmla="val 10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5779008"/>
            <a:ext cx="103327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Arial"/>
              </a:rPr>
              <a:t>Why  </a:t>
            </a:r>
            <a:r>
              <a:rPr sz="1200" b="0" i="0">
                <a:solidFill>
                  <a:srgbClr val="1D2433"/>
                </a:solidFill>
                <a:latin typeface="Calibri"/>
              </a:rPr>
              <a:t>In a wheelbarrow the load sits between the fulcrum (the wheel) and the effort (your hands), so it is a class 2 lever and always has MA greater than 1.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Q3 - Lever principle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35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A load of 100 N is 2 m from the fulcrum. What effort balances it 4 m from the fulcrum?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25 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50 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200 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400 N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Q3 - Lever principle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36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A load of 100 N is 2 m from the fulcrum. What effort balances it 4 m from the fulcrum?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25 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317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50 N</a:t>
            </a:r>
          </a:p>
        </p:txBody>
      </p:sp>
      <p:sp>
        <p:nvSpPr>
          <p:cNvPr id="17" name="Oval 16"/>
          <p:cNvSpPr/>
          <p:nvPr/>
        </p:nvSpPr>
        <p:spPr>
          <a:xfrm>
            <a:off x="10972800" y="3995927"/>
            <a:ext cx="365760" cy="36576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0" y="3950207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200 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400 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5779008"/>
            <a:ext cx="10881360" cy="566928"/>
          </a:xfrm>
          <a:prstGeom prst="roundRect">
            <a:avLst>
              <a:gd name="adj" fmla="val 10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5779008"/>
            <a:ext cx="103327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Arial"/>
              </a:rPr>
              <a:t>Why  </a:t>
            </a:r>
            <a:r>
              <a:rPr sz="1200" b="0" i="0">
                <a:solidFill>
                  <a:srgbClr val="1D2433"/>
                </a:solidFill>
                <a:latin typeface="Calibri"/>
              </a:rPr>
              <a:t>Load × load-arm = Effort × effort-arm → 100 × 2 = Effort × 4, so Effort = 200 / 4 = 50 N. The longer effort-arm needs less effort.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Q4 - Class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37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Why do third-order levers have a mechanical advantage less than 1?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fulcrum is in the middle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effort-arm is shorter than the load-arm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They have no fulcrum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load is always zero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Q4 - Class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38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Why do third-order levers have a mechanical advantage less than 1?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fulcrum is in the middle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317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The effort-arm is shorter than the load-arm</a:t>
            </a:r>
          </a:p>
        </p:txBody>
      </p:sp>
      <p:sp>
        <p:nvSpPr>
          <p:cNvPr id="17" name="Oval 16"/>
          <p:cNvSpPr/>
          <p:nvPr/>
        </p:nvSpPr>
        <p:spPr>
          <a:xfrm>
            <a:off x="10972800" y="3995927"/>
            <a:ext cx="365760" cy="36576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0" y="3950207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They have no fulcrum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load is always zero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5779008"/>
            <a:ext cx="10881360" cy="566928"/>
          </a:xfrm>
          <a:prstGeom prst="roundRect">
            <a:avLst>
              <a:gd name="adj" fmla="val 10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5779008"/>
            <a:ext cx="103327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Arial"/>
              </a:rPr>
              <a:t>Why  </a:t>
            </a:r>
            <a:r>
              <a:rPr sz="1200" b="0" i="0">
                <a:solidFill>
                  <a:srgbClr val="1D2433"/>
                </a:solidFill>
                <a:latin typeface="Calibri"/>
              </a:rPr>
              <a:t>With the effort in the middle, its arm is always shorter than the load-arm, so effort must be greater than load (MA &lt; 1). In return we gain speed and range of movement.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3108960"/>
            <a:ext cx="4754880" cy="47548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645920"/>
            <a:ext cx="4206240" cy="420624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Calibri"/>
              </a:rPr>
              <a:t>Work Made Easy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5661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A machine never gives us something for nothing — it just lets a small effort do a big job in a smarter way.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94360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8FA3C4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