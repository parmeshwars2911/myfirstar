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one ray from the top and one from the bottom of the object. Because they cross at the pinhole, the image is inverted — a direct result of straight-line travel.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List the characteristics. Emphasise real + inverted. Explain the trade-off of hole size: sharpness versus brightness.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Turn the theory into an activity — students can build one from a shoebox. The projection use is a safe way to watch a solar eclipse, linking to Part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the three requirements. The key misconception to fix: a shadow takes its shape from the object but its colour is always black — it is just missing light.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point and extended sources. Define umbra (full dark) and penumbra (partial). These same words describe the shadows in eclipses, coming up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Relate shadow length to the Sun's height through the day. A nice activity: shadow puppets show that only the outline is reproduced.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eclipses as large-scale shadows. The essential condition is the near-straight-line alignment of Sun, Earth and Moon.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line-up: Sun, Moon, Earth. The Moon's shadow is small, so only a narrow strip sees totality. Warn never to look directly at the Sun.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with the solar eclipse: now the Earth blocks the light. Because Earth is bigger, the lunar eclipse lasts longer and is widely visible — and is safe to watch.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side-by-side table to lock in the difference. The most tested points: who is in the middle and whose shadow falls 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Clear the common doubt of why eclipses are not monthly (tilted orbit). Stress solar-viewing safety. The red 'blood moon' is a memorable hook.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cold-call for each. Finish by tying everything back to rectilinear propagation.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OPTICS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Light —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The pinhole camera  •  Shadows  •  Solar and lunar eclipses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8FA3C4"/>
                </a:solidFill>
                <a:latin typeface="Arial"/>
              </a:rPr>
              <a:t/>
            </a:r>
          </a:p>
        </p:txBody>
      </p:sp>
      <p:pic>
        <p:nvPicPr>
          <p:cNvPr id="8" name="Picture 7" descr="g6_solar_eclipse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how a pinhole camera forms an image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the nature of the image in a pinhole camera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List the three things needed to form a shadow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the dark umbra and the lighter penumbra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how a solar eclipse forms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how a lunar eclipse forms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Pinhole Camera &amp; Shadows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Making images and shadows with straight light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3C4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3C4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PINHOLE CAMERA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How a Pinhole Camera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4</a:t>
            </a:r>
          </a:p>
        </p:txBody>
      </p:sp>
      <p:pic>
        <p:nvPicPr>
          <p:cNvPr id="7" name="Picture 6" descr="g6l2_pinh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512064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7842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Rays cross at the hole, so the image is inverted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A box with a tiny hole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is a closed box with a tiny hole on one side and a screen on the opposite side.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Rays from the top of the object travel straight through the hole to the bottom of the screen, and vice versa.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 the rays cross at the hole and the image is turned upside down (inverted).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image forms only because light travels in straight lines.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THE IMAGE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Nature of the Pinhole Image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A real, inverted image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Inverted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image is always upside down compared with the object.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Real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It can be caught on a screen, so it is a real image.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Coloured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image is in the same colours as the object.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Size depends on distance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Moving the screen further from the hole makes the image larger; moving the object closer also enlarges it.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Small hole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small hole gives a sharp but dim image; a large hole gives a bright but blurred 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MAKE &amp;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More About the Pinhole Camera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Make your 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Use a closed box with a tiny hole on one side and a butter-paper screen on the opposite side.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Bigger image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further the screen is from the hole, the larger (but dimmer) the image becomes.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One hole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Several holes give several overlapping images, one from each hole.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Where it helps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pinhole idea led to the modern camera and lets us view the Sun safely by projection.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SHADOW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Makes a Shadow?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A shadow is the dark patch formed when an opaque object blocks the path of light.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Three things are needed: a source of light, an opaque object, and a screen or surface.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shadow forms on the side of the object away from the light.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shadow has the same outline (shape) as the object.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shadow is always black, whatever the colour of the object, because it is simply the absence of light.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UMBRA &amp; PENUMBRA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Two Parts of a Shadow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8</a:t>
            </a:r>
          </a:p>
        </p:txBody>
      </p:sp>
      <p:pic>
        <p:nvPicPr>
          <p:cNvPr id="7" name="Picture 6" descr="g6l2_sha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095" y="1965960"/>
            <a:ext cx="5120640" cy="3657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48095" y="567842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 point source gives a sharp, fully dark shadow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Umbra and penumbra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From a small (point) source the shadow is sharp and fully dark.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From a large (extended) source the shadow has two parts.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umbra is the central, fully dark region where all light is blocked.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penumbra is the lighter border where only part of the light is blocked.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SHADOWS AROUND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Shadows in Daily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9</a:t>
            </a:r>
          </a:p>
        </p:txBody>
      </p:sp>
      <p:pic>
        <p:nvPicPr>
          <p:cNvPr id="7" name="Picture 6" descr="g6_shadow_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57400"/>
            <a:ext cx="4937760" cy="3474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58698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Low evening Sun casts a long shadow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Long and short shadows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Your shadow is longest in the early morning and late evening, when the Sun is low.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At noon, with the Sun overhead, your shadow is shortest.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shadow shows the shape of the object but none of its detail or colour.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Shadow puppets use opaque hands to make shapes on a screen.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Quick Check — Images &amp; Shadows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3C4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3C4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Pinhole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image formed by a pinhole camera is always: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Upright and real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Inverted and real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Upright and virtual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Inverted and virtual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240280"/>
            <a:ext cx="731520" cy="7315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828800"/>
            <a:ext cx="93268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D2433"/>
                </a:solidFill>
                <a:latin typeface="Calibri"/>
              </a:rPr>
              <a:t>B. Inverted and real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57600"/>
            <a:ext cx="1088136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862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10149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D2433"/>
                </a:solidFill>
                <a:latin typeface="Calibri"/>
              </a:rPr>
              <a:t>Rays cross at the pinhole, so the image is inverted. It can be caught on a screen, so it is a real image.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Shadow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Which three things are needed to form a shadow?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Source, mirror, screen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Source, opaque object, screen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Source, lens, screen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Source, water, screen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240280"/>
            <a:ext cx="731520" cy="7315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828800"/>
            <a:ext cx="93268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D2433"/>
                </a:solidFill>
                <a:latin typeface="Calibri"/>
              </a:rPr>
              <a:t>B. Source, opaque object, screen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57600"/>
            <a:ext cx="1088136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862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10149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D2433"/>
                </a:solidFill>
                <a:latin typeface="Calibri"/>
              </a:rPr>
              <a:t>A shadow needs a source of light, an opaque object to block the light, and a screen or surface for the shadow to fall 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Shadow colour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colour of a shadow is always: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colour of the object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Black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colour of the light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White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240280"/>
            <a:ext cx="731520" cy="7315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828800"/>
            <a:ext cx="93268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D2433"/>
                </a:solidFill>
                <a:latin typeface="Calibri"/>
              </a:rPr>
              <a:t>B. Black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57600"/>
            <a:ext cx="1088136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862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10149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D2433"/>
                </a:solidFill>
                <a:latin typeface="Calibri"/>
              </a:rPr>
              <a:t>A shadow is simply a region where light is blocked, so it is always black, whatever the colour of the object.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Umbra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fully dark central part of a shadow is the: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Penumbra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Umbra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Corona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Image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240280"/>
            <a:ext cx="731520" cy="7315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828800"/>
            <a:ext cx="93268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D2433"/>
                </a:solidFill>
                <a:latin typeface="Calibri"/>
              </a:rPr>
              <a:t>B. Umbra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57600"/>
            <a:ext cx="1088136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862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10149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D2433"/>
                </a:solidFill>
                <a:latin typeface="Calibri"/>
              </a:rPr>
              <a:t>The umbra is the central region where all the light is blocked. The lighter border, where only some light is blocked, is the penumbra.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Eclipses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When one body's shadow falls on another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3C4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3C4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ECLIPSE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Is an Eclipse?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An eclipse happens when one heavenly body moves into the shadow of another, because light from the Sun travels in straight lines.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Sun, the Earth and the Moon must line up almost in a straight line.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shadow is cast because the blocking body is opaque.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There are two kinds: the solar eclipse and the lunar eclipse.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Eclipses are direct, dramatic proof that light travels in straight lines.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SOLAR ECLIPSE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Solar Eclipse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21</a:t>
            </a:r>
          </a:p>
        </p:txBody>
      </p:sp>
      <p:pic>
        <p:nvPicPr>
          <p:cNvPr id="7" name="Picture 6" descr="g6l2_so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39"/>
            <a:ext cx="5303520" cy="3291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495543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The Moon's shadow falls on the Earth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Moon between Sun and Earth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solar eclipse happens when the Moon comes between the Sun and the Earth.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Moon's shadow then falls on a small part of the Earth.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People standing in the dark umbra see a total solar eclipse; the Sun is hidden.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can only happen on a new-moon day, and the day briefly goes dark.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LUNAR ECLIPSE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Lunar Eclipse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22</a:t>
            </a:r>
          </a:p>
        </p:txBody>
      </p:sp>
      <p:pic>
        <p:nvPicPr>
          <p:cNvPr id="7" name="Picture 6" descr="g6l2_lun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5215" y="2148839"/>
            <a:ext cx="5303520" cy="3291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5215" y="5495543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The Earth's shadow falls on the Moon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Earth between Sun and Moon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lunar eclipse happens when the Earth comes between the Sun and the Moon.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Earth's shadow then falls on the Moon, and the Moon darkens.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can only happen on a full-moon day.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Because the Earth's shadow is large, a lunar eclipse lasts much longer and is seen from a whole half of the Earth.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SOLAR VS LUNAR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Comparing the Two Eclipses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Who is in the middle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Solar: the Moon is in the middle. Lunar: the Earth is in the middle.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Whose shadow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Solar: the Moon's shadow on the Earth. Lunar: the Earth's shadow on the Moon.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Solar happens on a new-moon day; lunar happens on a full-moon day.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How long &amp; safe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solar eclipse is brief; a lunar eclipse lasts longer and is safe to watch with the naked eye.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FACTS &amp; 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Eclipse Facts &amp;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Not every month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Moon's orbit is slightly tilted, so the three bodies line up only a few times a year — not at every new or full moon.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Solar safety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Never look at a solar eclipse with bare eyes; use a proper filter or a pinhole projection.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Lunar safety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lunar eclipse is completely safe to watch directly with the naked eye.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Blood moon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During a total lunar eclipse the Moon can glow coppery-red — sometimes called a 'blood moon'.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WRAP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Pinhole camera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tiny hole; real, inverted image; light goes straight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Shadow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needs source, opaque object and screen; always black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Umbra / penumbra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fully dark centre and lighter border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Solar eclipse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Moon between Sun and Earth; new-moon day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Lunar eclipse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Earth between Sun and Moon; full-moon day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Why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all because light travels in straight lines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Eclipses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FA3C4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3C4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Solar eclipse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solar eclipse occurs when: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Earth is between the Sun and the Moon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Moon is between the Sun and the Earth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Sun is between the Earth and the Moon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Moon is full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240280"/>
            <a:ext cx="731520" cy="7315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828800"/>
            <a:ext cx="93268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D2433"/>
                </a:solidFill>
                <a:latin typeface="Calibri"/>
              </a:rPr>
              <a:t>B. The Moon is between the Sun and the Earth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57600"/>
            <a:ext cx="1088136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862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10149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D2433"/>
                </a:solidFill>
                <a:latin typeface="Calibri"/>
              </a:rPr>
              <a:t>In a solar eclipse the Moon comes between the Sun and the Earth, and the Moon's shadow falls on the Earth. It happens on a new-moon day.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Lunar eclipse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lunar eclipse occurs on a: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New-moon day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Full-moon day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Half-moon day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Any day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240280"/>
            <a:ext cx="731520" cy="7315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828800"/>
            <a:ext cx="93268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D2433"/>
                </a:solidFill>
                <a:latin typeface="Calibri"/>
              </a:rPr>
              <a:t>B. Full-moon day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57600"/>
            <a:ext cx="1088136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862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10149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D2433"/>
                </a:solidFill>
                <a:latin typeface="Calibri"/>
              </a:rPr>
              <a:t>A lunar eclipse happens when the Earth comes between the Sun and the Moon — only possible at full moon, when the Earth's shadow can fall on the Moon.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Shadows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In a lunar eclipse, whose shadow falls on the Moon?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Moon's own shadow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Sun's shadow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Earth's shadow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cloud's shadow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240280"/>
            <a:ext cx="731520" cy="7315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828800"/>
            <a:ext cx="93268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D2433"/>
                </a:solidFill>
                <a:latin typeface="Calibri"/>
              </a:rPr>
              <a:t>C. The Earth's shadow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57600"/>
            <a:ext cx="1088136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862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10149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D2433"/>
                </a:solidFill>
                <a:latin typeface="Calibri"/>
              </a:rPr>
              <a:t>During a lunar eclipse the Earth is in the middle, so the Earth's shadow falls on the Moon and darkens it.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Duration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Compared with a solar eclipse, a lunar eclipse: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much shorter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49039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Lasts longer and is seen from more places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Cannot be seen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4782312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Happens at new moon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Arial"/>
              </a:rPr>
              <a:t>34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240280"/>
            <a:ext cx="731520" cy="7315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828800"/>
            <a:ext cx="93268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D2433"/>
                </a:solidFill>
                <a:latin typeface="Calibri"/>
              </a:rPr>
              <a:t>B. Lasts longer and is seen from more places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57600"/>
            <a:ext cx="10881360" cy="2011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862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10149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D2433"/>
                </a:solidFill>
                <a:latin typeface="Calibri"/>
              </a:rPr>
              <a:t>The Earth's shadow is large, so a lunar eclipse lasts longer and is visible from a whole half of the Earth — and it is safe to watch.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Shadows in the Sky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Pinhole images, shadows and eclipses are all the same idea — light travelling in straight lines and being blocked.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8FA3C4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